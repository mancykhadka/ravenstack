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247" autoAdjust="0"/>
  </p:normalViewPr>
  <p:slideViewPr>
    <p:cSldViewPr snapToGrid="0" snapToObjects="1">
      <p:cViewPr varScale="1">
        <p:scale>
          <a:sx n="140" d="100"/>
          <a:sy n="140" d="100"/>
        </p:scale>
        <p:origin x="774" y="126"/>
      </p:cViewPr>
      <p:guideLst/>
    </p:cSldViewPr>
  </p:slideViewPr>
  <p:notesTextViewPr>
    <p:cViewPr>
      <p:scale>
        <a:sx n="1" d="1"/>
        <a:sy n="1" d="1"/>
      </p:scale>
      <p:origin x="0" y="0"/>
    </p:cViewPr>
  </p:notesTextViewPr>
  <p:notesViewPr>
    <p:cSldViewPr snapToGrid="0" snapToObjects="1">
      <p:cViewPr varScale="1">
        <p:scale>
          <a:sx n="84" d="100"/>
          <a:sy n="84" d="100"/>
        </p:scale>
        <p:origin x="3366"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Churn %</c:v>
                </c:pt>
              </c:strCache>
            </c:strRef>
          </c:tx>
          <c:spPr>
            <a:solidFill>
              <a:srgbClr val="C62828"/>
            </a:solidFill>
            <a:effectLst/>
          </c:spPr>
          <c:invertIfNegative val="0"/>
          <c:dPt>
            <c:idx val="0"/>
            <c:invertIfNegative val="0"/>
            <c:bubble3D val="0"/>
            <c:extLst>
              <c:ext xmlns:c16="http://schemas.microsoft.com/office/drawing/2014/chart" uri="{C3380CC4-5D6E-409C-BE32-E72D297353CC}">
                <c16:uniqueId val="{00000001-2AA1-4AC6-B98A-7A74FB8758C3}"/>
              </c:ext>
            </c:extLst>
          </c:dPt>
          <c:dPt>
            <c:idx val="1"/>
            <c:invertIfNegative val="0"/>
            <c:bubble3D val="0"/>
            <c:spPr>
              <a:solidFill>
                <a:srgbClr val="EF6C00"/>
              </a:solidFill>
              <a:effectLst/>
            </c:spPr>
            <c:extLst>
              <c:ext xmlns:c16="http://schemas.microsoft.com/office/drawing/2014/chart" uri="{C3380CC4-5D6E-409C-BE32-E72D297353CC}">
                <c16:uniqueId val="{00000003-2AA1-4AC6-B98A-7A74FB8758C3}"/>
              </c:ext>
            </c:extLst>
          </c:dPt>
          <c:dPt>
            <c:idx val="2"/>
            <c:invertIfNegative val="0"/>
            <c:bubble3D val="0"/>
            <c:spPr>
              <a:solidFill>
                <a:srgbClr val="66BB6A"/>
              </a:solidFill>
              <a:effectLst/>
            </c:spPr>
            <c:extLst>
              <c:ext xmlns:c16="http://schemas.microsoft.com/office/drawing/2014/chart" uri="{C3380CC4-5D6E-409C-BE32-E72D297353CC}">
                <c16:uniqueId val="{00000005-2AA1-4AC6-B98A-7A74FB8758C3}"/>
              </c:ext>
            </c:extLst>
          </c:dPt>
          <c:dPt>
            <c:idx val="3"/>
            <c:invertIfNegative val="0"/>
            <c:bubble3D val="0"/>
            <c:spPr>
              <a:solidFill>
                <a:srgbClr val="66BB6A"/>
              </a:solidFill>
              <a:effectLst/>
            </c:spPr>
            <c:extLst>
              <c:ext xmlns:c16="http://schemas.microsoft.com/office/drawing/2014/chart" uri="{C3380CC4-5D6E-409C-BE32-E72D297353CC}">
                <c16:uniqueId val="{00000007-2AA1-4AC6-B98A-7A74FB8758C3}"/>
              </c:ext>
            </c:extLst>
          </c:dPt>
          <c:dPt>
            <c:idx val="4"/>
            <c:invertIfNegative val="0"/>
            <c:bubble3D val="0"/>
            <c:spPr>
              <a:solidFill>
                <a:srgbClr val="2E7D32"/>
              </a:solidFill>
              <a:effectLst/>
            </c:spPr>
            <c:extLst>
              <c:ext xmlns:c16="http://schemas.microsoft.com/office/drawing/2014/chart" uri="{C3380CC4-5D6E-409C-BE32-E72D297353CC}">
                <c16:uniqueId val="{00000009-2AA1-4AC6-B98A-7A74FB8758C3}"/>
              </c:ext>
            </c:extLst>
          </c:dPt>
          <c:dLbls>
            <c:numFmt formatCode="#,##0" sourceLinked="0"/>
            <c:spPr>
              <a:noFill/>
              <a:ln>
                <a:noFill/>
              </a:ln>
              <a:effectLst/>
            </c:spPr>
            <c:txPr>
              <a:bodyPr/>
              <a:lstStyle/>
              <a:p>
                <a:pPr>
                  <a:defRPr sz="800" b="0" i="0" u="none" strike="noStrike">
                    <a:solidFill>
                      <a:srgbClr val="2524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DevTools</c:v>
                </c:pt>
                <c:pt idx="1">
                  <c:v>Cybersec</c:v>
                </c:pt>
                <c:pt idx="2">
                  <c:v>FinTech</c:v>
                </c:pt>
                <c:pt idx="3">
                  <c:v>HealthTech</c:v>
                </c:pt>
                <c:pt idx="4">
                  <c:v>EdTech</c:v>
                </c:pt>
              </c:strCache>
            </c:strRef>
          </c:cat>
          <c:val>
            <c:numRef>
              <c:f>Sheet1!$B$2:$B$6</c:f>
              <c:numCache>
                <c:formatCode>General</c:formatCode>
                <c:ptCount val="5"/>
                <c:pt idx="0">
                  <c:v>31</c:v>
                </c:pt>
                <c:pt idx="1">
                  <c:v>24</c:v>
                </c:pt>
                <c:pt idx="2">
                  <c:v>22</c:v>
                </c:pt>
                <c:pt idx="3">
                  <c:v>20</c:v>
                </c:pt>
                <c:pt idx="4">
                  <c:v>14</c:v>
                </c:pt>
              </c:numCache>
            </c:numRef>
          </c:val>
          <c:extLst>
            <c:ext xmlns:c16="http://schemas.microsoft.com/office/drawing/2014/chart" uri="{C3380CC4-5D6E-409C-BE32-E72D297353CC}">
              <c16:uniqueId val="{0000000A-2AA1-4AC6-B98A-7A74FB8758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05E5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B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5E5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Events</c:v>
                </c:pt>
              </c:strCache>
            </c:strRef>
          </c:tx>
          <c:spPr>
            <a:solidFill>
              <a:schemeClr val="accent1"/>
            </a:solidFill>
            <a:ln w="9525" cap="flat">
              <a:solidFill>
                <a:srgbClr val="F9F9F9"/>
              </a:solidFill>
              <a:prstDash val="solid"/>
              <a:round/>
            </a:ln>
            <a:effectLst/>
          </c:spPr>
          <c:dPt>
            <c:idx val="0"/>
            <c:bubble3D val="0"/>
            <c:spPr>
              <a:solidFill>
                <a:srgbClr val="C62828"/>
              </a:solidFill>
              <a:effectLst/>
            </c:spPr>
            <c:extLst>
              <c:ext xmlns:c16="http://schemas.microsoft.com/office/drawing/2014/chart" uri="{C3380CC4-5D6E-409C-BE32-E72D297353CC}">
                <c16:uniqueId val="{00000001-CEBB-4121-8C59-B8847373274B}"/>
              </c:ext>
            </c:extLst>
          </c:dPt>
          <c:dPt>
            <c:idx val="1"/>
            <c:bubble3D val="0"/>
            <c:spPr>
              <a:solidFill>
                <a:srgbClr val="E57373"/>
              </a:solidFill>
              <a:effectLst/>
            </c:spPr>
            <c:extLst>
              <c:ext xmlns:c16="http://schemas.microsoft.com/office/drawing/2014/chart" uri="{C3380CC4-5D6E-409C-BE32-E72D297353CC}">
                <c16:uniqueId val="{00000003-CEBB-4121-8C59-B8847373274B}"/>
              </c:ext>
            </c:extLst>
          </c:dPt>
          <c:dPt>
            <c:idx val="2"/>
            <c:bubble3D val="0"/>
            <c:spPr>
              <a:solidFill>
                <a:srgbClr val="EF6C00"/>
              </a:solidFill>
              <a:effectLst/>
            </c:spPr>
            <c:extLst>
              <c:ext xmlns:c16="http://schemas.microsoft.com/office/drawing/2014/chart" uri="{C3380CC4-5D6E-409C-BE32-E72D297353CC}">
                <c16:uniqueId val="{00000005-CEBB-4121-8C59-B8847373274B}"/>
              </c:ext>
            </c:extLst>
          </c:dPt>
          <c:dPt>
            <c:idx val="3"/>
            <c:bubble3D val="0"/>
            <c:spPr>
              <a:solidFill>
                <a:srgbClr val="9E9E9E"/>
              </a:solidFill>
              <a:effectLst/>
            </c:spPr>
            <c:extLst>
              <c:ext xmlns:c16="http://schemas.microsoft.com/office/drawing/2014/chart" uri="{C3380CC4-5D6E-409C-BE32-E72D297353CC}">
                <c16:uniqueId val="{00000007-CEBB-4121-8C59-B8847373274B}"/>
              </c:ext>
            </c:extLst>
          </c:dPt>
          <c:dPt>
            <c:idx val="4"/>
            <c:bubble3D val="0"/>
            <c:spPr>
              <a:solidFill>
                <a:srgbClr val="66BB6A"/>
              </a:solidFill>
              <a:effectLst/>
            </c:spPr>
            <c:extLst>
              <c:ext xmlns:c16="http://schemas.microsoft.com/office/drawing/2014/chart" uri="{C3380CC4-5D6E-409C-BE32-E72D297353CC}">
                <c16:uniqueId val="{00000009-CEBB-4121-8C59-B8847373274B}"/>
              </c:ext>
            </c:extLst>
          </c:dPt>
          <c:dPt>
            <c:idx val="5"/>
            <c:bubble3D val="0"/>
            <c:spPr>
              <a:solidFill>
                <a:srgbClr val="2E7D32"/>
              </a:solidFill>
              <a:effectLst/>
            </c:spPr>
            <c:extLst>
              <c:ext xmlns:c16="http://schemas.microsoft.com/office/drawing/2014/chart" uri="{C3380CC4-5D6E-409C-BE32-E72D297353CC}">
                <c16:uniqueId val="{0000000B-CEBB-4121-8C59-B8847373274B}"/>
              </c:ext>
            </c:extLst>
          </c:dPt>
          <c:dLbls>
            <c:dLbl>
              <c:idx val="0"/>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EBB-4121-8C59-B8847373274B}"/>
                </c:ext>
              </c:extLst>
            </c:dLbl>
            <c:dLbl>
              <c:idx val="1"/>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EBB-4121-8C59-B8847373274B}"/>
                </c:ext>
              </c:extLst>
            </c:dLbl>
            <c:dLbl>
              <c:idx val="2"/>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EBB-4121-8C59-B8847373274B}"/>
                </c:ext>
              </c:extLst>
            </c:dLbl>
            <c:dLbl>
              <c:idx val="3"/>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EBB-4121-8C59-B8847373274B}"/>
                </c:ext>
              </c:extLst>
            </c:dLbl>
            <c:dLbl>
              <c:idx val="4"/>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EBB-4121-8C59-B8847373274B}"/>
                </c:ext>
              </c:extLst>
            </c:dLbl>
            <c:dLbl>
              <c:idx val="5"/>
              <c:numFmt formatCode="0%" sourceLinked="0"/>
              <c:spPr/>
              <c:txPr>
                <a:bodyPr/>
                <a:lstStyle/>
                <a:p>
                  <a:pPr>
                    <a:defRPr sz="7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EBB-4121-8C59-B8847373274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Missing features</c:v>
                </c:pt>
                <c:pt idx="1">
                  <c:v>Support quality</c:v>
                </c:pt>
                <c:pt idx="2">
                  <c:v>Budget</c:v>
                </c:pt>
                <c:pt idx="3">
                  <c:v>Unknown</c:v>
                </c:pt>
                <c:pt idx="4">
                  <c:v>Competitor</c:v>
                </c:pt>
                <c:pt idx="5">
                  <c:v>Pricing</c:v>
                </c:pt>
              </c:strCache>
            </c:strRef>
          </c:cat>
          <c:val>
            <c:numRef>
              <c:f>Sheet1!$B$2:$B$7</c:f>
              <c:numCache>
                <c:formatCode>General</c:formatCode>
                <c:ptCount val="6"/>
                <c:pt idx="0">
                  <c:v>114</c:v>
                </c:pt>
                <c:pt idx="1">
                  <c:v>104</c:v>
                </c:pt>
                <c:pt idx="2">
                  <c:v>104</c:v>
                </c:pt>
                <c:pt idx="3">
                  <c:v>95</c:v>
                </c:pt>
                <c:pt idx="4">
                  <c:v>92</c:v>
                </c:pt>
                <c:pt idx="5">
                  <c:v>91</c:v>
                </c:pt>
              </c:numCache>
            </c:numRef>
          </c:val>
          <c:extLst>
            <c:ext xmlns:c16="http://schemas.microsoft.com/office/drawing/2014/chart" uri="{C3380CC4-5D6E-409C-BE32-E72D297353CC}">
              <c16:uniqueId val="{0000000C-CEBB-4121-8C59-B8847373274B}"/>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650">
              <a:solidFill>
                <a:srgbClr val="605E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Churn Rate</c:v>
                </c:pt>
              </c:strCache>
            </c:strRef>
          </c:tx>
          <c:spPr>
            <a:ln w="31750" cap="flat">
              <a:solidFill>
                <a:srgbClr val="C62828"/>
              </a:solidFill>
              <a:prstDash val="solid"/>
              <a:round/>
            </a:ln>
            <a:effectLst/>
          </c:spPr>
          <c:marker>
            <c:symbol val="circle"/>
            <c:size val="6"/>
            <c:spPr>
              <a:solidFill>
                <a:srgbClr val="C62828"/>
              </a:solidFill>
              <a:ln w="9525" cap="flat">
                <a:solidFill>
                  <a:srgbClr val="C62828"/>
                </a:solidFill>
                <a:prstDash val="solid"/>
                <a:round/>
              </a:ln>
              <a:effectLst/>
            </c:spPr>
          </c:marker>
          <c:dLbls>
            <c:numFmt formatCode="#,##0" sourceLinked="0"/>
            <c:spPr>
              <a:noFill/>
              <a:ln>
                <a:noFill/>
              </a:ln>
              <a:effectLst/>
            </c:spPr>
            <c:txPr>
              <a:bodyPr/>
              <a:lstStyle/>
              <a:p>
                <a:pPr>
                  <a:defRPr sz="800" b="0" i="0" u="none" strike="noStrike">
                    <a:solidFill>
                      <a:srgbClr val="2524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0–1 yr</c:v>
                </c:pt>
                <c:pt idx="1">
                  <c:v>1–2 yr</c:v>
                </c:pt>
                <c:pt idx="2">
                  <c:v>2+ yr</c:v>
                </c:pt>
              </c:strCache>
            </c:strRef>
          </c:cat>
          <c:val>
            <c:numRef>
              <c:f>Sheet1!$B$2:$B$4</c:f>
              <c:numCache>
                <c:formatCode>General</c:formatCode>
                <c:ptCount val="3"/>
                <c:pt idx="0">
                  <c:v>23</c:v>
                </c:pt>
                <c:pt idx="1">
                  <c:v>21</c:v>
                </c:pt>
                <c:pt idx="2">
                  <c:v>22</c:v>
                </c:pt>
              </c:numCache>
            </c:numRef>
          </c:val>
          <c:smooth val="0"/>
          <c:extLst>
            <c:ext xmlns:c16="http://schemas.microsoft.com/office/drawing/2014/chart" uri="{C3380CC4-5D6E-409C-BE32-E72D297353CC}">
              <c16:uniqueId val="{00000000-24B9-478F-9D47-BFF7035FA931}"/>
            </c:ext>
          </c:extLst>
        </c:ser>
        <c:ser>
          <c:idx val="1"/>
          <c:order val="1"/>
          <c:tx>
            <c:strRef>
              <c:f>Sheet1!$C$1</c:f>
              <c:strCache>
                <c:ptCount val="1"/>
                <c:pt idx="0">
                  <c:v>Avg (22%)</c:v>
                </c:pt>
              </c:strCache>
            </c:strRef>
          </c:tx>
          <c:spPr>
            <a:ln w="31750" cap="flat">
              <a:solidFill>
                <a:srgbClr val="BDBDBD"/>
              </a:solidFill>
              <a:prstDash val="solid"/>
              <a:round/>
            </a:ln>
            <a:effectLst/>
          </c:spPr>
          <c:marker>
            <c:symbol val="circle"/>
            <c:size val="6"/>
            <c:spPr>
              <a:solidFill>
                <a:srgbClr val="BDBDBD"/>
              </a:solidFill>
              <a:ln w="9525" cap="flat">
                <a:solidFill>
                  <a:srgbClr val="BDBDBD"/>
                </a:solidFill>
                <a:prstDash val="solid"/>
                <a:round/>
              </a:ln>
              <a:effectLst/>
            </c:spPr>
          </c:marker>
          <c:dLbls>
            <c:numFmt formatCode="#,##0" sourceLinked="0"/>
            <c:spPr>
              <a:noFill/>
              <a:ln>
                <a:noFill/>
              </a:ln>
              <a:effectLst/>
            </c:spPr>
            <c:txPr>
              <a:bodyPr/>
              <a:lstStyle/>
              <a:p>
                <a:pPr>
                  <a:defRPr sz="800" b="0" i="0" u="none" strike="noStrike">
                    <a:solidFill>
                      <a:srgbClr val="2524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0–1 yr</c:v>
                </c:pt>
                <c:pt idx="1">
                  <c:v>1–2 yr</c:v>
                </c:pt>
                <c:pt idx="2">
                  <c:v>2+ yr</c:v>
                </c:pt>
              </c:strCache>
            </c:strRef>
          </c:cat>
          <c:val>
            <c:numRef>
              <c:f>Sheet1!$C$2:$C$4</c:f>
              <c:numCache>
                <c:formatCode>General</c:formatCode>
                <c:ptCount val="3"/>
                <c:pt idx="0">
                  <c:v>22</c:v>
                </c:pt>
                <c:pt idx="1">
                  <c:v>22</c:v>
                </c:pt>
                <c:pt idx="2">
                  <c:v>22</c:v>
                </c:pt>
              </c:numCache>
            </c:numRef>
          </c:val>
          <c:smooth val="0"/>
          <c:extLst>
            <c:ext xmlns:c16="http://schemas.microsoft.com/office/drawing/2014/chart" uri="{C3380CC4-5D6E-409C-BE32-E72D297353CC}">
              <c16:uniqueId val="{00000001-24B9-478F-9D47-BFF7035FA931}"/>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05E5C"/>
                </a:solidFill>
                <a:latin typeface="Arial"/>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DEB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5E5C"/>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700">
              <a:solidFill>
                <a:srgbClr val="605E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c:v>
                </c:pt>
              </c:strCache>
            </c:strRef>
          </c:tx>
          <c:spPr>
            <a:solidFill>
              <a:srgbClr val="C62828"/>
            </a:solidFill>
            <a:effectLst/>
          </c:spPr>
          <c:invertIfNegative val="0"/>
          <c:dPt>
            <c:idx val="0"/>
            <c:invertIfNegative val="0"/>
            <c:bubble3D val="0"/>
            <c:extLst>
              <c:ext xmlns:c16="http://schemas.microsoft.com/office/drawing/2014/chart" uri="{C3380CC4-5D6E-409C-BE32-E72D297353CC}">
                <c16:uniqueId val="{00000001-9E62-4494-977A-E7AAB63E204F}"/>
              </c:ext>
            </c:extLst>
          </c:dPt>
          <c:dPt>
            <c:idx val="1"/>
            <c:invertIfNegative val="0"/>
            <c:bubble3D val="0"/>
            <c:extLst>
              <c:ext xmlns:c16="http://schemas.microsoft.com/office/drawing/2014/chart" uri="{C3380CC4-5D6E-409C-BE32-E72D297353CC}">
                <c16:uniqueId val="{00000003-9E62-4494-977A-E7AAB63E204F}"/>
              </c:ext>
            </c:extLst>
          </c:dPt>
          <c:dPt>
            <c:idx val="2"/>
            <c:invertIfNegative val="0"/>
            <c:bubble3D val="0"/>
            <c:spPr>
              <a:solidFill>
                <a:srgbClr val="EF6C00"/>
              </a:solidFill>
              <a:effectLst/>
            </c:spPr>
            <c:extLst>
              <c:ext xmlns:c16="http://schemas.microsoft.com/office/drawing/2014/chart" uri="{C3380CC4-5D6E-409C-BE32-E72D297353CC}">
                <c16:uniqueId val="{00000005-9E62-4494-977A-E7AAB63E204F}"/>
              </c:ext>
            </c:extLst>
          </c:dPt>
          <c:dPt>
            <c:idx val="3"/>
            <c:invertIfNegative val="0"/>
            <c:bubble3D val="0"/>
            <c:spPr>
              <a:solidFill>
                <a:srgbClr val="EF6C00"/>
              </a:solidFill>
              <a:effectLst/>
            </c:spPr>
            <c:extLst>
              <c:ext xmlns:c16="http://schemas.microsoft.com/office/drawing/2014/chart" uri="{C3380CC4-5D6E-409C-BE32-E72D297353CC}">
                <c16:uniqueId val="{00000007-9E62-4494-977A-E7AAB63E204F}"/>
              </c:ext>
            </c:extLst>
          </c:dPt>
          <c:dPt>
            <c:idx val="4"/>
            <c:invertIfNegative val="0"/>
            <c:bubble3D val="0"/>
            <c:spPr>
              <a:solidFill>
                <a:srgbClr val="66BB6A"/>
              </a:solidFill>
              <a:effectLst/>
            </c:spPr>
            <c:extLst>
              <c:ext xmlns:c16="http://schemas.microsoft.com/office/drawing/2014/chart" uri="{C3380CC4-5D6E-409C-BE32-E72D297353CC}">
                <c16:uniqueId val="{00000009-9E62-4494-977A-E7AAB63E204F}"/>
              </c:ext>
            </c:extLst>
          </c:dPt>
          <c:dPt>
            <c:idx val="5"/>
            <c:invertIfNegative val="0"/>
            <c:bubble3D val="0"/>
            <c:spPr>
              <a:solidFill>
                <a:srgbClr val="66BB6A"/>
              </a:solidFill>
              <a:effectLst/>
            </c:spPr>
            <c:extLst>
              <c:ext xmlns:c16="http://schemas.microsoft.com/office/drawing/2014/chart" uri="{C3380CC4-5D6E-409C-BE32-E72D297353CC}">
                <c16:uniqueId val="{0000000B-9E62-4494-977A-E7AAB63E204F}"/>
              </c:ext>
            </c:extLst>
          </c:dPt>
          <c:dPt>
            <c:idx val="6"/>
            <c:invertIfNegative val="0"/>
            <c:bubble3D val="0"/>
            <c:spPr>
              <a:solidFill>
                <a:srgbClr val="2E7D32"/>
              </a:solidFill>
              <a:effectLst/>
            </c:spPr>
            <c:extLst>
              <c:ext xmlns:c16="http://schemas.microsoft.com/office/drawing/2014/chart" uri="{C3380CC4-5D6E-409C-BE32-E72D297353CC}">
                <c16:uniqueId val="{0000000D-9E62-4494-977A-E7AAB63E204F}"/>
              </c:ext>
            </c:extLst>
          </c:dPt>
          <c:dLbls>
            <c:numFmt formatCode="#,##0" sourceLinked="0"/>
            <c:spPr>
              <a:noFill/>
              <a:ln>
                <a:noFill/>
              </a:ln>
              <a:effectLst/>
            </c:spPr>
            <c:txPr>
              <a:bodyPr/>
              <a:lstStyle/>
              <a:p>
                <a:pPr>
                  <a:defRPr sz="800" b="0" i="0" u="none" strike="noStrike">
                    <a:solidFill>
                      <a:srgbClr val="2524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Germany</c:v>
                </c:pt>
                <c:pt idx="1">
                  <c:v>France</c:v>
                </c:pt>
                <c:pt idx="2">
                  <c:v>UK</c:v>
                </c:pt>
                <c:pt idx="3">
                  <c:v>USA</c:v>
                </c:pt>
                <c:pt idx="4">
                  <c:v>India</c:v>
                </c:pt>
                <c:pt idx="5">
                  <c:v>Canada</c:v>
                </c:pt>
                <c:pt idx="6">
                  <c:v>Australia</c:v>
                </c:pt>
              </c:strCache>
            </c:strRef>
          </c:cat>
          <c:val>
            <c:numRef>
              <c:f>Sheet1!$B$2:$B$8</c:f>
              <c:numCache>
                <c:formatCode>General</c:formatCode>
                <c:ptCount val="7"/>
                <c:pt idx="0">
                  <c:v>28</c:v>
                </c:pt>
                <c:pt idx="1">
                  <c:v>24</c:v>
                </c:pt>
                <c:pt idx="2">
                  <c:v>22</c:v>
                </c:pt>
                <c:pt idx="3">
                  <c:v>21</c:v>
                </c:pt>
                <c:pt idx="4">
                  <c:v>20</c:v>
                </c:pt>
                <c:pt idx="5">
                  <c:v>19</c:v>
                </c:pt>
                <c:pt idx="6">
                  <c:v>11</c:v>
                </c:pt>
              </c:numCache>
            </c:numRef>
          </c:val>
          <c:extLst>
            <c:ext xmlns:c16="http://schemas.microsoft.com/office/drawing/2014/chart" uri="{C3380CC4-5D6E-409C-BE32-E72D297353CC}">
              <c16:uniqueId val="{0000000E-9E62-4494-977A-E7AAB63E204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605E5C"/>
                </a:solidFill>
                <a:latin typeface="Arial"/>
              </a:defRPr>
            </a:pPr>
            <a:endParaRPr lang="en-US"/>
          </a:p>
        </c:txPr>
        <c:crossAx val="2094734552"/>
        <c:crosses val="autoZero"/>
        <c:auto val="1"/>
        <c:lblAlgn val="ctr"/>
        <c:lblOffset val="100"/>
        <c:noMultiLvlLbl val="1"/>
      </c:catAx>
      <c:valAx>
        <c:axId val="2094734552"/>
        <c:scaling>
          <c:orientation val="minMax"/>
          <c:max val="35"/>
          <c:min val="0"/>
        </c:scaling>
        <c:delete val="0"/>
        <c:axPos val="b"/>
        <c:majorGridlines>
          <c:spPr>
            <a:ln w="6350" cap="flat">
              <a:solidFill>
                <a:srgbClr val="EDEB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05E5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Churned</c:v>
                </c:pt>
              </c:strCache>
            </c:strRef>
          </c:tx>
          <c:spPr>
            <a:solidFill>
              <a:schemeClr val="accent1"/>
            </a:solidFill>
            <a:ln w="9525" cap="flat">
              <a:solidFill>
                <a:srgbClr val="F9F9F9"/>
              </a:solidFill>
              <a:prstDash val="solid"/>
              <a:round/>
            </a:ln>
            <a:effectLst/>
          </c:spPr>
          <c:dPt>
            <c:idx val="0"/>
            <c:bubble3D val="0"/>
            <c:spPr>
              <a:solidFill>
                <a:srgbClr val="1B5E20"/>
              </a:solidFill>
              <a:effectLst/>
            </c:spPr>
            <c:extLst>
              <c:ext xmlns:c16="http://schemas.microsoft.com/office/drawing/2014/chart" uri="{C3380CC4-5D6E-409C-BE32-E72D297353CC}">
                <c16:uniqueId val="{00000001-6040-4894-B241-38B1FD7A3619}"/>
              </c:ext>
            </c:extLst>
          </c:dPt>
          <c:dPt>
            <c:idx val="1"/>
            <c:bubble3D val="0"/>
            <c:spPr>
              <a:solidFill>
                <a:srgbClr val="2E7D32"/>
              </a:solidFill>
              <a:effectLst/>
            </c:spPr>
            <c:extLst>
              <c:ext xmlns:c16="http://schemas.microsoft.com/office/drawing/2014/chart" uri="{C3380CC4-5D6E-409C-BE32-E72D297353CC}">
                <c16:uniqueId val="{00000003-6040-4894-B241-38B1FD7A3619}"/>
              </c:ext>
            </c:extLst>
          </c:dPt>
          <c:dPt>
            <c:idx val="2"/>
            <c:bubble3D val="0"/>
            <c:spPr>
              <a:solidFill>
                <a:srgbClr val="66BB6A"/>
              </a:solidFill>
              <a:effectLst/>
            </c:spPr>
            <c:extLst>
              <c:ext xmlns:c16="http://schemas.microsoft.com/office/drawing/2014/chart" uri="{C3380CC4-5D6E-409C-BE32-E72D297353CC}">
                <c16:uniqueId val="{00000005-6040-4894-B241-38B1FD7A3619}"/>
              </c:ext>
            </c:extLst>
          </c:dPt>
          <c:dLbls>
            <c:dLbl>
              <c:idx val="0"/>
              <c:numFmt formatCode="0%" sourceLinked="0"/>
              <c:spPr/>
              <c:txPr>
                <a:bodyPr/>
                <a:lstStyle/>
                <a:p>
                  <a:pPr>
                    <a:defRPr sz="8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040-4894-B241-38B1FD7A3619}"/>
                </c:ext>
              </c:extLst>
            </c:dLbl>
            <c:dLbl>
              <c:idx val="1"/>
              <c:numFmt formatCode="0%" sourceLinked="0"/>
              <c:spPr/>
              <c:txPr>
                <a:bodyPr/>
                <a:lstStyle/>
                <a:p>
                  <a:pPr>
                    <a:defRPr sz="8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040-4894-B241-38B1FD7A3619}"/>
                </c:ext>
              </c:extLst>
            </c:dLbl>
            <c:dLbl>
              <c:idx val="2"/>
              <c:numFmt formatCode="0%" sourceLinked="0"/>
              <c:spPr/>
              <c:txPr>
                <a:bodyPr/>
                <a:lstStyle/>
                <a:p>
                  <a:pPr>
                    <a:defRPr sz="8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040-4894-B241-38B1FD7A3619}"/>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Enterprise (34)</c:v>
                </c:pt>
                <c:pt idx="1">
                  <c:v>Pro (39)</c:v>
                </c:pt>
                <c:pt idx="2">
                  <c:v>Basic (37)</c:v>
                </c:pt>
              </c:strCache>
            </c:strRef>
          </c:cat>
          <c:val>
            <c:numRef>
              <c:f>Sheet1!$B$2:$B$4</c:f>
              <c:numCache>
                <c:formatCode>General</c:formatCode>
                <c:ptCount val="3"/>
                <c:pt idx="0">
                  <c:v>34</c:v>
                </c:pt>
                <c:pt idx="1">
                  <c:v>39</c:v>
                </c:pt>
                <c:pt idx="2">
                  <c:v>37</c:v>
                </c:pt>
              </c:numCache>
            </c:numRef>
          </c:val>
          <c:extLst>
            <c:ext xmlns:c16="http://schemas.microsoft.com/office/drawing/2014/chart" uri="{C3380CC4-5D6E-409C-BE32-E72D297353CC}">
              <c16:uniqueId val="{00000006-6040-4894-B241-38B1FD7A3619}"/>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750">
              <a:solidFill>
                <a:srgbClr val="605E5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Churn Rate %</c:v>
                </c:pt>
              </c:strCache>
            </c:strRef>
          </c:tx>
          <c:spPr>
            <a:solidFill>
              <a:srgbClr val="C62828"/>
            </a:solidFill>
            <a:effectLst/>
          </c:spPr>
          <c:invertIfNegative val="0"/>
          <c:dPt>
            <c:idx val="0"/>
            <c:invertIfNegative val="0"/>
            <c:bubble3D val="0"/>
            <c:extLst>
              <c:ext xmlns:c16="http://schemas.microsoft.com/office/drawing/2014/chart" uri="{C3380CC4-5D6E-409C-BE32-E72D297353CC}">
                <c16:uniqueId val="{00000001-9B12-4A0D-B186-08FC1C06C157}"/>
              </c:ext>
            </c:extLst>
          </c:dPt>
          <c:dPt>
            <c:idx val="1"/>
            <c:invertIfNegative val="0"/>
            <c:bubble3D val="0"/>
            <c:spPr>
              <a:solidFill>
                <a:srgbClr val="EF6C00"/>
              </a:solidFill>
              <a:effectLst/>
            </c:spPr>
            <c:extLst>
              <c:ext xmlns:c16="http://schemas.microsoft.com/office/drawing/2014/chart" uri="{C3380CC4-5D6E-409C-BE32-E72D297353CC}">
                <c16:uniqueId val="{00000003-9B12-4A0D-B186-08FC1C06C157}"/>
              </c:ext>
            </c:extLst>
          </c:dPt>
          <c:dPt>
            <c:idx val="2"/>
            <c:invertIfNegative val="0"/>
            <c:bubble3D val="0"/>
            <c:spPr>
              <a:solidFill>
                <a:srgbClr val="66BB6A"/>
              </a:solidFill>
              <a:effectLst/>
            </c:spPr>
            <c:extLst>
              <c:ext xmlns:c16="http://schemas.microsoft.com/office/drawing/2014/chart" uri="{C3380CC4-5D6E-409C-BE32-E72D297353CC}">
                <c16:uniqueId val="{00000005-9B12-4A0D-B186-08FC1C06C157}"/>
              </c:ext>
            </c:extLst>
          </c:dPt>
          <c:dPt>
            <c:idx val="3"/>
            <c:invertIfNegative val="0"/>
            <c:bubble3D val="0"/>
            <c:spPr>
              <a:solidFill>
                <a:srgbClr val="66BB6A"/>
              </a:solidFill>
              <a:effectLst/>
            </c:spPr>
            <c:extLst>
              <c:ext xmlns:c16="http://schemas.microsoft.com/office/drawing/2014/chart" uri="{C3380CC4-5D6E-409C-BE32-E72D297353CC}">
                <c16:uniqueId val="{00000007-9B12-4A0D-B186-08FC1C06C157}"/>
              </c:ext>
            </c:extLst>
          </c:dPt>
          <c:dPt>
            <c:idx val="4"/>
            <c:invertIfNegative val="0"/>
            <c:bubble3D val="0"/>
            <c:spPr>
              <a:solidFill>
                <a:srgbClr val="2E7D32"/>
              </a:solidFill>
              <a:effectLst/>
            </c:spPr>
            <c:extLst>
              <c:ext xmlns:c16="http://schemas.microsoft.com/office/drawing/2014/chart" uri="{C3380CC4-5D6E-409C-BE32-E72D297353CC}">
                <c16:uniqueId val="{00000009-9B12-4A0D-B186-08FC1C06C157}"/>
              </c:ext>
            </c:extLst>
          </c:dPt>
          <c:dLbls>
            <c:numFmt formatCode="#,##0" sourceLinked="0"/>
            <c:spPr>
              <a:noFill/>
              <a:ln>
                <a:noFill/>
              </a:ln>
              <a:effectLst/>
            </c:spPr>
            <c:txPr>
              <a:bodyPr/>
              <a:lstStyle/>
              <a:p>
                <a:pPr>
                  <a:defRPr sz="800" b="0" i="0" u="none" strike="noStrike">
                    <a:solidFill>
                      <a:srgbClr val="2524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Event</c:v>
                </c:pt>
                <c:pt idx="1">
                  <c:v>Ads</c:v>
                </c:pt>
                <c:pt idx="2">
                  <c:v>Partner</c:v>
                </c:pt>
                <c:pt idx="3">
                  <c:v>Other</c:v>
                </c:pt>
                <c:pt idx="4">
                  <c:v>Organic</c:v>
                </c:pt>
              </c:strCache>
            </c:strRef>
          </c:cat>
          <c:val>
            <c:numRef>
              <c:f>Sheet1!$B$2:$B$6</c:f>
              <c:numCache>
                <c:formatCode>General</c:formatCode>
                <c:ptCount val="5"/>
                <c:pt idx="0">
                  <c:v>27</c:v>
                </c:pt>
                <c:pt idx="1">
                  <c:v>24</c:v>
                </c:pt>
                <c:pt idx="2">
                  <c:v>22</c:v>
                </c:pt>
                <c:pt idx="3">
                  <c:v>20</c:v>
                </c:pt>
                <c:pt idx="4">
                  <c:v>18</c:v>
                </c:pt>
              </c:numCache>
            </c:numRef>
          </c:val>
          <c:extLst>
            <c:ext xmlns:c16="http://schemas.microsoft.com/office/drawing/2014/chart" uri="{C3380CC4-5D6E-409C-BE32-E72D297353CC}">
              <c16:uniqueId val="{0000000A-9B12-4A0D-B186-08FC1C06C1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05E5C"/>
                </a:solidFill>
                <a:latin typeface="Arial"/>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6350" cap="flat">
              <a:solidFill>
                <a:srgbClr val="EDEB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5E5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50" b="0" i="0" u="none" strike="noStrike">
                <a:solidFill>
                  <a:srgbClr val="263238"/>
                </a:solidFill>
                <a:latin typeface="Arial"/>
              </a:defRPr>
            </a:pPr>
            <a:r>
              <a:rPr lang="en-US" sz="950" b="0" i="0" u="none" strike="noStrike">
                <a:solidFill>
                  <a:srgbClr val="263238"/>
                </a:solidFill>
                <a:latin typeface="Arial"/>
              </a:rPr>
              <a:t>Accounts by Risk Segment</a:t>
            </a:r>
          </a:p>
        </c:rich>
      </c:tx>
      <c:overlay val="0"/>
    </c:title>
    <c:autoTitleDeleted val="0"/>
    <c:plotArea>
      <c:layout/>
      <c:barChart>
        <c:barDir val="col"/>
        <c:grouping val="clustered"/>
        <c:varyColors val="0"/>
        <c:ser>
          <c:idx val="0"/>
          <c:order val="0"/>
          <c:tx>
            <c:strRef>
              <c:f>Sheet1!$B$1</c:f>
              <c:strCache>
                <c:ptCount val="1"/>
                <c:pt idx="0">
                  <c:v>Accounts</c:v>
                </c:pt>
              </c:strCache>
            </c:strRef>
          </c:tx>
          <c:spPr>
            <a:solidFill>
              <a:srgbClr val="66BB6A"/>
            </a:solidFill>
            <a:effectLst/>
          </c:spPr>
          <c:invertIfNegative val="0"/>
          <c:dPt>
            <c:idx val="0"/>
            <c:invertIfNegative val="0"/>
            <c:bubble3D val="0"/>
            <c:extLst>
              <c:ext xmlns:c16="http://schemas.microsoft.com/office/drawing/2014/chart" uri="{C3380CC4-5D6E-409C-BE32-E72D297353CC}">
                <c16:uniqueId val="{00000001-0EDB-478B-8BAE-B4AB5346BB1D}"/>
              </c:ext>
            </c:extLst>
          </c:dPt>
          <c:dPt>
            <c:idx val="1"/>
            <c:invertIfNegative val="0"/>
            <c:bubble3D val="0"/>
            <c:spPr>
              <a:solidFill>
                <a:srgbClr val="E65100"/>
              </a:solidFill>
              <a:effectLst/>
            </c:spPr>
            <c:extLst>
              <c:ext xmlns:c16="http://schemas.microsoft.com/office/drawing/2014/chart" uri="{C3380CC4-5D6E-409C-BE32-E72D297353CC}">
                <c16:uniqueId val="{00000003-0EDB-478B-8BAE-B4AB5346BB1D}"/>
              </c:ext>
            </c:extLst>
          </c:dPt>
          <c:dPt>
            <c:idx val="2"/>
            <c:invertIfNegative val="0"/>
            <c:bubble3D val="0"/>
            <c:spPr>
              <a:solidFill>
                <a:srgbClr val="C62828"/>
              </a:solidFill>
              <a:effectLst/>
            </c:spPr>
            <c:extLst>
              <c:ext xmlns:c16="http://schemas.microsoft.com/office/drawing/2014/chart" uri="{C3380CC4-5D6E-409C-BE32-E72D297353CC}">
                <c16:uniqueId val="{00000005-0EDB-478B-8BAE-B4AB5346BB1D}"/>
              </c:ext>
            </c:extLst>
          </c:dPt>
          <c:dLbls>
            <c:numFmt formatCode="#,##0" sourceLinked="0"/>
            <c:spPr>
              <a:noFill/>
              <a:ln>
                <a:noFill/>
              </a:ln>
              <a:effectLst/>
            </c:spPr>
            <c:txPr>
              <a:bodyPr/>
              <a:lstStyle/>
              <a:p>
                <a:pPr>
                  <a:defRPr sz="1000" b="1"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Risk
(0–30%)</c:v>
                </c:pt>
                <c:pt idx="1">
                  <c:v>Medium Risk
(30–60%)</c:v>
                </c:pt>
                <c:pt idx="2">
                  <c:v>High Risk
(60–100%)</c:v>
                </c:pt>
              </c:strCache>
            </c:strRef>
          </c:cat>
          <c:val>
            <c:numRef>
              <c:f>Sheet1!$B$2:$B$4</c:f>
              <c:numCache>
                <c:formatCode>General</c:formatCode>
                <c:ptCount val="3"/>
                <c:pt idx="0">
                  <c:v>28</c:v>
                </c:pt>
                <c:pt idx="1">
                  <c:v>381</c:v>
                </c:pt>
                <c:pt idx="2">
                  <c:v>91</c:v>
                </c:pt>
              </c:numCache>
            </c:numRef>
          </c:val>
          <c:extLst>
            <c:ext xmlns:c16="http://schemas.microsoft.com/office/drawing/2014/chart" uri="{C3380CC4-5D6E-409C-BE32-E72D297353CC}">
              <c16:uniqueId val="{00000006-0EDB-478B-8BAE-B4AB5346BB1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575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F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575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3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capstone project is about a problem that every subscription-based software company faces — customers leaving.</a:t>
            </a:r>
          </a:p>
          <a:p>
            <a:endParaRPr lang="en-US" dirty="0"/>
          </a:p>
          <a:p>
            <a:r>
              <a:rPr lang="en-US" dirty="0"/>
              <a:t>My project is called Customer Churn Prediction and Retention Optimization, and I built it around a fictional company called </a:t>
            </a:r>
            <a:r>
              <a:rPr lang="en-US" dirty="0" err="1"/>
              <a:t>RavenStack</a:t>
            </a:r>
            <a:r>
              <a:rPr lang="en-US" dirty="0"/>
              <a:t>, an AI-powered collaboration platform, similar in concept to tools like Slack or Microsoft Teams.</a:t>
            </a:r>
          </a:p>
          <a:p>
            <a:endParaRPr lang="en-US" dirty="0"/>
          </a:p>
          <a:p>
            <a:r>
              <a:rPr lang="en-US" dirty="0"/>
              <a:t>The goal was simple: use data to figure out who is about to leave, why they are leaving, and what the company should do about it before it is too late.</a:t>
            </a:r>
          </a:p>
          <a:p>
            <a:endParaRPr lang="en-US" dirty="0"/>
          </a:p>
          <a:p>
            <a:r>
              <a:rPr lang="en-US" dirty="0"/>
              <a:t>I will walk you through everything today — the data, the analysis, the model, and the business recommendations."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today's presentation is structured.</a:t>
            </a:r>
          </a:p>
          <a:p>
            <a:endParaRPr lang="en-US" dirty="0"/>
          </a:p>
          <a:p>
            <a:r>
              <a:rPr lang="en-US" dirty="0"/>
              <a:t>I will start by explaining why I chose this topic and why it matters. Then I will walk through the dataset, the dashboards, the predictive model, the risk segmentation, four strategic recommendations, and I will close with a discussion of what worked, what the limitations are, and where this could go next.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get into the analysis, I want to take a moment to explain why I chose this topic — because I think the business case is compelling.</a:t>
            </a:r>
          </a:p>
          <a:p>
            <a:endParaRPr lang="en-US" dirty="0"/>
          </a:p>
          <a:p>
            <a:r>
              <a:rPr lang="en-US" dirty="0" err="1"/>
              <a:t>RavenStack</a:t>
            </a:r>
            <a:r>
              <a:rPr lang="en-US" dirty="0"/>
              <a:t> is a fictional AI-powered collaboration platform. The dataset was created using Python and ChatGPT to simulate a real-world SaaS business, which I imported from Kaggle, it is designed for practicing exactly the kind of multi-table data analysis, churn modeling, and revenue analytics that I applied in this project.</a:t>
            </a:r>
          </a:p>
          <a:p>
            <a:endParaRPr lang="en-US" dirty="0"/>
          </a:p>
          <a:p>
            <a:r>
              <a:rPr lang="en-US" dirty="0"/>
              <a:t>Now, why does customer churn matter so much in a subscription business?</a:t>
            </a:r>
          </a:p>
          <a:p>
            <a:endParaRPr lang="en-US" dirty="0"/>
          </a:p>
          <a:p>
            <a:r>
              <a:rPr lang="en-US" dirty="0"/>
              <a:t>In a traditional software company, you sell a product once and you are done. But in a SaaS company like </a:t>
            </a:r>
            <a:r>
              <a:rPr lang="en-US" dirty="0" err="1"/>
              <a:t>RavenStack</a:t>
            </a:r>
            <a:r>
              <a:rPr lang="en-US" dirty="0"/>
              <a:t>, you need the customer to keep paying every single month. Every renewal is essentially a re-purchase decision. </a:t>
            </a:r>
          </a:p>
          <a:p>
            <a:r>
              <a:rPr lang="en-US" dirty="0"/>
              <a:t>If the customer does not see ongoing value, they cancel, and they usually do it quietly, without any warning.</a:t>
            </a:r>
          </a:p>
          <a:p>
            <a:endParaRPr lang="en-US" dirty="0"/>
          </a:p>
          <a:p>
            <a:r>
              <a:rPr lang="en-US" dirty="0"/>
              <a:t>Here are three numbers that put the stakes into perspective.</a:t>
            </a:r>
          </a:p>
          <a:p>
            <a:endParaRPr lang="en-US" dirty="0"/>
          </a:p>
          <a:p>
            <a:r>
              <a:rPr lang="en-US" dirty="0"/>
              <a:t>At a 22% annual churn rate, </a:t>
            </a:r>
            <a:r>
              <a:rPr lang="en-US" dirty="0" err="1"/>
              <a:t>RavenStack</a:t>
            </a:r>
            <a:r>
              <a:rPr lang="en-US" dirty="0"/>
              <a:t> only retains about 61% of its customer base after two years — even if it keeps bringing in new customers the whole time. </a:t>
            </a:r>
          </a:p>
          <a:p>
            <a:endParaRPr lang="en-US" dirty="0"/>
          </a:p>
          <a:p>
            <a:r>
              <a:rPr lang="en-US" dirty="0"/>
              <a:t>That compounding effect quietly destroys revenue.</a:t>
            </a:r>
          </a:p>
          <a:p>
            <a:endParaRPr lang="en-US" dirty="0"/>
          </a:p>
          <a:p>
            <a:r>
              <a:rPr lang="en-US" dirty="0"/>
              <a:t>Replacing a lost customer costs five to seven times more than keeping an existing one. So every customer who leaves takes far more to replace than it would have cost to retain.</a:t>
            </a:r>
          </a:p>
          <a:p>
            <a:endParaRPr lang="en-US" dirty="0"/>
          </a:p>
          <a:p>
            <a:r>
              <a:rPr lang="en-US" dirty="0"/>
              <a:t>And it only takes one click for a customer to switch to a competitor. The barrier to leaving is extremely low in SaaS.</a:t>
            </a:r>
          </a:p>
          <a:p>
            <a:endParaRPr lang="en-US" dirty="0"/>
          </a:p>
          <a:p>
            <a:r>
              <a:rPr lang="en-US" dirty="0"/>
              <a:t>That is the business problem. And that is why being able to predict churn before it happens is so valuable.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RavenStack</a:t>
            </a:r>
            <a:r>
              <a:rPr lang="en-US" dirty="0"/>
              <a:t> has 500 business customers and a 22% annual churn rate.</a:t>
            </a:r>
          </a:p>
          <a:p>
            <a:endParaRPr lang="en-US" dirty="0"/>
          </a:p>
          <a:p>
            <a:r>
              <a:rPr lang="en-US" dirty="0"/>
              <a:t>At an average monthly revenue of $2,268 per account, this metric is a serious and recurring financial risk.</a:t>
            </a:r>
          </a:p>
          <a:p>
            <a:endParaRPr lang="en-US" dirty="0"/>
          </a:p>
          <a:p>
            <a:r>
              <a:rPr lang="en-US" dirty="0"/>
              <a:t>They currently have no systematic way to know which customers are at risk before they leave, no understanding of what is actually driving them out, and no process for allocating its Customer Success resources based on who needs attention most.</a:t>
            </a:r>
          </a:p>
          <a:p>
            <a:endParaRPr lang="en-US" dirty="0"/>
          </a:p>
          <a:p>
            <a:r>
              <a:rPr lang="en-US" dirty="0"/>
              <a:t>To solve this, I structured the project as three phases.</a:t>
            </a:r>
          </a:p>
          <a:p>
            <a:endParaRPr lang="en-US" dirty="0"/>
          </a:p>
          <a:p>
            <a:r>
              <a:rPr lang="en-US" dirty="0"/>
              <a:t>Phase A was about understanding, I used Power BI to examine churn patterns across industry, geography, plan tier, tenure, and exit reasons. I wanted to understand what was happening before I tried to predict anything.</a:t>
            </a:r>
          </a:p>
          <a:p>
            <a:r>
              <a:rPr lang="en-US" dirty="0"/>
              <a:t>Phase B was about predicting, I built a logistic regression model in Python to estimate the churn probability for each of the 500 accounts and identify exactly which factors are driving that risk.</a:t>
            </a:r>
          </a:p>
          <a:p>
            <a:r>
              <a:rPr lang="en-US" dirty="0"/>
              <a:t>Phase C was about acting, I took those predictions and turned them into a practical risk segmentation framework with specific retention actions for each tier.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RavenStack’s</a:t>
            </a:r>
            <a:r>
              <a:rPr lang="en-US" dirty="0"/>
              <a:t> dataset has five interconnected tables, think of them like five spreadsheets that all link to each other through a shared customer ID.</a:t>
            </a:r>
          </a:p>
          <a:p>
            <a:endParaRPr lang="en-US" dirty="0"/>
          </a:p>
          <a:p>
            <a:r>
              <a:rPr lang="en-US" dirty="0"/>
              <a:t>The accounts table has 500 rows, one for each customer company — and this is where the target variable lives. The churn flag tells me whether each customer stayed or left.</a:t>
            </a:r>
          </a:p>
          <a:p>
            <a:endParaRPr lang="en-US" dirty="0"/>
          </a:p>
          <a:p>
            <a:r>
              <a:rPr lang="en-US" dirty="0"/>
              <a:t>The subscriptions table has 5,000 rows because customers can have multiple subscriptions over time. It contains billing information, plan tier, and whether the customer upgraded or downgraded.</a:t>
            </a:r>
          </a:p>
          <a:p>
            <a:endParaRPr lang="en-US" dirty="0"/>
          </a:p>
          <a:p>
            <a:r>
              <a:rPr lang="en-US" dirty="0"/>
              <a:t>The feature usage table has 25,000 rows — this captures how customers actually interact with the product. Session duration, usage count, error count.</a:t>
            </a:r>
          </a:p>
          <a:p>
            <a:endParaRPr lang="en-US" dirty="0"/>
          </a:p>
          <a:p>
            <a:r>
              <a:rPr lang="en-US" dirty="0"/>
              <a:t>The support tickets table has 2,000 rows — it tells me how often customers contact support, how quickly issues get resolved, and how satisfied they were.</a:t>
            </a:r>
          </a:p>
          <a:p>
            <a:endParaRPr lang="en-US" dirty="0"/>
          </a:p>
          <a:p>
            <a:r>
              <a:rPr lang="en-US" dirty="0"/>
              <a:t>And the churn events table has 600 rows — these are the records for customers who left, including the reason they gave for leaving.</a:t>
            </a:r>
          </a:p>
          <a:p>
            <a:endParaRPr lang="en-US" dirty="0"/>
          </a:p>
          <a:p>
            <a:r>
              <a:rPr lang="en-US" dirty="0"/>
              <a:t>In total, that is over 33,000 records across five tables, all linked together. Before I could do any analysis, I had to join all of this into one clean dataset.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Python with the pandas library for all the data preparation and merging, scikit-learn for the machine learning model, and Power BI for the descriptive analytics dashboards.</a:t>
            </a:r>
          </a:p>
          <a:p>
            <a:endParaRPr lang="en-US" dirty="0"/>
          </a:p>
          <a:p>
            <a:r>
              <a:rPr lang="en-US" dirty="0"/>
              <a:t>First, I merged all five tables using the account ID and subscription ID as the connecting keys. The result was a flat, account-level dataset — 500 rows and 37 columns — where each row represents everything we know about one customer.</a:t>
            </a:r>
          </a:p>
          <a:p>
            <a:endParaRPr lang="en-US" dirty="0"/>
          </a:p>
          <a:p>
            <a:r>
              <a:rPr lang="en-US" dirty="0"/>
              <a:t>Second, I cleaned the data. I removed missing or inconsistent values, standardized categorical fields like industry and country so they were consistent across tables, and verified the final count — 110 churned accounts, which confirms the 22% churn rate.</a:t>
            </a:r>
          </a:p>
          <a:p>
            <a:endParaRPr lang="en-US" dirty="0"/>
          </a:p>
          <a:p>
            <a:r>
              <a:rPr lang="en-US" dirty="0"/>
              <a:t>Third was feature engineering — this is where I created new variables that the model could use. I aggregated the usage and support data to the account level, calculating things like average session duration, average error rate, and average support resolution time per customer. I also created a flag specifically for accounts that had a plan downgrade in the 90 days before churning. That turned out to be an important signal.</a:t>
            </a:r>
          </a:p>
          <a:p>
            <a:endParaRPr lang="en-US" dirty="0"/>
          </a:p>
          <a:p>
            <a:r>
              <a:rPr lang="en-US" dirty="0"/>
              <a:t>Fourth, I split the data for modeling. 70% went into training the model, 30% was held back for validation. I used a stratified split — which means I made sure the 22% churn rate was proportionally represented in both halves. And I fixed the random state at 42 so that anyone else can run the exact same code and get the exact same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dashboards to examine the data from multiple angles. </a:t>
            </a:r>
          </a:p>
          <a:p>
            <a:endParaRPr lang="en-US" dirty="0"/>
          </a:p>
          <a:p>
            <a:r>
              <a:rPr lang="en-US" dirty="0"/>
              <a:t>The column chart on the left shows churn rate by industry. DevTools stands out immediately — 31% churn, which is nine percentage points above the company average of 22%. </a:t>
            </a:r>
          </a:p>
          <a:p>
            <a:r>
              <a:rPr lang="en-US" dirty="0"/>
              <a:t>That is not a small difference. It tells me something specific is failing for DevTools customers — whether that is product gaps, support quality, or both.</a:t>
            </a:r>
          </a:p>
          <a:p>
            <a:endParaRPr lang="en-US" dirty="0"/>
          </a:p>
          <a:p>
            <a:r>
              <a:rPr lang="en-US" dirty="0"/>
              <a:t>The pie chart in the middle breaks down the 600 churn events by the reason the customer gave for leaving. </a:t>
            </a:r>
          </a:p>
          <a:p>
            <a:endParaRPr lang="en-US" dirty="0"/>
          </a:p>
          <a:p>
            <a:r>
              <a:rPr lang="en-US" dirty="0"/>
              <a:t>Missing product features is the single biggest category at 114 events. </a:t>
            </a:r>
          </a:p>
          <a:p>
            <a:endParaRPr lang="en-US" dirty="0"/>
          </a:p>
          <a:p>
            <a:r>
              <a:rPr lang="en-US" dirty="0"/>
              <a:t>That is more than budget concerns, more than competitor pressure, more than support issues. </a:t>
            </a:r>
          </a:p>
          <a:p>
            <a:endParaRPr lang="en-US" dirty="0"/>
          </a:p>
          <a:p>
            <a:r>
              <a:rPr lang="en-US" dirty="0"/>
              <a:t>This is fundamentally a product problem. Customers are leaving because the platform is not doing what they need it to do.</a:t>
            </a:r>
          </a:p>
          <a:p>
            <a:endParaRPr lang="en-US" dirty="0"/>
          </a:p>
          <a:p>
            <a:r>
              <a:rPr lang="en-US" dirty="0"/>
              <a:t>The line chart on the right looks at churn across tenure groups — customers who have been around 0 to 1 year, 1 to 2 years, and 2-plus years. </a:t>
            </a:r>
          </a:p>
          <a:p>
            <a:endParaRPr lang="en-US" dirty="0"/>
          </a:p>
          <a:p>
            <a:r>
              <a:rPr lang="en-US" dirty="0"/>
              <a:t>What is striking is how completely flat that line is. Long-term customers churn at exactly the same rate as new ones. There is no loyalty effect from time alone. Retention has to be earned continuously.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bar chart shows churn by country. </a:t>
            </a:r>
          </a:p>
          <a:p>
            <a:endParaRPr lang="en-US" dirty="0"/>
          </a:p>
          <a:p>
            <a:r>
              <a:rPr lang="en-US" dirty="0"/>
              <a:t>Germany has the highest rate at 28%, Australia the lowest at just 11%. </a:t>
            </a:r>
          </a:p>
          <a:p>
            <a:endParaRPr lang="en-US" dirty="0"/>
          </a:p>
          <a:p>
            <a:r>
              <a:rPr lang="en-US" dirty="0"/>
              <a:t>That is a significant geographic spread and it is consistent — not noise. It suggests something is working well in Australia and something is not working in Germany.</a:t>
            </a:r>
          </a:p>
          <a:p>
            <a:endParaRPr lang="en-US" dirty="0"/>
          </a:p>
          <a:p>
            <a:r>
              <a:rPr lang="en-US" dirty="0"/>
              <a:t>The donut chart shows churned accounts by plan tier. Enterprise, Pro, and Basic are almost identical. </a:t>
            </a:r>
          </a:p>
          <a:p>
            <a:endParaRPr lang="en-US" dirty="0"/>
          </a:p>
          <a:p>
            <a:r>
              <a:rPr lang="en-US" dirty="0"/>
              <a:t>This is one of the most important business insights in the entire project — it means you cannot fix your churn problem by moving customers to a more expensive plan. </a:t>
            </a:r>
          </a:p>
          <a:p>
            <a:endParaRPr lang="en-US" dirty="0"/>
          </a:p>
          <a:p>
            <a:r>
              <a:rPr lang="en-US" dirty="0"/>
              <a:t>The problem is not price. It is perceived value.</a:t>
            </a:r>
          </a:p>
          <a:p>
            <a:endParaRPr lang="en-US" dirty="0"/>
          </a:p>
          <a:p>
            <a:r>
              <a:rPr lang="en-US" dirty="0"/>
              <a:t>And the column chart on the right shows churn by referral source. Customers acquired through events churn at 27% — the highest of any channel. Customers who came to you organically churn at only 18%. </a:t>
            </a:r>
          </a:p>
          <a:p>
            <a:endParaRPr lang="en-US" dirty="0"/>
          </a:p>
          <a:p>
            <a:r>
              <a:rPr lang="en-US" dirty="0"/>
              <a:t>Customers who seek you out on their own are fundamentally more committed than customers who were sold to at a conference.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important takeaways from Phase A before I move into the predictive model.</a:t>
            </a:r>
          </a:p>
          <a:p>
            <a:endParaRPr lang="en-US" dirty="0"/>
          </a:p>
          <a:p>
            <a:r>
              <a:rPr lang="en-US" dirty="0"/>
              <a:t>One — industry vertical is a primary risk differentiator. DevTools is significantly more at risk than any other segment and needs to be treated differently.</a:t>
            </a:r>
          </a:p>
          <a:p>
            <a:endParaRPr lang="en-US" dirty="0"/>
          </a:p>
          <a:p>
            <a:r>
              <a:rPr lang="en-US" dirty="0"/>
              <a:t>Two — product feature gaps are the leading driver of exits. This is a product roadmap problem, not a pricing or support problem.</a:t>
            </a:r>
          </a:p>
          <a:p>
            <a:endParaRPr lang="en-US" dirty="0"/>
          </a:p>
          <a:p>
            <a:r>
              <a:rPr lang="en-US" dirty="0"/>
              <a:t>Three — plan tier has no measurable effect on retention. Upselling is not a churn solution.</a:t>
            </a:r>
          </a:p>
          <a:p>
            <a:endParaRPr lang="en-US" dirty="0"/>
          </a:p>
          <a:p>
            <a:r>
              <a:rPr lang="en-US" dirty="0"/>
              <a:t>Four — tenure does not protect retention. Loyalty cannot be assumed just because a customer has been around for a long time.</a:t>
            </a:r>
          </a:p>
          <a:p>
            <a:endParaRPr lang="en-US" dirty="0"/>
          </a:p>
          <a:p>
            <a:r>
              <a:rPr lang="en-US" dirty="0"/>
              <a:t>And five — geography and acquisition channel create real, consistent differences. Australia retains best. Germany churns most. Organic customers are the most committed. These patterns are reliable enough to act 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 was about building a predictive model. The question I was trying to answer is — given everything we know about a customer, can we predict whether they are going to leave?</a:t>
            </a:r>
          </a:p>
          <a:p>
            <a:endParaRPr lang="en-US" dirty="0"/>
          </a:p>
          <a:p>
            <a:r>
              <a:rPr lang="en-US" dirty="0"/>
              <a:t>I used a technique called logistic regression. The name sounds technical, but the concept is straightforward. </a:t>
            </a:r>
          </a:p>
          <a:p>
            <a:endParaRPr lang="en-US" dirty="0"/>
          </a:p>
          <a:p>
            <a:r>
              <a:rPr lang="en-US" dirty="0"/>
              <a:t>Think of it like a doctor looking at a patient's full medical history — blood pressure, lifestyle, family history — and making a judgment about their health risk. </a:t>
            </a:r>
          </a:p>
          <a:p>
            <a:endParaRPr lang="en-US" dirty="0"/>
          </a:p>
          <a:p>
            <a:r>
              <a:rPr lang="en-US" dirty="0"/>
              <a:t>The model does the same thing with customer data. It looks at every piece of information we have about an account and produces a risk score.</a:t>
            </a:r>
          </a:p>
          <a:p>
            <a:endParaRPr lang="en-US" dirty="0"/>
          </a:p>
          <a:p>
            <a:r>
              <a:rPr lang="en-US" dirty="0"/>
              <a:t>I want to address the model performance numbers directly, because they need context.</a:t>
            </a:r>
          </a:p>
          <a:p>
            <a:endParaRPr lang="en-US" dirty="0"/>
          </a:p>
          <a:p>
            <a:r>
              <a:rPr lang="en-US" dirty="0"/>
              <a:t>The model achieved 48% accuracy and a ROC-AUC of 0.58. If I built a model that simply predicted every single customer would stay, it would be right 78% of the time — because 78% of customers do not churn. So accuracy alone is not the right metric here.</a:t>
            </a:r>
          </a:p>
          <a:p>
            <a:endParaRPr lang="en-US" dirty="0"/>
          </a:p>
          <a:p>
            <a:r>
              <a:rPr lang="en-US" dirty="0"/>
              <a:t>The more meaningful number is recall. The model correctly identified 51% of the customers who actually churned before they left. </a:t>
            </a:r>
          </a:p>
          <a:p>
            <a:endParaRPr lang="en-US" dirty="0"/>
          </a:p>
          <a:p>
            <a:r>
              <a:rPr lang="en-US" dirty="0"/>
              <a:t>That means more than half of your at-risk accounts can be flagged in advance, while you currently catch zero churners early. In a business context, that is what matters.</a:t>
            </a:r>
          </a:p>
          <a:p>
            <a:endParaRPr lang="en-US" dirty="0"/>
          </a:p>
          <a:p>
            <a:r>
              <a:rPr lang="en-US" dirty="0"/>
              <a:t>I also want to mention that I used </a:t>
            </a:r>
            <a:r>
              <a:rPr lang="en-US" dirty="0" err="1"/>
              <a:t>class_weight</a:t>
            </a:r>
            <a:r>
              <a:rPr lang="en-US" dirty="0"/>
              <a:t>='balanced' when building the model. This is a setting that gives more weight to churners during training — because they are the minority group. </a:t>
            </a:r>
          </a:p>
          <a:p>
            <a:endParaRPr lang="en-US" dirty="0"/>
          </a:p>
          <a:p>
            <a:r>
              <a:rPr lang="en-US" dirty="0"/>
              <a:t>Without it, the model would just predict 'not churning' for everyone and miss all the real churners entirely.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utilized coefficient analysis, not just predict who will churn — but to also explain exactly why, by assigning a weight to every single factor it considered. </a:t>
            </a:r>
          </a:p>
          <a:p>
            <a:endParaRPr lang="en-US" dirty="0"/>
          </a:p>
          <a:p>
            <a:r>
              <a:rPr lang="en-US" dirty="0"/>
              <a:t>A positive coefficient means that factor increases churn risk. A negative coefficient means it reduces churn risk. The larger the number, the stronger the effect.</a:t>
            </a:r>
          </a:p>
          <a:p>
            <a:endParaRPr lang="en-US" dirty="0"/>
          </a:p>
          <a:p>
            <a:r>
              <a:rPr lang="en-US" b="1" dirty="0"/>
              <a:t>On the churn risk side:</a:t>
            </a:r>
            <a:endParaRPr lang="en-US" dirty="0"/>
          </a:p>
          <a:p>
            <a:r>
              <a:rPr lang="en-US" dirty="0"/>
              <a:t>High usage volume has one of the highest coefficients. This surprises people at first. Surely using the product a lot means you like it? Not necessarily. </a:t>
            </a:r>
          </a:p>
          <a:p>
            <a:endParaRPr lang="en-US" dirty="0"/>
          </a:p>
          <a:p>
            <a:r>
              <a:rPr lang="en-US" dirty="0"/>
              <a:t>High volume without depth usually means the customer is struggling — clicking around, hitting errors, not finding what they need. It is a sign of frustration, not engagement.</a:t>
            </a:r>
          </a:p>
          <a:p>
            <a:endParaRPr lang="en-US" dirty="0"/>
          </a:p>
          <a:p>
            <a:r>
              <a:rPr lang="en-US" dirty="0"/>
              <a:t>DevTools industry comes in next — consistent with everything we saw in Phase A. High expectations, low patience, and they switch when the product falls short.</a:t>
            </a:r>
          </a:p>
          <a:p>
            <a:endParaRPr lang="en-US" dirty="0"/>
          </a:p>
          <a:p>
            <a:r>
              <a:rPr lang="en-US" dirty="0"/>
              <a:t>Event-based referrals — customers you met at a conference are less committed than customers who found you on their own. They may have been attracted by a demo or a promotion, but they are not deeply invested in the product.</a:t>
            </a:r>
          </a:p>
          <a:p>
            <a:endParaRPr lang="en-US" b="1" dirty="0"/>
          </a:p>
          <a:p>
            <a:r>
              <a:rPr lang="en-US" b="1" dirty="0"/>
              <a:t>On the retention side:</a:t>
            </a:r>
            <a:endParaRPr lang="en-US" dirty="0"/>
          </a:p>
          <a:p>
            <a:r>
              <a:rPr lang="en-US" dirty="0"/>
              <a:t>Organic referral is the strongest retention signal. Customers who sought you out on their own are your most committed buyers.</a:t>
            </a:r>
          </a:p>
          <a:p>
            <a:endParaRPr lang="en-US" dirty="0"/>
          </a:p>
          <a:p>
            <a:r>
              <a:rPr lang="en-US" dirty="0"/>
              <a:t>Annual contracts significantly reduce churn. Customers who have committed for a year are both more invested and more serious buyers.</a:t>
            </a:r>
          </a:p>
          <a:p>
            <a:endParaRPr lang="en-US" dirty="0"/>
          </a:p>
          <a:p>
            <a:r>
              <a:rPr lang="en-US" dirty="0"/>
              <a:t>Australia accounts show strong retention — consistently less likely to leave than any other geography.</a:t>
            </a:r>
          </a:p>
          <a:p>
            <a:endParaRPr lang="en-US" dirty="0"/>
          </a:p>
          <a:p>
            <a:r>
              <a:rPr lang="en-US" dirty="0"/>
              <a:t>EdTech is the most loyal vertical — the lowest churn rate of any industry in the dataset.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took the churn probability score that the model assigned to every one of the 500 accounts, combined it with each account's monthly revenue, and placed every customer into one of three risk tiers.</a:t>
            </a:r>
          </a:p>
          <a:p>
            <a:endParaRPr lang="en-US" dirty="0"/>
          </a:p>
          <a:p>
            <a:r>
              <a:rPr lang="en-US" dirty="0"/>
              <a:t>Low risk — 28 accounts, $112,000 in monthly revenue. These customers are stable. A quarterly check-in and a product newsletter is sufficient. Do not over-invest here.</a:t>
            </a:r>
          </a:p>
          <a:p>
            <a:endParaRPr lang="en-US" dirty="0"/>
          </a:p>
          <a:p>
            <a:r>
              <a:rPr lang="en-US" dirty="0"/>
              <a:t>Medium risk — 381 accounts, $864,000 in monthly revenue.</a:t>
            </a:r>
          </a:p>
          <a:p>
            <a:endParaRPr lang="en-US" dirty="0"/>
          </a:p>
          <a:p>
            <a:r>
              <a:rPr lang="en-US" dirty="0"/>
              <a:t>This is where the bulk of the business lives. Most of the churned accounts came from this tier. These customers are not in immediate danger but they are not locked in either. They need monthly outreach, regular health check conversations, and proactive support before small problems become big ones.</a:t>
            </a:r>
          </a:p>
          <a:p>
            <a:r>
              <a:rPr lang="en-US" dirty="0"/>
              <a:t>High risk — 91 accounts, $156,000 in monthly revenue. These customers need attention this week. A personal call from their Customer Success Manager. Executive sponsor involvement for larger accounts. And a tailored retention offer within 48 hours.</a:t>
            </a:r>
          </a:p>
          <a:p>
            <a:endParaRPr lang="en-US" dirty="0"/>
          </a:p>
          <a:p>
            <a:r>
              <a:rPr lang="en-US" dirty="0"/>
              <a:t>The framework converts a predictive model into a triage system. Instead of treating all 500 customers the same way, the Customer Success team now has a prioritized list of exactly who needs what kind of attention.</a:t>
            </a:r>
          </a:p>
          <a:p>
            <a:r>
              <a:rPr lang="en-US" dirty="0"/>
              <a:t>And to put the stakes into context — that medium risk bucket alone represents $864,000 in monthly recurring revenue. Even reducing churn in that segment by just 10% saves $86,000 every single month. That is the financial case for this entire project.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the model showed me, I have four specific recommendations for </a:t>
            </a:r>
            <a:r>
              <a:rPr lang="en-US" dirty="0" err="1"/>
              <a:t>RavenStack</a:t>
            </a:r>
            <a:r>
              <a:rPr lang="en-US" dirty="0"/>
              <a:t>.</a:t>
            </a:r>
          </a:p>
          <a:p>
            <a:endParaRPr lang="en-US" dirty="0"/>
          </a:p>
          <a:p>
            <a:r>
              <a:rPr lang="en-US" dirty="0"/>
              <a:t>First — prioritize moving customers from monthly to annual billing. The annual contract coefficient is one of the strongest retention signals in the model. Offer a meaningful incentive — a discount, additional feature access, or priority support — to encourage month-to-month customers to commit to an annual plan.</a:t>
            </a:r>
          </a:p>
          <a:p>
            <a:endParaRPr lang="en-US" dirty="0"/>
          </a:p>
          <a:p>
            <a:r>
              <a:rPr lang="en-US" dirty="0"/>
              <a:t>Second — treat the DevTools vertical as a separate customer segment that needs its own experience. A 31% churn rate tells you this is a structural problem, not random variation. Dedicated onboarding and faster support response times specifically for this segment are warranted by the data.</a:t>
            </a:r>
          </a:p>
          <a:p>
            <a:endParaRPr lang="en-US" dirty="0"/>
          </a:p>
          <a:p>
            <a:r>
              <a:rPr lang="en-US" dirty="0"/>
              <a:t>Third — when a customer downgrades their plan, reach out within 48 hours. A plan downgrade is an exit signal. Most companies wait until renewal to have retention conversations — by that point, the customer has often already made up their mind. The actionable window is right after the downgrade.</a:t>
            </a:r>
          </a:p>
          <a:p>
            <a:endParaRPr lang="en-US" dirty="0"/>
          </a:p>
          <a:p>
            <a:r>
              <a:rPr lang="en-US" dirty="0"/>
              <a:t>Fourth — invest in getting customers to use the product deeply, not just frequently. Session duration is a stronger retention predictor than how often someone logs in. A customer who spends focused, productive time in the product is far safer than one who logs in many times briefly and leaves frustrated. Invest in guided onboarding and feature activation programs that get customers to the point where they genuinely rely on the platform.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close, I want to be transparent about both what this project contributes and where its limitations are.</a:t>
            </a:r>
          </a:p>
          <a:p>
            <a:endParaRPr lang="en-US" dirty="0"/>
          </a:p>
          <a:p>
            <a:r>
              <a:rPr lang="en-US" dirty="0"/>
              <a:t>On the contribution side — this project demonstrates a complete analytics lifecycle from raw data to business action. I went from five disconnected tables to a prioritized retention action plan. The methodology is real and transferable — the same pipeline, applied to actual customer data, would produce more accurate predictions and more confident recommendations.</a:t>
            </a:r>
          </a:p>
          <a:p>
            <a:endParaRPr lang="en-US" dirty="0"/>
          </a:p>
          <a:p>
            <a:r>
              <a:rPr lang="en-US" dirty="0"/>
              <a:t>On the limitations side — the dataset is synthetic, which means the behavioral patterns are less pronounced than they would be in a real production environment. That is why the model accuracy is modest. In a real deployment, you would also have richer data — actual login frequency, detailed feature adoption data, Net Promoter Scores — all of which would sharpen the model significantly.</a:t>
            </a:r>
          </a:p>
          <a:p>
            <a:endParaRPr lang="en-US" dirty="0"/>
          </a:p>
          <a:p>
            <a:r>
              <a:rPr lang="en-US" dirty="0"/>
              <a:t>The risk segmentation I built is also a point-in-time snapshot. In a real business, you would want to re-score every account monthly so the Customer Success team always has a current view of who is at risk.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everything together.</a:t>
            </a:r>
          </a:p>
          <a:p>
            <a:r>
              <a:rPr lang="en-US" dirty="0"/>
              <a:t>Phase A — the Power BI dashboard — revealed that DevTools is the highest-risk customer segment, that product feature gaps are the primary driver of exits, that plan tier and tenure provide no meaningful protection, and that geography and acquisition channel create consistent, actionable differences.</a:t>
            </a:r>
          </a:p>
          <a:p>
            <a:endParaRPr lang="en-US" dirty="0"/>
          </a:p>
          <a:p>
            <a:r>
              <a:rPr lang="en-US" dirty="0"/>
              <a:t>Phase B — the logistic regression model — identified the key churn drivers and produced a probability score for each of the 500 accounts. High usage volume without depth, DevTools industry, and event-based referrals are the strongest risk signals. Organic acquisition, annual contracts, and sustained product engagement are the strongest retention signals.</a:t>
            </a:r>
          </a:p>
          <a:p>
            <a:endParaRPr lang="en-US" dirty="0"/>
          </a:p>
          <a:p>
            <a:r>
              <a:rPr lang="en-US" dirty="0"/>
              <a:t>Phase C — the risk segmentation — classified all 500 accounts into three tiers with specific prescribed actions for each. The medium risk segment, with $864,000 in monthly revenue, represents the highest-priority opportunity for proactive retention investment.</a:t>
            </a:r>
          </a:p>
          <a:p>
            <a:endParaRPr lang="en-US" dirty="0"/>
          </a:p>
          <a:p>
            <a:r>
              <a:rPr lang="en-US" dirty="0"/>
              <a:t>The thing this project reinforced for me is that analytics work requires three very different skill sets. The technical skill to prepare data and build models. The analytical skill to interpret results honestly and in context. And the communication skill to translate numbers into decisions that business leaders can actually act on.</a:t>
            </a:r>
          </a:p>
          <a:p>
            <a:endParaRPr lang="en-US" dirty="0"/>
          </a:p>
          <a:p>
            <a:r>
              <a:rPr lang="en-US" dirty="0"/>
              <a:t>This capstone pushed me to develop all three — and that is what I am taking away from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1B5E20"/>
          </a:solidFill>
          <a:ln w="12700">
            <a:solidFill>
              <a:srgbClr val="1B5E20"/>
            </a:solidFill>
            <a:prstDash val="solid"/>
          </a:ln>
        </p:spPr>
        <p:txBody>
          <a:bodyPr/>
          <a:lstStyle/>
          <a:p>
            <a:endParaRPr lang="en-US"/>
          </a:p>
        </p:txBody>
      </p:sp>
      <p:sp>
        <p:nvSpPr>
          <p:cNvPr id="3" name="Shape 1"/>
          <p:cNvSpPr/>
          <p:nvPr/>
        </p:nvSpPr>
        <p:spPr>
          <a:xfrm>
            <a:off x="5669280" y="0"/>
            <a:ext cx="3474720" cy="5143500"/>
          </a:xfrm>
          <a:prstGeom prst="rect">
            <a:avLst/>
          </a:prstGeom>
          <a:solidFill>
            <a:srgbClr val="2E7D32"/>
          </a:solidFill>
          <a:ln w="12700">
            <a:solidFill>
              <a:srgbClr val="2E7D32"/>
            </a:solidFill>
            <a:prstDash val="solid"/>
          </a:ln>
        </p:spPr>
        <p:txBody>
          <a:bodyPr/>
          <a:lstStyle/>
          <a:p>
            <a:endParaRPr lang="en-US"/>
          </a:p>
        </p:txBody>
      </p:sp>
      <p:sp>
        <p:nvSpPr>
          <p:cNvPr id="4" name="Shape 2"/>
          <p:cNvSpPr/>
          <p:nvPr/>
        </p:nvSpPr>
        <p:spPr>
          <a:xfrm>
            <a:off x="457200" y="1463040"/>
            <a:ext cx="45720" cy="2011680"/>
          </a:xfrm>
          <a:prstGeom prst="rect">
            <a:avLst/>
          </a:prstGeom>
          <a:solidFill>
            <a:srgbClr val="66BB6A"/>
          </a:solidFill>
          <a:ln w="12700">
            <a:solidFill>
              <a:srgbClr val="66BB6A"/>
            </a:solidFill>
            <a:prstDash val="solid"/>
          </a:ln>
        </p:spPr>
        <p:txBody>
          <a:bodyPr/>
          <a:lstStyle/>
          <a:p>
            <a:endParaRPr lang="en-US"/>
          </a:p>
        </p:txBody>
      </p:sp>
      <p:sp>
        <p:nvSpPr>
          <p:cNvPr id="5" name="Text 3"/>
          <p:cNvSpPr/>
          <p:nvPr/>
        </p:nvSpPr>
        <p:spPr>
          <a:xfrm>
            <a:off x="640080" y="1417320"/>
            <a:ext cx="4846320" cy="210312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Customer Churn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Prediction &amp;</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Retention Optimization</a:t>
            </a:r>
            <a:endParaRPr lang="en-US" sz="3000" dirty="0"/>
          </a:p>
        </p:txBody>
      </p:sp>
      <p:sp>
        <p:nvSpPr>
          <p:cNvPr id="6" name="Text 4"/>
          <p:cNvSpPr/>
          <p:nvPr/>
        </p:nvSpPr>
        <p:spPr>
          <a:xfrm>
            <a:off x="640080" y="3584448"/>
            <a:ext cx="4754880" cy="274320"/>
          </a:xfrm>
          <a:prstGeom prst="rect">
            <a:avLst/>
          </a:prstGeom>
          <a:noFill/>
          <a:ln/>
        </p:spPr>
        <p:txBody>
          <a:bodyPr wrap="square" lIns="0" tIns="0" rIns="0" bIns="0" rtlCol="0" anchor="ctr"/>
          <a:lstStyle/>
          <a:p>
            <a:pPr marL="0" indent="0">
              <a:buNone/>
            </a:pPr>
            <a:r>
              <a:rPr lang="en-US" sz="900" dirty="0">
                <a:solidFill>
                  <a:srgbClr val="A5D6A7"/>
                </a:solidFill>
                <a:latin typeface="Calibri" pitchFamily="34" charset="0"/>
                <a:ea typeface="Calibri" pitchFamily="34" charset="-122"/>
                <a:cs typeface="Calibri" pitchFamily="34" charset="-120"/>
              </a:rPr>
              <a:t>A Business Analytics Capstone  ·  RavenStack (Hypothetical SaaS Company)</a:t>
            </a:r>
            <a:endParaRPr lang="en-US" sz="900" dirty="0"/>
          </a:p>
        </p:txBody>
      </p:sp>
      <p:sp>
        <p:nvSpPr>
          <p:cNvPr id="7" name="Text 5"/>
          <p:cNvSpPr/>
          <p:nvPr/>
        </p:nvSpPr>
        <p:spPr>
          <a:xfrm>
            <a:off x="5852160" y="1051560"/>
            <a:ext cx="3017520" cy="219456"/>
          </a:xfrm>
          <a:prstGeom prst="rect">
            <a:avLst/>
          </a:prstGeom>
          <a:noFill/>
          <a:ln/>
        </p:spPr>
        <p:txBody>
          <a:bodyPr wrap="square" lIns="0" tIns="0" rIns="0" bIns="0" rtlCol="0" anchor="ctr"/>
          <a:lstStyle/>
          <a:p>
            <a:pPr marL="0" indent="0">
              <a:buNone/>
            </a:pPr>
            <a:r>
              <a:rPr lang="en-US" sz="850" dirty="0">
                <a:solidFill>
                  <a:srgbClr val="A5D6A7"/>
                </a:solidFill>
                <a:latin typeface="Calibri" pitchFamily="34" charset="0"/>
                <a:ea typeface="Calibri" pitchFamily="34" charset="-122"/>
                <a:cs typeface="Calibri" pitchFamily="34" charset="-120"/>
              </a:rPr>
              <a:t>Presented by</a:t>
            </a:r>
            <a:endParaRPr lang="en-US" sz="850" dirty="0"/>
          </a:p>
        </p:txBody>
      </p:sp>
      <p:sp>
        <p:nvSpPr>
          <p:cNvPr id="8" name="Text 6"/>
          <p:cNvSpPr/>
          <p:nvPr/>
        </p:nvSpPr>
        <p:spPr>
          <a:xfrm>
            <a:off x="5852160" y="1261872"/>
            <a:ext cx="30175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Mancy Khadka</a:t>
            </a:r>
            <a:endParaRPr lang="en-US" sz="2000" dirty="0"/>
          </a:p>
        </p:txBody>
      </p:sp>
      <p:sp>
        <p:nvSpPr>
          <p:cNvPr id="9" name="Text 7"/>
          <p:cNvSpPr/>
          <p:nvPr/>
        </p:nvSpPr>
        <p:spPr>
          <a:xfrm>
            <a:off x="5852160" y="1920240"/>
            <a:ext cx="1188720" cy="201168"/>
          </a:xfrm>
          <a:prstGeom prst="rect">
            <a:avLst/>
          </a:prstGeom>
          <a:noFill/>
          <a:ln/>
        </p:spPr>
        <p:txBody>
          <a:bodyPr wrap="square" lIns="0" tIns="0" rIns="0" bIns="0" rtlCol="0" anchor="ctr"/>
          <a:lstStyle/>
          <a:p>
            <a:pPr marL="0" indent="0">
              <a:buNone/>
            </a:pPr>
            <a:r>
              <a:rPr lang="en-US" sz="700" b="1" kern="0" spc="80" dirty="0">
                <a:solidFill>
                  <a:srgbClr val="66BB6A"/>
                </a:solidFill>
                <a:latin typeface="Calibri" pitchFamily="34" charset="0"/>
                <a:ea typeface="Calibri" pitchFamily="34" charset="-122"/>
                <a:cs typeface="Calibri" pitchFamily="34" charset="-120"/>
              </a:rPr>
              <a:t>COURSE</a:t>
            </a:r>
            <a:endParaRPr lang="en-US" sz="700" dirty="0"/>
          </a:p>
        </p:txBody>
      </p:sp>
      <p:sp>
        <p:nvSpPr>
          <p:cNvPr id="10" name="Text 8"/>
          <p:cNvSpPr/>
          <p:nvPr/>
        </p:nvSpPr>
        <p:spPr>
          <a:xfrm>
            <a:off x="7086600" y="1920240"/>
            <a:ext cx="182880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MSBA 500</a:t>
            </a:r>
            <a:endParaRPr lang="en-US" sz="1000" dirty="0"/>
          </a:p>
        </p:txBody>
      </p:sp>
      <p:sp>
        <p:nvSpPr>
          <p:cNvPr id="11" name="Text 9"/>
          <p:cNvSpPr/>
          <p:nvPr/>
        </p:nvSpPr>
        <p:spPr>
          <a:xfrm>
            <a:off x="5852160" y="2395728"/>
            <a:ext cx="1188720" cy="201168"/>
          </a:xfrm>
          <a:prstGeom prst="rect">
            <a:avLst/>
          </a:prstGeom>
          <a:noFill/>
          <a:ln/>
        </p:spPr>
        <p:txBody>
          <a:bodyPr wrap="square" lIns="0" tIns="0" rIns="0" bIns="0" rtlCol="0" anchor="ctr"/>
          <a:lstStyle/>
          <a:p>
            <a:pPr marL="0" indent="0">
              <a:buNone/>
            </a:pPr>
            <a:r>
              <a:rPr lang="en-US" sz="700" b="1" kern="0" spc="80" dirty="0">
                <a:solidFill>
                  <a:srgbClr val="66BB6A"/>
                </a:solidFill>
                <a:latin typeface="Calibri" pitchFamily="34" charset="0"/>
                <a:ea typeface="Calibri" pitchFamily="34" charset="-122"/>
                <a:cs typeface="Calibri" pitchFamily="34" charset="-120"/>
              </a:rPr>
              <a:t>PROFESSOR</a:t>
            </a:r>
            <a:endParaRPr lang="en-US" sz="700" dirty="0"/>
          </a:p>
        </p:txBody>
      </p:sp>
      <p:sp>
        <p:nvSpPr>
          <p:cNvPr id="12" name="Text 10"/>
          <p:cNvSpPr/>
          <p:nvPr/>
        </p:nvSpPr>
        <p:spPr>
          <a:xfrm>
            <a:off x="7086600" y="2395728"/>
            <a:ext cx="182880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Xiaolin Lin</a:t>
            </a:r>
            <a:endParaRPr lang="en-US" sz="1000" dirty="0"/>
          </a:p>
        </p:txBody>
      </p:sp>
      <p:sp>
        <p:nvSpPr>
          <p:cNvPr id="13" name="Text 11"/>
          <p:cNvSpPr/>
          <p:nvPr/>
        </p:nvSpPr>
        <p:spPr>
          <a:xfrm>
            <a:off x="5852160" y="2871216"/>
            <a:ext cx="1188720" cy="201168"/>
          </a:xfrm>
          <a:prstGeom prst="rect">
            <a:avLst/>
          </a:prstGeom>
          <a:noFill/>
          <a:ln/>
        </p:spPr>
        <p:txBody>
          <a:bodyPr wrap="square" lIns="0" tIns="0" rIns="0" bIns="0" rtlCol="0" anchor="ctr"/>
          <a:lstStyle/>
          <a:p>
            <a:pPr marL="0" indent="0">
              <a:buNone/>
            </a:pPr>
            <a:r>
              <a:rPr lang="en-US" sz="700" b="1" kern="0" spc="80" dirty="0">
                <a:solidFill>
                  <a:srgbClr val="66BB6A"/>
                </a:solidFill>
                <a:latin typeface="Calibri" pitchFamily="34" charset="0"/>
                <a:ea typeface="Calibri" pitchFamily="34" charset="-122"/>
                <a:cs typeface="Calibri" pitchFamily="34" charset="-120"/>
              </a:rPr>
              <a:t>INSTITUTION</a:t>
            </a:r>
            <a:endParaRPr lang="en-US" sz="700" dirty="0"/>
          </a:p>
        </p:txBody>
      </p:sp>
      <p:sp>
        <p:nvSpPr>
          <p:cNvPr id="14" name="Text 12"/>
          <p:cNvSpPr/>
          <p:nvPr/>
        </p:nvSpPr>
        <p:spPr>
          <a:xfrm>
            <a:off x="7086600" y="2871216"/>
            <a:ext cx="182880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CSU Sacramento</a:t>
            </a:r>
            <a:endParaRPr lang="en-US" sz="1000" dirty="0"/>
          </a:p>
        </p:txBody>
      </p:sp>
      <p:sp>
        <p:nvSpPr>
          <p:cNvPr id="15" name="Text 13"/>
          <p:cNvSpPr/>
          <p:nvPr/>
        </p:nvSpPr>
        <p:spPr>
          <a:xfrm>
            <a:off x="5852160" y="3346704"/>
            <a:ext cx="1188720" cy="201168"/>
          </a:xfrm>
          <a:prstGeom prst="rect">
            <a:avLst/>
          </a:prstGeom>
          <a:noFill/>
          <a:ln/>
        </p:spPr>
        <p:txBody>
          <a:bodyPr wrap="square" lIns="0" tIns="0" rIns="0" bIns="0" rtlCol="0" anchor="ctr"/>
          <a:lstStyle/>
          <a:p>
            <a:pPr marL="0" indent="0">
              <a:buNone/>
            </a:pPr>
            <a:r>
              <a:rPr lang="en-US" sz="700" b="1" kern="0" spc="80" dirty="0">
                <a:solidFill>
                  <a:srgbClr val="66BB6A"/>
                </a:solidFill>
                <a:latin typeface="Calibri" pitchFamily="34" charset="0"/>
                <a:ea typeface="Calibri" pitchFamily="34" charset="-122"/>
                <a:cs typeface="Calibri" pitchFamily="34" charset="-120"/>
              </a:rPr>
              <a:t>TERM</a:t>
            </a:r>
            <a:endParaRPr lang="en-US" sz="700" dirty="0"/>
          </a:p>
        </p:txBody>
      </p:sp>
      <p:sp>
        <p:nvSpPr>
          <p:cNvPr id="16" name="Text 14"/>
          <p:cNvSpPr/>
          <p:nvPr/>
        </p:nvSpPr>
        <p:spPr>
          <a:xfrm>
            <a:off x="7086600" y="3346704"/>
            <a:ext cx="182880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Spring 2026</a:t>
            </a:r>
            <a:endParaRPr lang="en-US" sz="1000" dirty="0"/>
          </a:p>
        </p:txBody>
      </p:sp>
      <p:sp>
        <p:nvSpPr>
          <p:cNvPr id="17" name="Shape 15"/>
          <p:cNvSpPr/>
          <p:nvPr/>
        </p:nvSpPr>
        <p:spPr>
          <a:xfrm>
            <a:off x="0" y="4773168"/>
            <a:ext cx="9144000" cy="370332"/>
          </a:xfrm>
          <a:prstGeom prst="rect">
            <a:avLst/>
          </a:prstGeom>
          <a:solidFill>
            <a:srgbClr val="164A1A"/>
          </a:solidFill>
          <a:ln w="12700">
            <a:solidFill>
              <a:srgbClr val="164A1A"/>
            </a:solidFill>
            <a:prstDash val="solid"/>
          </a:ln>
        </p:spPr>
        <p:txBody>
          <a:bodyPr/>
          <a:lstStyle/>
          <a:p>
            <a:endParaRPr lang="en-US"/>
          </a:p>
        </p:txBody>
      </p:sp>
      <p:sp>
        <p:nvSpPr>
          <p:cNvPr id="18" name="Text 16"/>
          <p:cNvSpPr/>
          <p:nvPr/>
        </p:nvSpPr>
        <p:spPr>
          <a:xfrm>
            <a:off x="914400" y="4782312"/>
            <a:ext cx="1371600" cy="201168"/>
          </a:xfrm>
          <a:prstGeom prst="rect">
            <a:avLst/>
          </a:prstGeom>
          <a:noFill/>
          <a:ln/>
        </p:spPr>
        <p:txBody>
          <a:bodyPr wrap="square" lIns="0" tIns="0" rIns="0" bIns="0" rtlCol="0" anchor="ctr"/>
          <a:lstStyle/>
          <a:p>
            <a:pPr marL="0" indent="0" algn="ctr">
              <a:buNone/>
            </a:pPr>
            <a:r>
              <a:rPr lang="en-US" sz="1100" b="1" dirty="0">
                <a:solidFill>
                  <a:srgbClr val="66BB6A"/>
                </a:solidFill>
                <a:latin typeface="Calibri" pitchFamily="34" charset="0"/>
                <a:ea typeface="Calibri" pitchFamily="34" charset="-122"/>
                <a:cs typeface="Calibri" pitchFamily="34" charset="-120"/>
              </a:rPr>
              <a:t>500</a:t>
            </a:r>
            <a:endParaRPr lang="en-US" sz="1100" dirty="0"/>
          </a:p>
        </p:txBody>
      </p:sp>
      <p:sp>
        <p:nvSpPr>
          <p:cNvPr id="19" name="Text 17"/>
          <p:cNvSpPr/>
          <p:nvPr/>
        </p:nvSpPr>
        <p:spPr>
          <a:xfrm>
            <a:off x="914400" y="4965192"/>
            <a:ext cx="1371600" cy="146304"/>
          </a:xfrm>
          <a:prstGeom prst="rect">
            <a:avLst/>
          </a:prstGeom>
          <a:noFill/>
          <a:ln/>
        </p:spPr>
        <p:txBody>
          <a:bodyPr wrap="square" lIns="0" tIns="0" rIns="0" bIns="0" rtlCol="0" anchor="ctr"/>
          <a:lstStyle/>
          <a:p>
            <a:pPr marL="0" indent="0" algn="ctr">
              <a:buNone/>
            </a:pPr>
            <a:r>
              <a:rPr lang="en-US" sz="750" dirty="0">
                <a:solidFill>
                  <a:srgbClr val="A5D6A7"/>
                </a:solidFill>
                <a:latin typeface="Calibri" pitchFamily="34" charset="0"/>
                <a:ea typeface="Calibri" pitchFamily="34" charset="-122"/>
                <a:cs typeface="Calibri" pitchFamily="34" charset="-120"/>
              </a:rPr>
              <a:t>Accounts</a:t>
            </a:r>
            <a:endParaRPr lang="en-US" sz="750" dirty="0"/>
          </a:p>
        </p:txBody>
      </p:sp>
      <p:sp>
        <p:nvSpPr>
          <p:cNvPr id="20" name="Text 18"/>
          <p:cNvSpPr/>
          <p:nvPr/>
        </p:nvSpPr>
        <p:spPr>
          <a:xfrm>
            <a:off x="2926080" y="4782312"/>
            <a:ext cx="1371600" cy="201168"/>
          </a:xfrm>
          <a:prstGeom prst="rect">
            <a:avLst/>
          </a:prstGeom>
          <a:noFill/>
          <a:ln/>
        </p:spPr>
        <p:txBody>
          <a:bodyPr wrap="square" lIns="0" tIns="0" rIns="0" bIns="0" rtlCol="0" anchor="ctr"/>
          <a:lstStyle/>
          <a:p>
            <a:pPr marL="0" indent="0" algn="ctr">
              <a:buNone/>
            </a:pPr>
            <a:r>
              <a:rPr lang="en-US" sz="1100" b="1" dirty="0">
                <a:solidFill>
                  <a:srgbClr val="66BB6A"/>
                </a:solidFill>
                <a:latin typeface="Calibri" pitchFamily="34" charset="0"/>
                <a:ea typeface="Calibri" pitchFamily="34" charset="-122"/>
                <a:cs typeface="Calibri" pitchFamily="34" charset="-120"/>
              </a:rPr>
              <a:t>22%</a:t>
            </a:r>
            <a:endParaRPr lang="en-US" sz="1100" dirty="0"/>
          </a:p>
        </p:txBody>
      </p:sp>
      <p:sp>
        <p:nvSpPr>
          <p:cNvPr id="21" name="Text 19"/>
          <p:cNvSpPr/>
          <p:nvPr/>
        </p:nvSpPr>
        <p:spPr>
          <a:xfrm>
            <a:off x="2926080" y="4965192"/>
            <a:ext cx="1371600" cy="146304"/>
          </a:xfrm>
          <a:prstGeom prst="rect">
            <a:avLst/>
          </a:prstGeom>
          <a:noFill/>
          <a:ln/>
        </p:spPr>
        <p:txBody>
          <a:bodyPr wrap="square" lIns="0" tIns="0" rIns="0" bIns="0" rtlCol="0" anchor="ctr"/>
          <a:lstStyle/>
          <a:p>
            <a:pPr marL="0" indent="0" algn="ctr">
              <a:buNone/>
            </a:pPr>
            <a:r>
              <a:rPr lang="en-US" sz="750" dirty="0">
                <a:solidFill>
                  <a:srgbClr val="A5D6A7"/>
                </a:solidFill>
                <a:latin typeface="Calibri" pitchFamily="34" charset="0"/>
                <a:ea typeface="Calibri" pitchFamily="34" charset="-122"/>
                <a:cs typeface="Calibri" pitchFamily="34" charset="-120"/>
              </a:rPr>
              <a:t>Churn Rate</a:t>
            </a:r>
            <a:endParaRPr lang="en-US" sz="750" dirty="0"/>
          </a:p>
        </p:txBody>
      </p:sp>
      <p:sp>
        <p:nvSpPr>
          <p:cNvPr id="22" name="Text 20"/>
          <p:cNvSpPr/>
          <p:nvPr/>
        </p:nvSpPr>
        <p:spPr>
          <a:xfrm>
            <a:off x="4937760" y="4782312"/>
            <a:ext cx="1371600" cy="201168"/>
          </a:xfrm>
          <a:prstGeom prst="rect">
            <a:avLst/>
          </a:prstGeom>
          <a:noFill/>
          <a:ln/>
        </p:spPr>
        <p:txBody>
          <a:bodyPr wrap="square" lIns="0" tIns="0" rIns="0" bIns="0" rtlCol="0" anchor="ctr"/>
          <a:lstStyle/>
          <a:p>
            <a:pPr marL="0" indent="0" algn="ctr">
              <a:buNone/>
            </a:pPr>
            <a:r>
              <a:rPr lang="en-US" sz="1100" b="1" dirty="0">
                <a:solidFill>
                  <a:srgbClr val="66BB6A"/>
                </a:solidFill>
                <a:latin typeface="Calibri" pitchFamily="34" charset="0"/>
                <a:ea typeface="Calibri" pitchFamily="34" charset="-122"/>
                <a:cs typeface="Calibri" pitchFamily="34" charset="-120"/>
              </a:rPr>
              <a:t>33,100</a:t>
            </a:r>
            <a:endParaRPr lang="en-US" sz="1100" dirty="0"/>
          </a:p>
        </p:txBody>
      </p:sp>
      <p:sp>
        <p:nvSpPr>
          <p:cNvPr id="23" name="Text 21"/>
          <p:cNvSpPr/>
          <p:nvPr/>
        </p:nvSpPr>
        <p:spPr>
          <a:xfrm>
            <a:off x="4937760" y="4965192"/>
            <a:ext cx="1371600" cy="146304"/>
          </a:xfrm>
          <a:prstGeom prst="rect">
            <a:avLst/>
          </a:prstGeom>
          <a:noFill/>
          <a:ln/>
        </p:spPr>
        <p:txBody>
          <a:bodyPr wrap="square" lIns="0" tIns="0" rIns="0" bIns="0" rtlCol="0" anchor="ctr"/>
          <a:lstStyle/>
          <a:p>
            <a:pPr marL="0" indent="0" algn="ctr">
              <a:buNone/>
            </a:pPr>
            <a:r>
              <a:rPr lang="en-US" sz="750" dirty="0">
                <a:solidFill>
                  <a:srgbClr val="A5D6A7"/>
                </a:solidFill>
                <a:latin typeface="Calibri" pitchFamily="34" charset="0"/>
                <a:ea typeface="Calibri" pitchFamily="34" charset="-122"/>
                <a:cs typeface="Calibri" pitchFamily="34" charset="-120"/>
              </a:rPr>
              <a:t>Records</a:t>
            </a:r>
            <a:endParaRPr lang="en-US" sz="750" dirty="0"/>
          </a:p>
        </p:txBody>
      </p:sp>
      <p:sp>
        <p:nvSpPr>
          <p:cNvPr id="24" name="Text 22"/>
          <p:cNvSpPr/>
          <p:nvPr/>
        </p:nvSpPr>
        <p:spPr>
          <a:xfrm>
            <a:off x="6949440" y="4782312"/>
            <a:ext cx="1371600" cy="201168"/>
          </a:xfrm>
          <a:prstGeom prst="rect">
            <a:avLst/>
          </a:prstGeom>
          <a:noFill/>
          <a:ln/>
        </p:spPr>
        <p:txBody>
          <a:bodyPr wrap="square" lIns="0" tIns="0" rIns="0" bIns="0" rtlCol="0" anchor="ctr"/>
          <a:lstStyle/>
          <a:p>
            <a:pPr marL="0" indent="0" algn="ctr">
              <a:buNone/>
            </a:pPr>
            <a:r>
              <a:rPr lang="en-US" sz="1100" b="1" dirty="0">
                <a:solidFill>
                  <a:srgbClr val="66BB6A"/>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6949440" y="4965192"/>
            <a:ext cx="1371600" cy="146304"/>
          </a:xfrm>
          <a:prstGeom prst="rect">
            <a:avLst/>
          </a:prstGeom>
          <a:noFill/>
          <a:ln/>
        </p:spPr>
        <p:txBody>
          <a:bodyPr wrap="square" lIns="0" tIns="0" rIns="0" bIns="0" rtlCol="0" anchor="ctr"/>
          <a:lstStyle/>
          <a:p>
            <a:pPr marL="0" indent="0" algn="ctr">
              <a:buNone/>
            </a:pPr>
            <a:r>
              <a:rPr lang="en-US" sz="750" dirty="0">
                <a:solidFill>
                  <a:srgbClr val="A5D6A7"/>
                </a:solidFill>
                <a:latin typeface="Calibri" pitchFamily="34" charset="0"/>
                <a:ea typeface="Calibri" pitchFamily="34" charset="-122"/>
                <a:cs typeface="Calibri" pitchFamily="34" charset="-120"/>
              </a:rPr>
              <a:t>Linked Tables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E8F5E9"/>
          </a:solidFill>
          <a:ln w="12700">
            <a:solidFill>
              <a:srgbClr val="E8F5E9"/>
            </a:solidFill>
            <a:prstDash val="solid"/>
          </a:ln>
        </p:spPr>
        <p:txBody>
          <a:bodyPr/>
          <a:lstStyle/>
          <a:p>
            <a:endParaRPr lang="en-US"/>
          </a:p>
        </p:txBody>
      </p:sp>
      <p:sp>
        <p:nvSpPr>
          <p:cNvPr id="3" name="Text 1"/>
          <p:cNvSpPr/>
          <p:nvPr/>
        </p:nvSpPr>
        <p:spPr>
          <a:xfrm>
            <a:off x="274320" y="1986207"/>
            <a:ext cx="2194560" cy="685800"/>
          </a:xfrm>
          <a:prstGeom prst="rect">
            <a:avLst/>
          </a:prstGeom>
          <a:noFill/>
          <a:ln/>
        </p:spPr>
        <p:txBody>
          <a:bodyPr wrap="square" lIns="0" tIns="0" rIns="0" bIns="0" rtlCol="0" anchor="ctr"/>
          <a:lstStyle/>
          <a:p>
            <a:pPr marL="0" indent="0">
              <a:buNone/>
            </a:pPr>
            <a:r>
              <a:rPr lang="en-US" sz="2800" b="1" dirty="0">
                <a:solidFill>
                  <a:srgbClr val="1B5E20"/>
                </a:solidFill>
                <a:latin typeface="Calibri" pitchFamily="34" charset="0"/>
                <a:ea typeface="Calibri" pitchFamily="34" charset="-122"/>
                <a:cs typeface="Calibri" pitchFamily="34" charset="-120"/>
              </a:rPr>
              <a:t>Agenda</a:t>
            </a:r>
            <a:endParaRPr lang="en-US" sz="2800" dirty="0"/>
          </a:p>
        </p:txBody>
      </p:sp>
      <p:sp>
        <p:nvSpPr>
          <p:cNvPr id="4" name="Shape 2"/>
          <p:cNvSpPr/>
          <p:nvPr/>
        </p:nvSpPr>
        <p:spPr>
          <a:xfrm>
            <a:off x="274320" y="2717727"/>
            <a:ext cx="1280160" cy="27432"/>
          </a:xfrm>
          <a:prstGeom prst="rect">
            <a:avLst/>
          </a:prstGeom>
          <a:solidFill>
            <a:srgbClr val="66BB6A"/>
          </a:solidFill>
          <a:ln w="12700">
            <a:solidFill>
              <a:srgbClr val="66BB6A"/>
            </a:solidFill>
            <a:prstDash val="solid"/>
          </a:ln>
        </p:spPr>
        <p:txBody>
          <a:bodyPr/>
          <a:lstStyle/>
          <a:p>
            <a:endParaRPr lang="en-US"/>
          </a:p>
        </p:txBody>
      </p:sp>
      <p:sp>
        <p:nvSpPr>
          <p:cNvPr id="8" name="Text 6"/>
          <p:cNvSpPr/>
          <p:nvPr/>
        </p:nvSpPr>
        <p:spPr>
          <a:xfrm>
            <a:off x="2926080" y="338328"/>
            <a:ext cx="457200" cy="384048"/>
          </a:xfrm>
          <a:prstGeom prst="rect">
            <a:avLst/>
          </a:prstGeom>
          <a:noFill/>
          <a:ln/>
        </p:spPr>
        <p:txBody>
          <a:bodyPr wrap="square" lIns="0" tIns="0" rIns="0" bIns="0" rtlCol="0" anchor="ctr"/>
          <a:lstStyle/>
          <a:p>
            <a:pPr marL="0" indent="0">
              <a:buNone/>
            </a:pPr>
            <a:r>
              <a:rPr lang="en-US" sz="1800" b="1" dirty="0">
                <a:solidFill>
                  <a:srgbClr val="66BB6A"/>
                </a:solidFill>
                <a:latin typeface="Calibri" pitchFamily="34" charset="0"/>
                <a:ea typeface="Calibri" pitchFamily="34" charset="-122"/>
                <a:cs typeface="Calibri" pitchFamily="34" charset="-120"/>
              </a:rPr>
              <a:t>01</a:t>
            </a:r>
            <a:endParaRPr lang="en-US" sz="1800" dirty="0"/>
          </a:p>
        </p:txBody>
      </p:sp>
      <p:sp>
        <p:nvSpPr>
          <p:cNvPr id="9" name="Shape 7"/>
          <p:cNvSpPr/>
          <p:nvPr/>
        </p:nvSpPr>
        <p:spPr>
          <a:xfrm>
            <a:off x="3456432" y="475488"/>
            <a:ext cx="64008" cy="64008"/>
          </a:xfrm>
          <a:prstGeom prst="ellipse">
            <a:avLst/>
          </a:prstGeom>
          <a:solidFill>
            <a:srgbClr val="66BB6A"/>
          </a:solidFill>
          <a:ln w="12700">
            <a:solidFill>
              <a:srgbClr val="66BB6A"/>
            </a:solidFill>
            <a:prstDash val="solid"/>
          </a:ln>
        </p:spPr>
        <p:txBody>
          <a:bodyPr/>
          <a:lstStyle/>
          <a:p>
            <a:endParaRPr lang="en-US"/>
          </a:p>
        </p:txBody>
      </p:sp>
      <p:sp>
        <p:nvSpPr>
          <p:cNvPr id="10" name="Text 8"/>
          <p:cNvSpPr/>
          <p:nvPr/>
        </p:nvSpPr>
        <p:spPr>
          <a:xfrm>
            <a:off x="3602736" y="338328"/>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Motivation &amp; Context</a:t>
            </a:r>
            <a:endParaRPr lang="en-US" sz="950" dirty="0"/>
          </a:p>
        </p:txBody>
      </p:sp>
      <p:sp>
        <p:nvSpPr>
          <p:cNvPr id="11" name="Text 9"/>
          <p:cNvSpPr/>
          <p:nvPr/>
        </p:nvSpPr>
        <p:spPr>
          <a:xfrm>
            <a:off x="3602736" y="576072"/>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Why SaaS churn? Why RavenStack?</a:t>
            </a:r>
            <a:endParaRPr lang="en-US" sz="800" dirty="0"/>
          </a:p>
        </p:txBody>
      </p:sp>
      <p:sp>
        <p:nvSpPr>
          <p:cNvPr id="12" name="Shape 10"/>
          <p:cNvSpPr/>
          <p:nvPr/>
        </p:nvSpPr>
        <p:spPr>
          <a:xfrm>
            <a:off x="2926080" y="923544"/>
            <a:ext cx="5989320" cy="9144"/>
          </a:xfrm>
          <a:prstGeom prst="rect">
            <a:avLst/>
          </a:prstGeom>
          <a:solidFill>
            <a:srgbClr val="C8E6C9"/>
          </a:solidFill>
          <a:ln w="12700">
            <a:solidFill>
              <a:srgbClr val="C8E6C9"/>
            </a:solidFill>
            <a:prstDash val="solid"/>
          </a:ln>
        </p:spPr>
        <p:txBody>
          <a:bodyPr/>
          <a:lstStyle/>
          <a:p>
            <a:endParaRPr lang="en-US"/>
          </a:p>
        </p:txBody>
      </p:sp>
      <p:sp>
        <p:nvSpPr>
          <p:cNvPr id="13" name="Text 11"/>
          <p:cNvSpPr/>
          <p:nvPr/>
        </p:nvSpPr>
        <p:spPr>
          <a:xfrm>
            <a:off x="2926080" y="1014984"/>
            <a:ext cx="457200" cy="384048"/>
          </a:xfrm>
          <a:prstGeom prst="rect">
            <a:avLst/>
          </a:prstGeom>
          <a:noFill/>
          <a:ln/>
        </p:spPr>
        <p:txBody>
          <a:bodyPr wrap="square" lIns="0" tIns="0" rIns="0" bIns="0" rtlCol="0" anchor="ctr"/>
          <a:lstStyle/>
          <a:p>
            <a:pPr marL="0" indent="0">
              <a:buNone/>
            </a:pPr>
            <a:r>
              <a:rPr lang="en-US" sz="1800" b="1" dirty="0">
                <a:solidFill>
                  <a:srgbClr val="66BB6A"/>
                </a:solidFill>
                <a:latin typeface="Calibri" pitchFamily="34" charset="0"/>
                <a:ea typeface="Calibri" pitchFamily="34" charset="-122"/>
                <a:cs typeface="Calibri" pitchFamily="34" charset="-120"/>
              </a:rPr>
              <a:t>02</a:t>
            </a:r>
            <a:endParaRPr lang="en-US" sz="1800" dirty="0"/>
          </a:p>
        </p:txBody>
      </p:sp>
      <p:sp>
        <p:nvSpPr>
          <p:cNvPr id="14" name="Shape 12"/>
          <p:cNvSpPr/>
          <p:nvPr/>
        </p:nvSpPr>
        <p:spPr>
          <a:xfrm>
            <a:off x="3456432" y="1152144"/>
            <a:ext cx="64008" cy="64008"/>
          </a:xfrm>
          <a:prstGeom prst="ellipse">
            <a:avLst/>
          </a:prstGeom>
          <a:solidFill>
            <a:srgbClr val="66BB6A"/>
          </a:solidFill>
          <a:ln w="12700">
            <a:solidFill>
              <a:srgbClr val="66BB6A"/>
            </a:solidFill>
            <a:prstDash val="solid"/>
          </a:ln>
        </p:spPr>
        <p:txBody>
          <a:bodyPr/>
          <a:lstStyle/>
          <a:p>
            <a:endParaRPr lang="en-US"/>
          </a:p>
        </p:txBody>
      </p:sp>
      <p:sp>
        <p:nvSpPr>
          <p:cNvPr id="15" name="Text 13"/>
          <p:cNvSpPr/>
          <p:nvPr/>
        </p:nvSpPr>
        <p:spPr>
          <a:xfrm>
            <a:off x="3602736" y="1014984"/>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Dataset Overview</a:t>
            </a:r>
            <a:endParaRPr lang="en-US" sz="950" dirty="0"/>
          </a:p>
        </p:txBody>
      </p:sp>
      <p:sp>
        <p:nvSpPr>
          <p:cNvPr id="16" name="Text 14"/>
          <p:cNvSpPr/>
          <p:nvPr/>
        </p:nvSpPr>
        <p:spPr>
          <a:xfrm>
            <a:off x="3602736" y="1252728"/>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Five relational tables · 33,100 records</a:t>
            </a:r>
            <a:endParaRPr lang="en-US" sz="800" dirty="0"/>
          </a:p>
        </p:txBody>
      </p:sp>
      <p:sp>
        <p:nvSpPr>
          <p:cNvPr id="17" name="Shape 15"/>
          <p:cNvSpPr/>
          <p:nvPr/>
        </p:nvSpPr>
        <p:spPr>
          <a:xfrm>
            <a:off x="2926080" y="1600200"/>
            <a:ext cx="5989320" cy="9144"/>
          </a:xfrm>
          <a:prstGeom prst="rect">
            <a:avLst/>
          </a:prstGeom>
          <a:solidFill>
            <a:srgbClr val="C8E6C9"/>
          </a:solidFill>
          <a:ln w="12700">
            <a:solidFill>
              <a:srgbClr val="C8E6C9"/>
            </a:solidFill>
            <a:prstDash val="solid"/>
          </a:ln>
        </p:spPr>
        <p:txBody>
          <a:bodyPr/>
          <a:lstStyle/>
          <a:p>
            <a:endParaRPr lang="en-US"/>
          </a:p>
        </p:txBody>
      </p:sp>
      <p:sp>
        <p:nvSpPr>
          <p:cNvPr id="18" name="Text 16"/>
          <p:cNvSpPr/>
          <p:nvPr/>
        </p:nvSpPr>
        <p:spPr>
          <a:xfrm>
            <a:off x="2926080" y="1691640"/>
            <a:ext cx="457200" cy="384048"/>
          </a:xfrm>
          <a:prstGeom prst="rect">
            <a:avLst/>
          </a:prstGeom>
          <a:noFill/>
          <a:ln/>
        </p:spPr>
        <p:txBody>
          <a:bodyPr wrap="square" lIns="0" tIns="0" rIns="0" bIns="0" rtlCol="0" anchor="ctr"/>
          <a:lstStyle/>
          <a:p>
            <a:pPr marL="0" indent="0">
              <a:buNone/>
            </a:pPr>
            <a:r>
              <a:rPr lang="en-US" sz="1800" b="1" dirty="0">
                <a:solidFill>
                  <a:srgbClr val="66BB6A"/>
                </a:solidFill>
                <a:latin typeface="Calibri" pitchFamily="34" charset="0"/>
                <a:ea typeface="Calibri" pitchFamily="34" charset="-122"/>
                <a:cs typeface="Calibri" pitchFamily="34" charset="-120"/>
              </a:rPr>
              <a:t>03</a:t>
            </a:r>
            <a:endParaRPr lang="en-US" sz="1800" dirty="0"/>
          </a:p>
        </p:txBody>
      </p:sp>
      <p:sp>
        <p:nvSpPr>
          <p:cNvPr id="19" name="Shape 17"/>
          <p:cNvSpPr/>
          <p:nvPr/>
        </p:nvSpPr>
        <p:spPr>
          <a:xfrm>
            <a:off x="3456432" y="1828800"/>
            <a:ext cx="64008" cy="64008"/>
          </a:xfrm>
          <a:prstGeom prst="ellipse">
            <a:avLst/>
          </a:prstGeom>
          <a:solidFill>
            <a:srgbClr val="66BB6A"/>
          </a:solidFill>
          <a:ln w="12700">
            <a:solidFill>
              <a:srgbClr val="66BB6A"/>
            </a:solidFill>
            <a:prstDash val="solid"/>
          </a:ln>
        </p:spPr>
        <p:txBody>
          <a:bodyPr/>
          <a:lstStyle/>
          <a:p>
            <a:endParaRPr lang="en-US"/>
          </a:p>
        </p:txBody>
      </p:sp>
      <p:sp>
        <p:nvSpPr>
          <p:cNvPr id="20" name="Text 18"/>
          <p:cNvSpPr/>
          <p:nvPr/>
        </p:nvSpPr>
        <p:spPr>
          <a:xfrm>
            <a:off x="3602736" y="1691640"/>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Descriptive Analytics</a:t>
            </a:r>
            <a:endParaRPr lang="en-US" sz="950" dirty="0"/>
          </a:p>
        </p:txBody>
      </p:sp>
      <p:sp>
        <p:nvSpPr>
          <p:cNvPr id="21" name="Text 19"/>
          <p:cNvSpPr/>
          <p:nvPr/>
        </p:nvSpPr>
        <p:spPr>
          <a:xfrm>
            <a:off x="3602736" y="1929384"/>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Power BI dashboard, what is happening?</a:t>
            </a:r>
            <a:endParaRPr lang="en-US" sz="800" dirty="0"/>
          </a:p>
        </p:txBody>
      </p:sp>
      <p:sp>
        <p:nvSpPr>
          <p:cNvPr id="22" name="Shape 20"/>
          <p:cNvSpPr/>
          <p:nvPr/>
        </p:nvSpPr>
        <p:spPr>
          <a:xfrm>
            <a:off x="2926080" y="2276856"/>
            <a:ext cx="5989320" cy="9144"/>
          </a:xfrm>
          <a:prstGeom prst="rect">
            <a:avLst/>
          </a:prstGeom>
          <a:solidFill>
            <a:srgbClr val="C8E6C9"/>
          </a:solidFill>
          <a:ln w="12700">
            <a:solidFill>
              <a:srgbClr val="C8E6C9"/>
            </a:solidFill>
            <a:prstDash val="solid"/>
          </a:ln>
        </p:spPr>
        <p:txBody>
          <a:bodyPr/>
          <a:lstStyle/>
          <a:p>
            <a:endParaRPr lang="en-US"/>
          </a:p>
        </p:txBody>
      </p:sp>
      <p:sp>
        <p:nvSpPr>
          <p:cNvPr id="23" name="Text 21"/>
          <p:cNvSpPr/>
          <p:nvPr/>
        </p:nvSpPr>
        <p:spPr>
          <a:xfrm>
            <a:off x="2926080" y="2368296"/>
            <a:ext cx="457200" cy="384048"/>
          </a:xfrm>
          <a:prstGeom prst="rect">
            <a:avLst/>
          </a:prstGeom>
          <a:noFill/>
          <a:ln/>
        </p:spPr>
        <p:txBody>
          <a:bodyPr wrap="square" lIns="0" tIns="0" rIns="0" bIns="0" rtlCol="0" anchor="ctr"/>
          <a:lstStyle/>
          <a:p>
            <a:pPr marL="0" indent="0">
              <a:buNone/>
            </a:pPr>
            <a:r>
              <a:rPr lang="en-US" sz="1800" b="1" dirty="0">
                <a:solidFill>
                  <a:srgbClr val="26A69A"/>
                </a:solidFill>
                <a:latin typeface="Calibri" pitchFamily="34" charset="0"/>
                <a:ea typeface="Calibri" pitchFamily="34" charset="-122"/>
                <a:cs typeface="Calibri" pitchFamily="34" charset="-120"/>
              </a:rPr>
              <a:t>04</a:t>
            </a:r>
            <a:endParaRPr lang="en-US" sz="1800" dirty="0"/>
          </a:p>
        </p:txBody>
      </p:sp>
      <p:sp>
        <p:nvSpPr>
          <p:cNvPr id="24" name="Shape 22"/>
          <p:cNvSpPr/>
          <p:nvPr/>
        </p:nvSpPr>
        <p:spPr>
          <a:xfrm>
            <a:off x="3456432" y="2505456"/>
            <a:ext cx="64008" cy="64008"/>
          </a:xfrm>
          <a:prstGeom prst="ellipse">
            <a:avLst/>
          </a:prstGeom>
          <a:solidFill>
            <a:srgbClr val="26A69A"/>
          </a:solidFill>
          <a:ln w="12700">
            <a:solidFill>
              <a:srgbClr val="26A69A"/>
            </a:solidFill>
            <a:prstDash val="solid"/>
          </a:ln>
        </p:spPr>
        <p:txBody>
          <a:bodyPr/>
          <a:lstStyle/>
          <a:p>
            <a:endParaRPr lang="en-US"/>
          </a:p>
        </p:txBody>
      </p:sp>
      <p:sp>
        <p:nvSpPr>
          <p:cNvPr id="25" name="Text 23"/>
          <p:cNvSpPr/>
          <p:nvPr/>
        </p:nvSpPr>
        <p:spPr>
          <a:xfrm>
            <a:off x="3602736" y="2368296"/>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Predictive Analytics</a:t>
            </a:r>
            <a:endParaRPr lang="en-US" sz="950" dirty="0"/>
          </a:p>
        </p:txBody>
      </p:sp>
      <p:sp>
        <p:nvSpPr>
          <p:cNvPr id="26" name="Text 24"/>
          <p:cNvSpPr/>
          <p:nvPr/>
        </p:nvSpPr>
        <p:spPr>
          <a:xfrm>
            <a:off x="3602736" y="2606040"/>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Logistic regression, what will happen?</a:t>
            </a:r>
            <a:endParaRPr lang="en-US" sz="800" dirty="0"/>
          </a:p>
        </p:txBody>
      </p:sp>
      <p:sp>
        <p:nvSpPr>
          <p:cNvPr id="27" name="Shape 25"/>
          <p:cNvSpPr/>
          <p:nvPr/>
        </p:nvSpPr>
        <p:spPr>
          <a:xfrm>
            <a:off x="2926080" y="2953512"/>
            <a:ext cx="5989320" cy="9144"/>
          </a:xfrm>
          <a:prstGeom prst="rect">
            <a:avLst/>
          </a:prstGeom>
          <a:solidFill>
            <a:srgbClr val="C8E6C9"/>
          </a:solidFill>
          <a:ln w="12700">
            <a:solidFill>
              <a:srgbClr val="C8E6C9"/>
            </a:solidFill>
            <a:prstDash val="solid"/>
          </a:ln>
        </p:spPr>
        <p:txBody>
          <a:bodyPr/>
          <a:lstStyle/>
          <a:p>
            <a:endParaRPr lang="en-US"/>
          </a:p>
        </p:txBody>
      </p:sp>
      <p:sp>
        <p:nvSpPr>
          <p:cNvPr id="28" name="Text 26"/>
          <p:cNvSpPr/>
          <p:nvPr/>
        </p:nvSpPr>
        <p:spPr>
          <a:xfrm>
            <a:off x="2926080" y="3044952"/>
            <a:ext cx="457200" cy="384048"/>
          </a:xfrm>
          <a:prstGeom prst="rect">
            <a:avLst/>
          </a:prstGeom>
          <a:noFill/>
          <a:ln/>
        </p:spPr>
        <p:txBody>
          <a:bodyPr wrap="square" lIns="0" tIns="0" rIns="0" bIns="0" rtlCol="0" anchor="ctr"/>
          <a:lstStyle/>
          <a:p>
            <a:pPr marL="0" indent="0">
              <a:buNone/>
            </a:pPr>
            <a:r>
              <a:rPr lang="en-US" sz="1800" b="1" dirty="0">
                <a:solidFill>
                  <a:srgbClr val="C62828"/>
                </a:solidFill>
                <a:latin typeface="Calibri" pitchFamily="34" charset="0"/>
                <a:ea typeface="Calibri" pitchFamily="34" charset="-122"/>
                <a:cs typeface="Calibri" pitchFamily="34" charset="-120"/>
              </a:rPr>
              <a:t>05</a:t>
            </a:r>
            <a:endParaRPr lang="en-US" sz="1800" dirty="0"/>
          </a:p>
        </p:txBody>
      </p:sp>
      <p:sp>
        <p:nvSpPr>
          <p:cNvPr id="29" name="Shape 27"/>
          <p:cNvSpPr/>
          <p:nvPr/>
        </p:nvSpPr>
        <p:spPr>
          <a:xfrm>
            <a:off x="3456432" y="3182112"/>
            <a:ext cx="64008" cy="64008"/>
          </a:xfrm>
          <a:prstGeom prst="ellipse">
            <a:avLst/>
          </a:prstGeom>
          <a:solidFill>
            <a:srgbClr val="C62828"/>
          </a:solidFill>
          <a:ln w="12700">
            <a:solidFill>
              <a:srgbClr val="C62828"/>
            </a:solidFill>
            <a:prstDash val="solid"/>
          </a:ln>
        </p:spPr>
        <p:txBody>
          <a:bodyPr/>
          <a:lstStyle/>
          <a:p>
            <a:endParaRPr lang="en-US"/>
          </a:p>
        </p:txBody>
      </p:sp>
      <p:sp>
        <p:nvSpPr>
          <p:cNvPr id="30" name="Text 28"/>
          <p:cNvSpPr/>
          <p:nvPr/>
        </p:nvSpPr>
        <p:spPr>
          <a:xfrm>
            <a:off x="3602736" y="3044952"/>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Prescriptive Analytics</a:t>
            </a:r>
            <a:endParaRPr lang="en-US" sz="950" dirty="0"/>
          </a:p>
        </p:txBody>
      </p:sp>
      <p:sp>
        <p:nvSpPr>
          <p:cNvPr id="31" name="Text 29"/>
          <p:cNvSpPr/>
          <p:nvPr/>
        </p:nvSpPr>
        <p:spPr>
          <a:xfrm>
            <a:off x="3602736" y="3282696"/>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Risk segmentation, what should we do?</a:t>
            </a:r>
            <a:endParaRPr lang="en-US" sz="800" dirty="0"/>
          </a:p>
        </p:txBody>
      </p:sp>
      <p:sp>
        <p:nvSpPr>
          <p:cNvPr id="32" name="Shape 30"/>
          <p:cNvSpPr/>
          <p:nvPr/>
        </p:nvSpPr>
        <p:spPr>
          <a:xfrm>
            <a:off x="2926080" y="3630168"/>
            <a:ext cx="5989320" cy="9144"/>
          </a:xfrm>
          <a:prstGeom prst="rect">
            <a:avLst/>
          </a:prstGeom>
          <a:solidFill>
            <a:srgbClr val="C8E6C9"/>
          </a:solidFill>
          <a:ln w="12700">
            <a:solidFill>
              <a:srgbClr val="C8E6C9"/>
            </a:solidFill>
            <a:prstDash val="solid"/>
          </a:ln>
        </p:spPr>
        <p:txBody>
          <a:bodyPr/>
          <a:lstStyle/>
          <a:p>
            <a:endParaRPr lang="en-US"/>
          </a:p>
        </p:txBody>
      </p:sp>
      <p:sp>
        <p:nvSpPr>
          <p:cNvPr id="33" name="Text 31"/>
          <p:cNvSpPr/>
          <p:nvPr/>
        </p:nvSpPr>
        <p:spPr>
          <a:xfrm>
            <a:off x="2926080" y="3721608"/>
            <a:ext cx="457200" cy="384048"/>
          </a:xfrm>
          <a:prstGeom prst="rect">
            <a:avLst/>
          </a:prstGeom>
          <a:noFill/>
          <a:ln/>
        </p:spPr>
        <p:txBody>
          <a:bodyPr wrap="square" lIns="0" tIns="0" rIns="0" bIns="0" rtlCol="0" anchor="ctr"/>
          <a:lstStyle/>
          <a:p>
            <a:pPr marL="0" indent="0">
              <a:buNone/>
            </a:pPr>
            <a:r>
              <a:rPr lang="en-US" sz="1800" b="1" dirty="0">
                <a:solidFill>
                  <a:srgbClr val="66BB6A"/>
                </a:solidFill>
                <a:latin typeface="Calibri" pitchFamily="34" charset="0"/>
                <a:ea typeface="Calibri" pitchFamily="34" charset="-122"/>
                <a:cs typeface="Calibri" pitchFamily="34" charset="-120"/>
              </a:rPr>
              <a:t>06</a:t>
            </a:r>
            <a:endParaRPr lang="en-US" sz="1800" dirty="0"/>
          </a:p>
        </p:txBody>
      </p:sp>
      <p:sp>
        <p:nvSpPr>
          <p:cNvPr id="34" name="Shape 32"/>
          <p:cNvSpPr/>
          <p:nvPr/>
        </p:nvSpPr>
        <p:spPr>
          <a:xfrm>
            <a:off x="3456432" y="3858768"/>
            <a:ext cx="64008" cy="64008"/>
          </a:xfrm>
          <a:prstGeom prst="ellipse">
            <a:avLst/>
          </a:prstGeom>
          <a:solidFill>
            <a:srgbClr val="66BB6A"/>
          </a:solidFill>
          <a:ln w="12700">
            <a:solidFill>
              <a:srgbClr val="66BB6A"/>
            </a:solidFill>
            <a:prstDash val="solid"/>
          </a:ln>
        </p:spPr>
        <p:txBody>
          <a:bodyPr/>
          <a:lstStyle/>
          <a:p>
            <a:endParaRPr lang="en-US"/>
          </a:p>
        </p:txBody>
      </p:sp>
      <p:sp>
        <p:nvSpPr>
          <p:cNvPr id="35" name="Text 33"/>
          <p:cNvSpPr/>
          <p:nvPr/>
        </p:nvSpPr>
        <p:spPr>
          <a:xfrm>
            <a:off x="3602736" y="3721608"/>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Recommendations</a:t>
            </a:r>
            <a:endParaRPr lang="en-US" sz="950" dirty="0"/>
          </a:p>
        </p:txBody>
      </p:sp>
      <p:sp>
        <p:nvSpPr>
          <p:cNvPr id="36" name="Text 34"/>
          <p:cNvSpPr/>
          <p:nvPr/>
        </p:nvSpPr>
        <p:spPr>
          <a:xfrm>
            <a:off x="3602736" y="3959352"/>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Four data-driven strategic interventions</a:t>
            </a:r>
            <a:endParaRPr lang="en-US" sz="800" dirty="0"/>
          </a:p>
        </p:txBody>
      </p:sp>
      <p:sp>
        <p:nvSpPr>
          <p:cNvPr id="37" name="Shape 35"/>
          <p:cNvSpPr/>
          <p:nvPr/>
        </p:nvSpPr>
        <p:spPr>
          <a:xfrm>
            <a:off x="2926080" y="4306824"/>
            <a:ext cx="5989320" cy="9144"/>
          </a:xfrm>
          <a:prstGeom prst="rect">
            <a:avLst/>
          </a:prstGeom>
          <a:solidFill>
            <a:srgbClr val="C8E6C9"/>
          </a:solidFill>
          <a:ln w="12700">
            <a:solidFill>
              <a:srgbClr val="C8E6C9"/>
            </a:solidFill>
            <a:prstDash val="solid"/>
          </a:ln>
        </p:spPr>
        <p:txBody>
          <a:bodyPr/>
          <a:lstStyle/>
          <a:p>
            <a:endParaRPr lang="en-US"/>
          </a:p>
        </p:txBody>
      </p:sp>
      <p:sp>
        <p:nvSpPr>
          <p:cNvPr id="38" name="Text 36"/>
          <p:cNvSpPr/>
          <p:nvPr/>
        </p:nvSpPr>
        <p:spPr>
          <a:xfrm>
            <a:off x="2926080" y="4398264"/>
            <a:ext cx="457200" cy="384048"/>
          </a:xfrm>
          <a:prstGeom prst="rect">
            <a:avLst/>
          </a:prstGeom>
          <a:noFill/>
          <a:ln/>
        </p:spPr>
        <p:txBody>
          <a:bodyPr wrap="square" lIns="0" tIns="0" rIns="0" bIns="0" rtlCol="0" anchor="ctr"/>
          <a:lstStyle/>
          <a:p>
            <a:pPr marL="0" indent="0">
              <a:buNone/>
            </a:pPr>
            <a:r>
              <a:rPr lang="en-US" sz="1800" b="1" dirty="0">
                <a:solidFill>
                  <a:srgbClr val="1B5E20"/>
                </a:solidFill>
                <a:latin typeface="Calibri" pitchFamily="34" charset="0"/>
                <a:ea typeface="Calibri" pitchFamily="34" charset="-122"/>
                <a:cs typeface="Calibri" pitchFamily="34" charset="-120"/>
              </a:rPr>
              <a:t>07</a:t>
            </a:r>
            <a:endParaRPr lang="en-US" sz="1800" dirty="0"/>
          </a:p>
        </p:txBody>
      </p:sp>
      <p:sp>
        <p:nvSpPr>
          <p:cNvPr id="39" name="Shape 37"/>
          <p:cNvSpPr/>
          <p:nvPr/>
        </p:nvSpPr>
        <p:spPr>
          <a:xfrm>
            <a:off x="3456432" y="4535424"/>
            <a:ext cx="64008" cy="64008"/>
          </a:xfrm>
          <a:prstGeom prst="ellipse">
            <a:avLst/>
          </a:prstGeom>
          <a:solidFill>
            <a:srgbClr val="1B5E20"/>
          </a:solidFill>
          <a:ln w="12700">
            <a:solidFill>
              <a:srgbClr val="1B5E20"/>
            </a:solidFill>
            <a:prstDash val="solid"/>
          </a:ln>
        </p:spPr>
        <p:txBody>
          <a:bodyPr/>
          <a:lstStyle/>
          <a:p>
            <a:endParaRPr lang="en-US"/>
          </a:p>
        </p:txBody>
      </p:sp>
      <p:sp>
        <p:nvSpPr>
          <p:cNvPr id="40" name="Text 38"/>
          <p:cNvSpPr/>
          <p:nvPr/>
        </p:nvSpPr>
        <p:spPr>
          <a:xfrm>
            <a:off x="3602736" y="4398264"/>
            <a:ext cx="5303520" cy="219456"/>
          </a:xfrm>
          <a:prstGeom prst="rect">
            <a:avLst/>
          </a:prstGeom>
          <a:noFill/>
          <a:ln/>
        </p:spPr>
        <p:txBody>
          <a:bodyPr wrap="square" lIns="0" tIns="0" rIns="0" bIns="0" rtlCol="0" anchor="ctr"/>
          <a:lstStyle/>
          <a:p>
            <a:pPr marL="0" indent="0">
              <a:buNone/>
            </a:pPr>
            <a:r>
              <a:rPr lang="en-US" sz="950" b="1" dirty="0">
                <a:solidFill>
                  <a:srgbClr val="263238"/>
                </a:solidFill>
                <a:latin typeface="Calibri" pitchFamily="34" charset="0"/>
                <a:ea typeface="Calibri" pitchFamily="34" charset="-122"/>
                <a:cs typeface="Calibri" pitchFamily="34" charset="-120"/>
              </a:rPr>
              <a:t>Discussion &amp; Conclusion</a:t>
            </a:r>
            <a:endParaRPr lang="en-US" sz="950" dirty="0"/>
          </a:p>
        </p:txBody>
      </p:sp>
      <p:sp>
        <p:nvSpPr>
          <p:cNvPr id="41" name="Text 39"/>
          <p:cNvSpPr/>
          <p:nvPr/>
        </p:nvSpPr>
        <p:spPr>
          <a:xfrm>
            <a:off x="3602736" y="4636008"/>
            <a:ext cx="5303520" cy="182880"/>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Contributions, limitations, and next steps</a:t>
            </a:r>
            <a:endParaRPr lang="en-US" sz="800" dirty="0"/>
          </a:p>
        </p:txBody>
      </p:sp>
      <p:sp>
        <p:nvSpPr>
          <p:cNvPr id="42" name="Shape 40"/>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43" name="Text 41"/>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44" name="Text 42"/>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Agenda</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MOTIVATION &amp; CONTEXT</a:t>
            </a:r>
            <a:endParaRPr lang="en-US" sz="800" dirty="0"/>
          </a:p>
        </p:txBody>
      </p:sp>
      <p:sp>
        <p:nvSpPr>
          <p:cNvPr id="4" name="Text 2"/>
          <p:cNvSpPr/>
          <p:nvPr/>
        </p:nvSpPr>
        <p:spPr>
          <a:xfrm>
            <a:off x="457200" y="55385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Why SaaS Churn? Why RavenStack?</a:t>
            </a:r>
            <a:endParaRPr lang="en-US" sz="2600" dirty="0"/>
          </a:p>
        </p:txBody>
      </p:sp>
      <p:sp>
        <p:nvSpPr>
          <p:cNvPr id="6" name="Shape 4"/>
          <p:cNvSpPr/>
          <p:nvPr/>
        </p:nvSpPr>
        <p:spPr>
          <a:xfrm>
            <a:off x="457200" y="1213546"/>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332418"/>
            <a:ext cx="2377440" cy="3127248"/>
          </a:xfrm>
          <a:prstGeom prst="rect">
            <a:avLst/>
          </a:prstGeom>
          <a:solidFill>
            <a:srgbClr val="1B5E20"/>
          </a:solidFill>
          <a:ln w="12700">
            <a:solidFill>
              <a:srgbClr val="1B5E2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332418"/>
            <a:ext cx="2377440" cy="36576"/>
          </a:xfrm>
          <a:prstGeom prst="rect">
            <a:avLst/>
          </a:prstGeom>
          <a:solidFill>
            <a:srgbClr val="66BB6A"/>
          </a:solidFill>
          <a:ln w="12700">
            <a:solidFill>
              <a:srgbClr val="66BB6A"/>
            </a:solidFill>
            <a:prstDash val="solid"/>
          </a:ln>
        </p:spPr>
        <p:txBody>
          <a:bodyPr/>
          <a:lstStyle/>
          <a:p>
            <a:endParaRPr lang="en-US"/>
          </a:p>
        </p:txBody>
      </p:sp>
      <p:sp>
        <p:nvSpPr>
          <p:cNvPr id="9" name="Text 7"/>
          <p:cNvSpPr/>
          <p:nvPr/>
        </p:nvSpPr>
        <p:spPr>
          <a:xfrm>
            <a:off x="566928" y="1396426"/>
            <a:ext cx="2157984" cy="310896"/>
          </a:xfrm>
          <a:prstGeom prst="rect">
            <a:avLst/>
          </a:prstGeom>
          <a:noFill/>
          <a:ln/>
        </p:spPr>
        <p:txBody>
          <a:bodyPr wrap="square" rtlCol="0" anchor="ctr"/>
          <a:lstStyle/>
          <a:p>
            <a:pPr marL="0" indent="0">
              <a:buNone/>
            </a:pPr>
            <a:r>
              <a:rPr lang="en-US" sz="950" b="1" dirty="0">
                <a:solidFill>
                  <a:srgbClr val="66BB6A"/>
                </a:solidFill>
                <a:latin typeface="Calibri" pitchFamily="34" charset="0"/>
                <a:ea typeface="Calibri" pitchFamily="34" charset="-122"/>
                <a:cs typeface="Calibri" pitchFamily="34" charset="-120"/>
              </a:rPr>
              <a:t>The SaaS Retention Challenge</a:t>
            </a:r>
            <a:endParaRPr lang="en-US" sz="950" dirty="0"/>
          </a:p>
        </p:txBody>
      </p:sp>
      <p:sp>
        <p:nvSpPr>
          <p:cNvPr id="10" name="Shape 8"/>
          <p:cNvSpPr/>
          <p:nvPr/>
        </p:nvSpPr>
        <p:spPr>
          <a:xfrm>
            <a:off x="566928" y="1743898"/>
            <a:ext cx="1920240" cy="18288"/>
          </a:xfrm>
          <a:prstGeom prst="rect">
            <a:avLst/>
          </a:prstGeom>
          <a:solidFill>
            <a:srgbClr val="2D5430"/>
          </a:solidFill>
          <a:ln w="12700">
            <a:solidFill>
              <a:srgbClr val="2D5430"/>
            </a:solidFill>
            <a:prstDash val="solid"/>
          </a:ln>
        </p:spPr>
        <p:txBody>
          <a:bodyPr/>
          <a:lstStyle/>
          <a:p>
            <a:endParaRPr lang="en-US"/>
          </a:p>
        </p:txBody>
      </p:sp>
      <p:sp>
        <p:nvSpPr>
          <p:cNvPr id="11" name="Text 9"/>
          <p:cNvSpPr/>
          <p:nvPr/>
        </p:nvSpPr>
        <p:spPr>
          <a:xfrm>
            <a:off x="665018" y="1835338"/>
            <a:ext cx="1961804" cy="329184"/>
          </a:xfrm>
          <a:prstGeom prst="rect">
            <a:avLst/>
          </a:prstGeom>
          <a:noFill/>
          <a:ln/>
        </p:spPr>
        <p:txBody>
          <a:bodyPr wrap="square" lIns="0" tIns="0" rIns="0" bIns="0" rtlCol="0" anchor="ctr"/>
          <a:lstStyle/>
          <a:p>
            <a:pPr marL="0" indent="0">
              <a:buNone/>
            </a:pPr>
            <a:r>
              <a:rPr lang="en-US" sz="2200" b="1" dirty="0">
                <a:solidFill>
                  <a:srgbClr val="A5D6A7"/>
                </a:solidFill>
                <a:latin typeface="Calibri" pitchFamily="34" charset="0"/>
                <a:ea typeface="Calibri" pitchFamily="34" charset="-122"/>
                <a:cs typeface="Calibri" pitchFamily="34" charset="-120"/>
              </a:rPr>
              <a:t>61%</a:t>
            </a:r>
            <a:endParaRPr lang="en-US" sz="2200" dirty="0"/>
          </a:p>
        </p:txBody>
      </p:sp>
      <p:sp>
        <p:nvSpPr>
          <p:cNvPr id="12" name="Text 10"/>
          <p:cNvSpPr/>
          <p:nvPr/>
        </p:nvSpPr>
        <p:spPr>
          <a:xfrm>
            <a:off x="566928" y="2146234"/>
            <a:ext cx="2157984" cy="347472"/>
          </a:xfrm>
          <a:prstGeom prst="rect">
            <a:avLst/>
          </a:prstGeom>
          <a:noFill/>
          <a:ln/>
        </p:spPr>
        <p:txBody>
          <a:bodyPr wrap="square" rtlCol="0" anchor="ctr"/>
          <a:lstStyle/>
          <a:p>
            <a:pPr marL="0" indent="0">
              <a:buNone/>
            </a:pPr>
            <a:r>
              <a:rPr lang="en-US" sz="800" dirty="0">
                <a:solidFill>
                  <a:srgbClr val="81C784"/>
                </a:solidFill>
                <a:latin typeface="Calibri" pitchFamily="34" charset="0"/>
                <a:ea typeface="Calibri" pitchFamily="34" charset="-122"/>
                <a:cs typeface="Calibri" pitchFamily="34" charset="-120"/>
              </a:rPr>
              <a:t>of customer base remains</a:t>
            </a:r>
            <a:endParaRPr lang="en-US" sz="800" dirty="0"/>
          </a:p>
          <a:p>
            <a:pPr marL="0" indent="0">
              <a:buNone/>
            </a:pPr>
            <a:r>
              <a:rPr lang="en-US" sz="800" dirty="0">
                <a:solidFill>
                  <a:srgbClr val="81C784"/>
                </a:solidFill>
                <a:latin typeface="Calibri" pitchFamily="34" charset="0"/>
                <a:ea typeface="Calibri" pitchFamily="34" charset="-122"/>
                <a:cs typeface="Calibri" pitchFamily="34" charset="-120"/>
              </a:rPr>
              <a:t>after 2 years at 22% churn</a:t>
            </a:r>
            <a:endParaRPr lang="en-US" sz="800" dirty="0"/>
          </a:p>
        </p:txBody>
      </p:sp>
      <p:sp>
        <p:nvSpPr>
          <p:cNvPr id="13" name="Text 11"/>
          <p:cNvSpPr/>
          <p:nvPr/>
        </p:nvSpPr>
        <p:spPr>
          <a:xfrm>
            <a:off x="665018" y="2722306"/>
            <a:ext cx="1961804" cy="329184"/>
          </a:xfrm>
          <a:prstGeom prst="rect">
            <a:avLst/>
          </a:prstGeom>
          <a:noFill/>
          <a:ln/>
        </p:spPr>
        <p:txBody>
          <a:bodyPr wrap="square" lIns="0" tIns="0" rIns="0" bIns="0" rtlCol="0" anchor="ctr"/>
          <a:lstStyle/>
          <a:p>
            <a:pPr marL="0" indent="0">
              <a:buNone/>
            </a:pPr>
            <a:r>
              <a:rPr lang="en-US" sz="2200" b="1" dirty="0">
                <a:solidFill>
                  <a:srgbClr val="A5D6A7"/>
                </a:solidFill>
                <a:latin typeface="Calibri" pitchFamily="34" charset="0"/>
                <a:ea typeface="Calibri" pitchFamily="34" charset="-122"/>
                <a:cs typeface="Calibri" pitchFamily="34" charset="-120"/>
              </a:rPr>
              <a:t>5–7×</a:t>
            </a:r>
            <a:endParaRPr lang="en-US" sz="2200" dirty="0"/>
          </a:p>
        </p:txBody>
      </p:sp>
      <p:sp>
        <p:nvSpPr>
          <p:cNvPr id="14" name="Text 12"/>
          <p:cNvSpPr/>
          <p:nvPr/>
        </p:nvSpPr>
        <p:spPr>
          <a:xfrm>
            <a:off x="566928" y="3033202"/>
            <a:ext cx="2157984" cy="347472"/>
          </a:xfrm>
          <a:prstGeom prst="rect">
            <a:avLst/>
          </a:prstGeom>
          <a:noFill/>
          <a:ln/>
        </p:spPr>
        <p:txBody>
          <a:bodyPr wrap="square" rtlCol="0" anchor="ctr"/>
          <a:lstStyle/>
          <a:p>
            <a:pPr marL="0" indent="0">
              <a:buNone/>
            </a:pPr>
            <a:r>
              <a:rPr lang="en-US" sz="800" dirty="0">
                <a:solidFill>
                  <a:srgbClr val="81C784"/>
                </a:solidFill>
                <a:latin typeface="Calibri" pitchFamily="34" charset="0"/>
                <a:ea typeface="Calibri" pitchFamily="34" charset="-122"/>
                <a:cs typeface="Calibri" pitchFamily="34" charset="-120"/>
              </a:rPr>
              <a:t>more costly to acquire</a:t>
            </a:r>
            <a:endParaRPr lang="en-US" sz="800" dirty="0"/>
          </a:p>
          <a:p>
            <a:pPr marL="0" indent="0">
              <a:buNone/>
            </a:pPr>
            <a:r>
              <a:rPr lang="en-US" sz="800" dirty="0">
                <a:solidFill>
                  <a:srgbClr val="81C784"/>
                </a:solidFill>
                <a:latin typeface="Calibri" pitchFamily="34" charset="0"/>
                <a:ea typeface="Calibri" pitchFamily="34" charset="-122"/>
                <a:cs typeface="Calibri" pitchFamily="34" charset="-120"/>
              </a:rPr>
              <a:t>a new customer than retain one</a:t>
            </a:r>
            <a:endParaRPr lang="en-US" sz="800" dirty="0"/>
          </a:p>
        </p:txBody>
      </p:sp>
      <p:sp>
        <p:nvSpPr>
          <p:cNvPr id="15" name="Text 13"/>
          <p:cNvSpPr/>
          <p:nvPr/>
        </p:nvSpPr>
        <p:spPr>
          <a:xfrm>
            <a:off x="665018" y="3609274"/>
            <a:ext cx="1961804" cy="329184"/>
          </a:xfrm>
          <a:prstGeom prst="rect">
            <a:avLst/>
          </a:prstGeom>
          <a:noFill/>
          <a:ln/>
        </p:spPr>
        <p:txBody>
          <a:bodyPr wrap="square" lIns="0" tIns="0" rIns="0" bIns="0" rtlCol="0" anchor="ctr"/>
          <a:lstStyle/>
          <a:p>
            <a:pPr marL="0" indent="0">
              <a:buNone/>
            </a:pPr>
            <a:r>
              <a:rPr lang="en-US" sz="2200" b="1" dirty="0">
                <a:solidFill>
                  <a:srgbClr val="A5D6A7"/>
                </a:solidFill>
                <a:latin typeface="Calibri" pitchFamily="34" charset="0"/>
                <a:ea typeface="Calibri" pitchFamily="34" charset="-122"/>
                <a:cs typeface="Calibri" pitchFamily="34" charset="-120"/>
              </a:rPr>
              <a:t>1 click</a:t>
            </a:r>
            <a:endParaRPr lang="en-US" sz="2200" dirty="0"/>
          </a:p>
        </p:txBody>
      </p:sp>
      <p:sp>
        <p:nvSpPr>
          <p:cNvPr id="16" name="Text 14"/>
          <p:cNvSpPr/>
          <p:nvPr/>
        </p:nvSpPr>
        <p:spPr>
          <a:xfrm>
            <a:off x="566928" y="3920170"/>
            <a:ext cx="2157984" cy="347472"/>
          </a:xfrm>
          <a:prstGeom prst="rect">
            <a:avLst/>
          </a:prstGeom>
          <a:noFill/>
          <a:ln/>
        </p:spPr>
        <p:txBody>
          <a:bodyPr wrap="square" rtlCol="0" anchor="ctr"/>
          <a:lstStyle/>
          <a:p>
            <a:pPr marL="0" indent="0">
              <a:buNone/>
            </a:pPr>
            <a:r>
              <a:rPr lang="en-US" sz="800" dirty="0">
                <a:solidFill>
                  <a:srgbClr val="81C784"/>
                </a:solidFill>
                <a:latin typeface="Calibri" pitchFamily="34" charset="0"/>
                <a:ea typeface="Calibri" pitchFamily="34" charset="-122"/>
                <a:cs typeface="Calibri" pitchFamily="34" charset="-120"/>
              </a:rPr>
              <a:t>is all it takes to switch</a:t>
            </a:r>
            <a:endParaRPr lang="en-US" sz="800" dirty="0"/>
          </a:p>
          <a:p>
            <a:pPr marL="0" indent="0">
              <a:buNone/>
            </a:pPr>
            <a:r>
              <a:rPr lang="en-US" sz="800" dirty="0">
                <a:solidFill>
                  <a:srgbClr val="81C784"/>
                </a:solidFill>
                <a:latin typeface="Calibri" pitchFamily="34" charset="0"/>
                <a:ea typeface="Calibri" pitchFamily="34" charset="-122"/>
                <a:cs typeface="Calibri" pitchFamily="34" charset="-120"/>
              </a:rPr>
              <a:t>to a SaaS competitor</a:t>
            </a:r>
            <a:endParaRPr lang="en-US" sz="800" dirty="0"/>
          </a:p>
        </p:txBody>
      </p:sp>
      <p:sp>
        <p:nvSpPr>
          <p:cNvPr id="17" name="Shape 15"/>
          <p:cNvSpPr/>
          <p:nvPr/>
        </p:nvSpPr>
        <p:spPr>
          <a:xfrm>
            <a:off x="3063240" y="1332418"/>
            <a:ext cx="5623560"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3063240" y="1332418"/>
            <a:ext cx="5623560" cy="36576"/>
          </a:xfrm>
          <a:prstGeom prst="rect">
            <a:avLst/>
          </a:prstGeom>
          <a:solidFill>
            <a:srgbClr val="66BB6A"/>
          </a:solidFill>
          <a:ln w="12700">
            <a:solidFill>
              <a:srgbClr val="66BB6A"/>
            </a:solidFill>
            <a:prstDash val="solid"/>
          </a:ln>
        </p:spPr>
        <p:txBody>
          <a:bodyPr/>
          <a:lstStyle/>
          <a:p>
            <a:endParaRPr lang="en-US"/>
          </a:p>
        </p:txBody>
      </p:sp>
      <p:sp>
        <p:nvSpPr>
          <p:cNvPr id="19" name="Text 17"/>
          <p:cNvSpPr/>
          <p:nvPr/>
        </p:nvSpPr>
        <p:spPr>
          <a:xfrm>
            <a:off x="3154680" y="1423858"/>
            <a:ext cx="5440680"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Why study customer churn?</a:t>
            </a:r>
            <a:endParaRPr lang="en-US" sz="900" dirty="0"/>
          </a:p>
        </p:txBody>
      </p:sp>
      <p:sp>
        <p:nvSpPr>
          <p:cNvPr id="20" name="Text 18"/>
          <p:cNvSpPr/>
          <p:nvPr/>
        </p:nvSpPr>
        <p:spPr>
          <a:xfrm>
            <a:off x="3154680" y="1661602"/>
            <a:ext cx="5440680" cy="566928"/>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In subscription software, every renewal is a re-purchase decision. SaaS revenue is only retained when customers continuously find value. Dissatisfied customers leave silently, making early detection through behavioral analytics critical to revenue stability.</a:t>
            </a:r>
            <a:endParaRPr lang="en-US" sz="800" dirty="0"/>
          </a:p>
        </p:txBody>
      </p:sp>
      <p:sp>
        <p:nvSpPr>
          <p:cNvPr id="21" name="Shape 19"/>
          <p:cNvSpPr/>
          <p:nvPr/>
        </p:nvSpPr>
        <p:spPr>
          <a:xfrm>
            <a:off x="3063240" y="2411410"/>
            <a:ext cx="5623560"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20"/>
          <p:cNvSpPr/>
          <p:nvPr/>
        </p:nvSpPr>
        <p:spPr>
          <a:xfrm>
            <a:off x="3063240" y="2411410"/>
            <a:ext cx="5623560" cy="36576"/>
          </a:xfrm>
          <a:prstGeom prst="rect">
            <a:avLst/>
          </a:prstGeom>
          <a:solidFill>
            <a:srgbClr val="26A69A"/>
          </a:solidFill>
          <a:ln w="12700">
            <a:solidFill>
              <a:srgbClr val="26A69A"/>
            </a:solidFill>
            <a:prstDash val="solid"/>
          </a:ln>
        </p:spPr>
        <p:txBody>
          <a:bodyPr/>
          <a:lstStyle/>
          <a:p>
            <a:endParaRPr lang="en-US"/>
          </a:p>
        </p:txBody>
      </p:sp>
      <p:sp>
        <p:nvSpPr>
          <p:cNvPr id="23" name="Text 21"/>
          <p:cNvSpPr/>
          <p:nvPr/>
        </p:nvSpPr>
        <p:spPr>
          <a:xfrm>
            <a:off x="3154680" y="2502850"/>
            <a:ext cx="5440680"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Why RavenStack?</a:t>
            </a:r>
            <a:endParaRPr lang="en-US" sz="900" dirty="0"/>
          </a:p>
        </p:txBody>
      </p:sp>
      <p:sp>
        <p:nvSpPr>
          <p:cNvPr id="24" name="Text 22"/>
          <p:cNvSpPr/>
          <p:nvPr/>
        </p:nvSpPr>
        <p:spPr>
          <a:xfrm>
            <a:off x="3154680" y="2740594"/>
            <a:ext cx="5440680" cy="566928"/>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RavenStack is a hypothetical SaaS company designed to represent realistic B2B subscription dynamics. With five industry verticals, seven countries, three plan tiers, and mixed billing frequencies, it provides a structurally rich, PII-free environment for a complete analytical pipeline.</a:t>
            </a:r>
            <a:endParaRPr lang="en-US" sz="800" dirty="0"/>
          </a:p>
        </p:txBody>
      </p:sp>
      <p:sp>
        <p:nvSpPr>
          <p:cNvPr id="25" name="Shape 23"/>
          <p:cNvSpPr/>
          <p:nvPr/>
        </p:nvSpPr>
        <p:spPr>
          <a:xfrm>
            <a:off x="3063240" y="3490402"/>
            <a:ext cx="5623560"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3063240" y="3490402"/>
            <a:ext cx="5623560" cy="36576"/>
          </a:xfrm>
          <a:prstGeom prst="rect">
            <a:avLst/>
          </a:prstGeom>
          <a:solidFill>
            <a:srgbClr val="2E7D32"/>
          </a:solidFill>
          <a:ln w="12700">
            <a:solidFill>
              <a:srgbClr val="2E7D32"/>
            </a:solidFill>
            <a:prstDash val="solid"/>
          </a:ln>
        </p:spPr>
        <p:txBody>
          <a:bodyPr/>
          <a:lstStyle/>
          <a:p>
            <a:endParaRPr lang="en-US"/>
          </a:p>
        </p:txBody>
      </p:sp>
      <p:sp>
        <p:nvSpPr>
          <p:cNvPr id="27" name="Text 25"/>
          <p:cNvSpPr/>
          <p:nvPr/>
        </p:nvSpPr>
        <p:spPr>
          <a:xfrm>
            <a:off x="3154680" y="3581842"/>
            <a:ext cx="5440680"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Why this matters now</a:t>
            </a:r>
            <a:endParaRPr lang="en-US" sz="900" dirty="0"/>
          </a:p>
        </p:txBody>
      </p:sp>
      <p:sp>
        <p:nvSpPr>
          <p:cNvPr id="28" name="Text 26"/>
          <p:cNvSpPr/>
          <p:nvPr/>
        </p:nvSpPr>
        <p:spPr>
          <a:xfrm>
            <a:off x="3154680" y="3819586"/>
            <a:ext cx="5440680" cy="566928"/>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Retention analytics has become a core competency for subscription businesses globally. This project demonstrates how combining descriptive, predictive, and prescriptive analytics converts raw behavioral data into a prioritized, account-level retention action plan.</a:t>
            </a:r>
            <a:endParaRPr lang="en-US" sz="800" dirty="0"/>
          </a:p>
        </p:txBody>
      </p:sp>
      <p:sp>
        <p:nvSpPr>
          <p:cNvPr id="29" name="Shape 27"/>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30" name="Text 28"/>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31" name="Text 29"/>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Motivation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BUSINESS CONTEXT</a:t>
            </a:r>
            <a:endParaRPr lang="en-US" sz="800" dirty="0"/>
          </a:p>
        </p:txBody>
      </p:sp>
      <p:sp>
        <p:nvSpPr>
          <p:cNvPr id="4" name="Text 2"/>
          <p:cNvSpPr/>
          <p:nvPr/>
        </p:nvSpPr>
        <p:spPr>
          <a:xfrm>
            <a:off x="457200" y="522512"/>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Business Problem &amp; Goals</a:t>
            </a:r>
            <a:endParaRPr lang="en-US" sz="2600" dirty="0"/>
          </a:p>
        </p:txBody>
      </p:sp>
      <p:sp>
        <p:nvSpPr>
          <p:cNvPr id="6" name="Shape 4"/>
          <p:cNvSpPr/>
          <p:nvPr/>
        </p:nvSpPr>
        <p:spPr>
          <a:xfrm>
            <a:off x="457200" y="1180880"/>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299752"/>
            <a:ext cx="8229600" cy="1005840"/>
          </a:xfrm>
          <a:prstGeom prst="rect">
            <a:avLst/>
          </a:prstGeom>
          <a:solidFill>
            <a:srgbClr val="E8F5E9"/>
          </a:solidFill>
          <a:ln w="12700">
            <a:solidFill>
              <a:srgbClr val="C8E6C9"/>
            </a:solidFill>
            <a:prstDash val="solid"/>
          </a:ln>
        </p:spPr>
        <p:txBody>
          <a:bodyPr/>
          <a:lstStyle/>
          <a:p>
            <a:endParaRPr lang="en-US"/>
          </a:p>
        </p:txBody>
      </p:sp>
      <p:sp>
        <p:nvSpPr>
          <p:cNvPr id="8" name="Shape 6"/>
          <p:cNvSpPr/>
          <p:nvPr/>
        </p:nvSpPr>
        <p:spPr>
          <a:xfrm>
            <a:off x="457200" y="1299752"/>
            <a:ext cx="36576" cy="1005840"/>
          </a:xfrm>
          <a:prstGeom prst="rect">
            <a:avLst/>
          </a:prstGeom>
          <a:solidFill>
            <a:srgbClr val="2E7D32"/>
          </a:solidFill>
          <a:ln w="12700">
            <a:solidFill>
              <a:srgbClr val="2E7D32"/>
            </a:solidFill>
            <a:prstDash val="solid"/>
          </a:ln>
        </p:spPr>
        <p:txBody>
          <a:bodyPr/>
          <a:lstStyle/>
          <a:p>
            <a:endParaRPr lang="en-US"/>
          </a:p>
        </p:txBody>
      </p:sp>
      <p:sp>
        <p:nvSpPr>
          <p:cNvPr id="9" name="Text 7"/>
          <p:cNvSpPr/>
          <p:nvPr/>
        </p:nvSpPr>
        <p:spPr>
          <a:xfrm>
            <a:off x="594360" y="1363760"/>
            <a:ext cx="1280160" cy="201168"/>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The Problem</a:t>
            </a:r>
            <a:endParaRPr lang="en-US" sz="850" dirty="0"/>
          </a:p>
        </p:txBody>
      </p:sp>
      <p:sp>
        <p:nvSpPr>
          <p:cNvPr id="10" name="Text 8"/>
          <p:cNvSpPr/>
          <p:nvPr/>
        </p:nvSpPr>
        <p:spPr>
          <a:xfrm>
            <a:off x="594360" y="1601504"/>
            <a:ext cx="7955280" cy="640080"/>
          </a:xfrm>
          <a:prstGeom prst="rect">
            <a:avLst/>
          </a:prstGeom>
          <a:noFill/>
          <a:ln/>
        </p:spPr>
        <p:txBody>
          <a:bodyPr wrap="square" rtlCol="0" anchor="t"/>
          <a:lstStyle/>
          <a:p>
            <a:pPr marL="0" indent="0">
              <a:buNone/>
            </a:pPr>
            <a:r>
              <a:rPr lang="en-US" sz="850" dirty="0">
                <a:solidFill>
                  <a:srgbClr val="263238"/>
                </a:solidFill>
                <a:latin typeface="Calibri" pitchFamily="34" charset="0"/>
                <a:ea typeface="Calibri" pitchFamily="34" charset="-122"/>
                <a:cs typeface="Calibri" pitchFamily="34" charset="-120"/>
              </a:rPr>
              <a:t>RavenStack faces a 22% annual customer churn rate across 500 accounts. At an average MRR of $2,268 per account, unmanaged attrition represents a material recurring revenue risk. The organization lacks a systematic, data-driven mechanism to identify at-risk accounts in advance, understand behavioral drivers of exit, or allocate Customer Success resources by risk priority.</a:t>
            </a:r>
            <a:endParaRPr lang="en-US" sz="850" dirty="0"/>
          </a:p>
        </p:txBody>
      </p:sp>
      <p:sp>
        <p:nvSpPr>
          <p:cNvPr id="11" name="Shape 9"/>
          <p:cNvSpPr/>
          <p:nvPr/>
        </p:nvSpPr>
        <p:spPr>
          <a:xfrm>
            <a:off x="457200" y="2461040"/>
            <a:ext cx="2651760" cy="2240280"/>
          </a:xfrm>
          <a:prstGeom prst="rect">
            <a:avLst/>
          </a:prstGeom>
          <a:solidFill>
            <a:srgbClr val="E8F5E9"/>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57200" y="2461040"/>
            <a:ext cx="2651760" cy="36576"/>
          </a:xfrm>
          <a:prstGeom prst="rect">
            <a:avLst/>
          </a:prstGeom>
          <a:solidFill>
            <a:srgbClr val="66BB6A"/>
          </a:solidFill>
          <a:ln w="12700">
            <a:solidFill>
              <a:srgbClr val="66BB6A"/>
            </a:solidFill>
            <a:prstDash val="solid"/>
          </a:ln>
        </p:spPr>
        <p:txBody>
          <a:bodyPr/>
          <a:lstStyle/>
          <a:p>
            <a:endParaRPr lang="en-US"/>
          </a:p>
        </p:txBody>
      </p:sp>
      <p:sp>
        <p:nvSpPr>
          <p:cNvPr id="13" name="Text 11"/>
          <p:cNvSpPr/>
          <p:nvPr/>
        </p:nvSpPr>
        <p:spPr>
          <a:xfrm>
            <a:off x="548640" y="2534192"/>
            <a:ext cx="2468880"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Phase A: Diagnose</a:t>
            </a:r>
            <a:endParaRPr lang="en-US" sz="950" dirty="0"/>
          </a:p>
        </p:txBody>
      </p:sp>
      <p:sp>
        <p:nvSpPr>
          <p:cNvPr id="14" name="Text 12"/>
          <p:cNvSpPr/>
          <p:nvPr/>
        </p:nvSpPr>
        <p:spPr>
          <a:xfrm>
            <a:off x="585216" y="2826800"/>
            <a:ext cx="2432304" cy="1792225"/>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Apply descriptive analytics via Power BI</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Identify churn patterns across industry, geography, plan tier, and tenure</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Surface the 'what' before modeling the 'why'</a:t>
            </a:r>
            <a:endParaRPr lang="en-US" sz="1050" dirty="0"/>
          </a:p>
        </p:txBody>
      </p:sp>
      <p:sp>
        <p:nvSpPr>
          <p:cNvPr id="15" name="Shape 13"/>
          <p:cNvSpPr/>
          <p:nvPr/>
        </p:nvSpPr>
        <p:spPr>
          <a:xfrm>
            <a:off x="3273552" y="2461040"/>
            <a:ext cx="2651760" cy="2240280"/>
          </a:xfrm>
          <a:prstGeom prst="rect">
            <a:avLst/>
          </a:prstGeom>
          <a:solidFill>
            <a:srgbClr val="E0F2F1"/>
          </a:solidFill>
          <a:ln w="12700">
            <a:solidFill>
              <a:srgbClr val="B2DFDB"/>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3273552" y="2461040"/>
            <a:ext cx="2651760" cy="36576"/>
          </a:xfrm>
          <a:prstGeom prst="rect">
            <a:avLst/>
          </a:prstGeom>
          <a:solidFill>
            <a:srgbClr val="26A69A"/>
          </a:solidFill>
          <a:ln w="12700">
            <a:solidFill>
              <a:srgbClr val="26A69A"/>
            </a:solidFill>
            <a:prstDash val="solid"/>
          </a:ln>
        </p:spPr>
        <p:txBody>
          <a:bodyPr/>
          <a:lstStyle/>
          <a:p>
            <a:endParaRPr lang="en-US"/>
          </a:p>
        </p:txBody>
      </p:sp>
      <p:sp>
        <p:nvSpPr>
          <p:cNvPr id="17" name="Text 15"/>
          <p:cNvSpPr/>
          <p:nvPr/>
        </p:nvSpPr>
        <p:spPr>
          <a:xfrm>
            <a:off x="3364992" y="2534192"/>
            <a:ext cx="2468880"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Phase B: Predict</a:t>
            </a:r>
            <a:endParaRPr lang="en-US" sz="950" dirty="0"/>
          </a:p>
        </p:txBody>
      </p:sp>
      <p:sp>
        <p:nvSpPr>
          <p:cNvPr id="18" name="Text 16"/>
          <p:cNvSpPr/>
          <p:nvPr/>
        </p:nvSpPr>
        <p:spPr>
          <a:xfrm>
            <a:off x="3401568" y="2826800"/>
            <a:ext cx="2432304" cy="1792225"/>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Build a logistic regression model in Python</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Estimate churn probability for each of 500 accounts</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Quantify the contribution of individual risk factors</a:t>
            </a:r>
            <a:endParaRPr lang="en-US" sz="1050" dirty="0"/>
          </a:p>
        </p:txBody>
      </p:sp>
      <p:sp>
        <p:nvSpPr>
          <p:cNvPr id="19" name="Shape 17"/>
          <p:cNvSpPr/>
          <p:nvPr/>
        </p:nvSpPr>
        <p:spPr>
          <a:xfrm>
            <a:off x="6089904" y="2461040"/>
            <a:ext cx="2651760" cy="2240280"/>
          </a:xfrm>
          <a:prstGeom prst="rect">
            <a:avLst/>
          </a:prstGeom>
          <a:solidFill>
            <a:srgbClr val="FDECEA"/>
          </a:solidFill>
          <a:ln w="12700">
            <a:solidFill>
              <a:srgbClr val="FFCDD2"/>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6089904" y="2461040"/>
            <a:ext cx="2651760" cy="36576"/>
          </a:xfrm>
          <a:prstGeom prst="rect">
            <a:avLst/>
          </a:prstGeom>
          <a:solidFill>
            <a:srgbClr val="C62828"/>
          </a:solidFill>
          <a:ln w="12700">
            <a:solidFill>
              <a:srgbClr val="C62828"/>
            </a:solidFill>
            <a:prstDash val="solid"/>
          </a:ln>
        </p:spPr>
        <p:txBody>
          <a:bodyPr/>
          <a:lstStyle/>
          <a:p>
            <a:endParaRPr lang="en-US"/>
          </a:p>
        </p:txBody>
      </p:sp>
      <p:sp>
        <p:nvSpPr>
          <p:cNvPr id="21" name="Text 19"/>
          <p:cNvSpPr/>
          <p:nvPr/>
        </p:nvSpPr>
        <p:spPr>
          <a:xfrm>
            <a:off x="6181344" y="2534192"/>
            <a:ext cx="2468880"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Phase C: Prescribe</a:t>
            </a:r>
            <a:endParaRPr lang="en-US" sz="950" dirty="0"/>
          </a:p>
        </p:txBody>
      </p:sp>
      <p:sp>
        <p:nvSpPr>
          <p:cNvPr id="22" name="Text 20"/>
          <p:cNvSpPr/>
          <p:nvPr/>
        </p:nvSpPr>
        <p:spPr>
          <a:xfrm>
            <a:off x="6217920" y="2826800"/>
            <a:ext cx="2432304" cy="1792225"/>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Segment all 500 accounts by risk score and MRR</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Prescribe targeted retention actions per tier</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Convert model output into a business action plan</a:t>
            </a:r>
            <a:endParaRPr lang="en-US" sz="1050" dirty="0"/>
          </a:p>
        </p:txBody>
      </p:sp>
      <p:sp>
        <p:nvSpPr>
          <p:cNvPr id="23" name="Shape 21"/>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24" name="Text 22"/>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25" name="Text 23"/>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Business Context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DATA</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Dataset Overview</a:t>
            </a:r>
            <a:endParaRPr lang="en-US" sz="2600" dirty="0"/>
          </a:p>
        </p:txBody>
      </p:sp>
      <p:sp>
        <p:nvSpPr>
          <p:cNvPr id="6" name="Shape 4"/>
          <p:cNvSpPr/>
          <p:nvPr/>
        </p:nvSpPr>
        <p:spPr>
          <a:xfrm>
            <a:off x="457200" y="1161291"/>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307595"/>
            <a:ext cx="1536192"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307595"/>
            <a:ext cx="1536192" cy="36576"/>
          </a:xfrm>
          <a:prstGeom prst="rect">
            <a:avLst/>
          </a:prstGeom>
          <a:solidFill>
            <a:srgbClr val="66BB6A"/>
          </a:solidFill>
          <a:ln w="12700">
            <a:solidFill>
              <a:srgbClr val="66BB6A"/>
            </a:solidFill>
            <a:prstDash val="solid"/>
          </a:ln>
        </p:spPr>
        <p:txBody>
          <a:bodyPr/>
          <a:lstStyle/>
          <a:p>
            <a:endParaRPr lang="en-US"/>
          </a:p>
        </p:txBody>
      </p:sp>
      <p:sp>
        <p:nvSpPr>
          <p:cNvPr id="9" name="Text 7"/>
          <p:cNvSpPr/>
          <p:nvPr/>
        </p:nvSpPr>
        <p:spPr>
          <a:xfrm>
            <a:off x="457200" y="1380747"/>
            <a:ext cx="1536192" cy="457200"/>
          </a:xfrm>
          <a:prstGeom prst="rect">
            <a:avLst/>
          </a:prstGeom>
          <a:noFill/>
          <a:ln/>
        </p:spPr>
        <p:txBody>
          <a:bodyPr wrap="square" lIns="0" tIns="0" rIns="0" bIns="0" rtlCol="0" anchor="ctr"/>
          <a:lstStyle/>
          <a:p>
            <a:pPr marL="0" indent="0" algn="ctr">
              <a:buNone/>
            </a:pPr>
            <a:r>
              <a:rPr lang="en-US" sz="2400" b="1" dirty="0">
                <a:solidFill>
                  <a:srgbClr val="66BB6A"/>
                </a:solidFill>
                <a:latin typeface="Calibri" pitchFamily="34" charset="0"/>
                <a:ea typeface="Calibri" pitchFamily="34" charset="-122"/>
                <a:cs typeface="Calibri" pitchFamily="34" charset="-120"/>
              </a:rPr>
              <a:t>500</a:t>
            </a:r>
            <a:endParaRPr lang="en-US" sz="2400" dirty="0"/>
          </a:p>
        </p:txBody>
      </p:sp>
      <p:sp>
        <p:nvSpPr>
          <p:cNvPr id="10" name="Text 8"/>
          <p:cNvSpPr/>
          <p:nvPr/>
        </p:nvSpPr>
        <p:spPr>
          <a:xfrm>
            <a:off x="457200" y="1837947"/>
            <a:ext cx="1536192"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Accounts</a:t>
            </a:r>
            <a:endParaRPr lang="en-US" sz="850" dirty="0"/>
          </a:p>
        </p:txBody>
      </p:sp>
      <p:sp>
        <p:nvSpPr>
          <p:cNvPr id="11" name="Shape 9"/>
          <p:cNvSpPr/>
          <p:nvPr/>
        </p:nvSpPr>
        <p:spPr>
          <a:xfrm>
            <a:off x="2139696" y="1307595"/>
            <a:ext cx="1536192"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2139696" y="1307595"/>
            <a:ext cx="1536192" cy="36576"/>
          </a:xfrm>
          <a:prstGeom prst="rect">
            <a:avLst/>
          </a:prstGeom>
          <a:solidFill>
            <a:srgbClr val="2E7D32"/>
          </a:solidFill>
          <a:ln w="12700">
            <a:solidFill>
              <a:srgbClr val="2E7D32"/>
            </a:solidFill>
            <a:prstDash val="solid"/>
          </a:ln>
        </p:spPr>
        <p:txBody>
          <a:bodyPr/>
          <a:lstStyle/>
          <a:p>
            <a:endParaRPr lang="en-US"/>
          </a:p>
        </p:txBody>
      </p:sp>
      <p:sp>
        <p:nvSpPr>
          <p:cNvPr id="13" name="Text 11"/>
          <p:cNvSpPr/>
          <p:nvPr/>
        </p:nvSpPr>
        <p:spPr>
          <a:xfrm>
            <a:off x="2139696" y="1380747"/>
            <a:ext cx="1536192" cy="457200"/>
          </a:xfrm>
          <a:prstGeom prst="rect">
            <a:avLst/>
          </a:prstGeom>
          <a:noFill/>
          <a:ln/>
        </p:spPr>
        <p:txBody>
          <a:bodyPr wrap="square" lIns="0" tIns="0" rIns="0" bIns="0" rtlCol="0" anchor="ctr"/>
          <a:lstStyle/>
          <a:p>
            <a:pPr marL="0" indent="0" algn="ctr">
              <a:buNone/>
            </a:pPr>
            <a:r>
              <a:rPr lang="en-US" sz="2400" b="1" dirty="0">
                <a:solidFill>
                  <a:srgbClr val="2E7D32"/>
                </a:solidFill>
                <a:latin typeface="Calibri" pitchFamily="34" charset="0"/>
                <a:ea typeface="Calibri" pitchFamily="34" charset="-122"/>
                <a:cs typeface="Calibri" pitchFamily="34" charset="-120"/>
              </a:rPr>
              <a:t>5,000</a:t>
            </a:r>
            <a:endParaRPr lang="en-US" sz="2400" dirty="0"/>
          </a:p>
        </p:txBody>
      </p:sp>
      <p:sp>
        <p:nvSpPr>
          <p:cNvPr id="14" name="Text 12"/>
          <p:cNvSpPr/>
          <p:nvPr/>
        </p:nvSpPr>
        <p:spPr>
          <a:xfrm>
            <a:off x="2139696" y="1837947"/>
            <a:ext cx="1536192"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Subscriptions</a:t>
            </a:r>
            <a:endParaRPr lang="en-US" sz="850" dirty="0"/>
          </a:p>
        </p:txBody>
      </p:sp>
      <p:sp>
        <p:nvSpPr>
          <p:cNvPr id="15" name="Shape 13"/>
          <p:cNvSpPr/>
          <p:nvPr/>
        </p:nvSpPr>
        <p:spPr>
          <a:xfrm>
            <a:off x="3822192" y="1307595"/>
            <a:ext cx="1536192"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3822192" y="1307595"/>
            <a:ext cx="1536192" cy="36576"/>
          </a:xfrm>
          <a:prstGeom prst="rect">
            <a:avLst/>
          </a:prstGeom>
          <a:solidFill>
            <a:srgbClr val="26A69A"/>
          </a:solidFill>
          <a:ln w="12700">
            <a:solidFill>
              <a:srgbClr val="26A69A"/>
            </a:solidFill>
            <a:prstDash val="solid"/>
          </a:ln>
        </p:spPr>
        <p:txBody>
          <a:bodyPr/>
          <a:lstStyle/>
          <a:p>
            <a:endParaRPr lang="en-US"/>
          </a:p>
        </p:txBody>
      </p:sp>
      <p:sp>
        <p:nvSpPr>
          <p:cNvPr id="17" name="Text 15"/>
          <p:cNvSpPr/>
          <p:nvPr/>
        </p:nvSpPr>
        <p:spPr>
          <a:xfrm>
            <a:off x="3822192" y="1380747"/>
            <a:ext cx="1536192" cy="457200"/>
          </a:xfrm>
          <a:prstGeom prst="rect">
            <a:avLst/>
          </a:prstGeom>
          <a:noFill/>
          <a:ln/>
        </p:spPr>
        <p:txBody>
          <a:bodyPr wrap="square" lIns="0" tIns="0" rIns="0" bIns="0" rtlCol="0" anchor="ctr"/>
          <a:lstStyle/>
          <a:p>
            <a:pPr marL="0" indent="0" algn="ctr">
              <a:buNone/>
            </a:pPr>
            <a:r>
              <a:rPr lang="en-US" sz="2400" b="1" dirty="0">
                <a:solidFill>
                  <a:srgbClr val="26A69A"/>
                </a:solidFill>
                <a:latin typeface="Calibri" pitchFamily="34" charset="0"/>
                <a:ea typeface="Calibri" pitchFamily="34" charset="-122"/>
                <a:cs typeface="Calibri" pitchFamily="34" charset="-120"/>
              </a:rPr>
              <a:t>25,000</a:t>
            </a:r>
            <a:endParaRPr lang="en-US" sz="2400" dirty="0"/>
          </a:p>
        </p:txBody>
      </p:sp>
      <p:sp>
        <p:nvSpPr>
          <p:cNvPr id="18" name="Text 16"/>
          <p:cNvSpPr/>
          <p:nvPr/>
        </p:nvSpPr>
        <p:spPr>
          <a:xfrm>
            <a:off x="3822192" y="1837947"/>
            <a:ext cx="1536192"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Usage Events</a:t>
            </a:r>
            <a:endParaRPr lang="en-US" sz="850" dirty="0"/>
          </a:p>
        </p:txBody>
      </p:sp>
      <p:sp>
        <p:nvSpPr>
          <p:cNvPr id="19" name="Shape 17"/>
          <p:cNvSpPr/>
          <p:nvPr/>
        </p:nvSpPr>
        <p:spPr>
          <a:xfrm>
            <a:off x="5504688" y="1307595"/>
            <a:ext cx="1536192"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5504688" y="1307595"/>
            <a:ext cx="1536192" cy="36576"/>
          </a:xfrm>
          <a:prstGeom prst="rect">
            <a:avLst/>
          </a:prstGeom>
          <a:solidFill>
            <a:srgbClr val="8BC34A"/>
          </a:solidFill>
          <a:ln w="12700">
            <a:solidFill>
              <a:srgbClr val="8BC34A"/>
            </a:solidFill>
            <a:prstDash val="solid"/>
          </a:ln>
        </p:spPr>
        <p:txBody>
          <a:bodyPr/>
          <a:lstStyle/>
          <a:p>
            <a:endParaRPr lang="en-US"/>
          </a:p>
        </p:txBody>
      </p:sp>
      <p:sp>
        <p:nvSpPr>
          <p:cNvPr id="21" name="Text 19"/>
          <p:cNvSpPr/>
          <p:nvPr/>
        </p:nvSpPr>
        <p:spPr>
          <a:xfrm>
            <a:off x="5504688" y="1380747"/>
            <a:ext cx="1536192" cy="457200"/>
          </a:xfrm>
          <a:prstGeom prst="rect">
            <a:avLst/>
          </a:prstGeom>
          <a:noFill/>
          <a:ln/>
        </p:spPr>
        <p:txBody>
          <a:bodyPr wrap="square" lIns="0" tIns="0" rIns="0" bIns="0" rtlCol="0" anchor="ctr"/>
          <a:lstStyle/>
          <a:p>
            <a:pPr marL="0" indent="0" algn="ctr">
              <a:buNone/>
            </a:pPr>
            <a:r>
              <a:rPr lang="en-US" sz="2400" b="1" dirty="0">
                <a:solidFill>
                  <a:srgbClr val="8BC34A"/>
                </a:solidFill>
                <a:latin typeface="Calibri" pitchFamily="34" charset="0"/>
                <a:ea typeface="Calibri" pitchFamily="34" charset="-122"/>
                <a:cs typeface="Calibri" pitchFamily="34" charset="-120"/>
              </a:rPr>
              <a:t>2,000</a:t>
            </a:r>
            <a:endParaRPr lang="en-US" sz="2400" dirty="0"/>
          </a:p>
        </p:txBody>
      </p:sp>
      <p:sp>
        <p:nvSpPr>
          <p:cNvPr id="22" name="Text 20"/>
          <p:cNvSpPr/>
          <p:nvPr/>
        </p:nvSpPr>
        <p:spPr>
          <a:xfrm>
            <a:off x="5504688" y="1837947"/>
            <a:ext cx="1536192"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Support Tickets</a:t>
            </a:r>
            <a:endParaRPr lang="en-US" sz="850" dirty="0"/>
          </a:p>
        </p:txBody>
      </p:sp>
      <p:sp>
        <p:nvSpPr>
          <p:cNvPr id="23" name="Shape 21"/>
          <p:cNvSpPr/>
          <p:nvPr/>
        </p:nvSpPr>
        <p:spPr>
          <a:xfrm>
            <a:off x="7187184" y="1307595"/>
            <a:ext cx="1536192"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4" name="Shape 22"/>
          <p:cNvSpPr/>
          <p:nvPr/>
        </p:nvSpPr>
        <p:spPr>
          <a:xfrm>
            <a:off x="7187184" y="1307595"/>
            <a:ext cx="1536192" cy="36576"/>
          </a:xfrm>
          <a:prstGeom prst="rect">
            <a:avLst/>
          </a:prstGeom>
          <a:solidFill>
            <a:srgbClr val="C62828"/>
          </a:solidFill>
          <a:ln w="12700">
            <a:solidFill>
              <a:srgbClr val="C62828"/>
            </a:solidFill>
            <a:prstDash val="solid"/>
          </a:ln>
        </p:spPr>
        <p:txBody>
          <a:bodyPr/>
          <a:lstStyle/>
          <a:p>
            <a:endParaRPr lang="en-US"/>
          </a:p>
        </p:txBody>
      </p:sp>
      <p:sp>
        <p:nvSpPr>
          <p:cNvPr id="25" name="Text 23"/>
          <p:cNvSpPr/>
          <p:nvPr/>
        </p:nvSpPr>
        <p:spPr>
          <a:xfrm>
            <a:off x="7187184" y="1380747"/>
            <a:ext cx="1536192" cy="457200"/>
          </a:xfrm>
          <a:prstGeom prst="rect">
            <a:avLst/>
          </a:prstGeom>
          <a:noFill/>
          <a:ln/>
        </p:spPr>
        <p:txBody>
          <a:bodyPr wrap="square" lIns="0" tIns="0" rIns="0" bIns="0" rtlCol="0" anchor="ctr"/>
          <a:lstStyle/>
          <a:p>
            <a:pPr marL="0" indent="0" algn="ctr">
              <a:buNone/>
            </a:pPr>
            <a:r>
              <a:rPr lang="en-US" sz="2400" b="1" dirty="0">
                <a:solidFill>
                  <a:srgbClr val="C62828"/>
                </a:solidFill>
                <a:latin typeface="Calibri" pitchFamily="34" charset="0"/>
                <a:ea typeface="Calibri" pitchFamily="34" charset="-122"/>
                <a:cs typeface="Calibri" pitchFamily="34" charset="-120"/>
              </a:rPr>
              <a:t> 600</a:t>
            </a:r>
            <a:endParaRPr lang="en-US" sz="2400" dirty="0"/>
          </a:p>
        </p:txBody>
      </p:sp>
      <p:sp>
        <p:nvSpPr>
          <p:cNvPr id="26" name="Text 24"/>
          <p:cNvSpPr/>
          <p:nvPr/>
        </p:nvSpPr>
        <p:spPr>
          <a:xfrm>
            <a:off x="7187184" y="1837947"/>
            <a:ext cx="1536192"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Churn Events</a:t>
            </a:r>
            <a:endParaRPr lang="en-US" sz="850" dirty="0"/>
          </a:p>
        </p:txBody>
      </p:sp>
      <p:sp>
        <p:nvSpPr>
          <p:cNvPr id="27" name="Shape 25"/>
          <p:cNvSpPr/>
          <p:nvPr/>
        </p:nvSpPr>
        <p:spPr>
          <a:xfrm>
            <a:off x="457200" y="2464964"/>
            <a:ext cx="8229600" cy="274320"/>
          </a:xfrm>
          <a:prstGeom prst="rect">
            <a:avLst/>
          </a:prstGeom>
          <a:solidFill>
            <a:srgbClr val="1B5E20"/>
          </a:solidFill>
          <a:ln w="12700">
            <a:solidFill>
              <a:srgbClr val="1B5E20"/>
            </a:solidFill>
            <a:prstDash val="solid"/>
          </a:ln>
        </p:spPr>
        <p:txBody>
          <a:bodyPr/>
          <a:lstStyle/>
          <a:p>
            <a:endParaRPr lang="en-US"/>
          </a:p>
        </p:txBody>
      </p:sp>
      <p:sp>
        <p:nvSpPr>
          <p:cNvPr id="28" name="Text 26"/>
          <p:cNvSpPr/>
          <p:nvPr/>
        </p:nvSpPr>
        <p:spPr>
          <a:xfrm>
            <a:off x="566928" y="2464964"/>
            <a:ext cx="1737360" cy="274320"/>
          </a:xfrm>
          <a:prstGeom prst="rect">
            <a:avLst/>
          </a:prstGeom>
          <a:noFill/>
          <a:ln/>
        </p:spPr>
        <p:txBody>
          <a:bodyPr wrap="square" lIns="0" tIns="0" rIns="0" bIns="0" rtlCol="0" anchor="ctr"/>
          <a:lstStyle/>
          <a:p>
            <a:pPr marL="0" indent="0">
              <a:buNone/>
            </a:pPr>
            <a:r>
              <a:rPr lang="en-US" sz="800" b="1" dirty="0">
                <a:solidFill>
                  <a:srgbClr val="A5D6A7"/>
                </a:solidFill>
                <a:latin typeface="Calibri" pitchFamily="34" charset="0"/>
                <a:ea typeface="Calibri" pitchFamily="34" charset="-122"/>
                <a:cs typeface="Calibri" pitchFamily="34" charset="-120"/>
              </a:rPr>
              <a:t>File</a:t>
            </a:r>
            <a:endParaRPr lang="en-US" sz="800" dirty="0"/>
          </a:p>
        </p:txBody>
      </p:sp>
      <p:sp>
        <p:nvSpPr>
          <p:cNvPr id="29" name="Text 27"/>
          <p:cNvSpPr/>
          <p:nvPr/>
        </p:nvSpPr>
        <p:spPr>
          <a:xfrm>
            <a:off x="2359152" y="2464964"/>
            <a:ext cx="1005840" cy="274320"/>
          </a:xfrm>
          <a:prstGeom prst="rect">
            <a:avLst/>
          </a:prstGeom>
          <a:noFill/>
          <a:ln/>
        </p:spPr>
        <p:txBody>
          <a:bodyPr wrap="square" lIns="0" tIns="0" rIns="0" bIns="0" rtlCol="0" anchor="ctr"/>
          <a:lstStyle/>
          <a:p>
            <a:pPr marL="0" indent="0">
              <a:buNone/>
            </a:pPr>
            <a:r>
              <a:rPr lang="en-US" sz="800" b="1" dirty="0">
                <a:solidFill>
                  <a:srgbClr val="A5D6A7"/>
                </a:solidFill>
                <a:latin typeface="Calibri" pitchFamily="34" charset="0"/>
                <a:ea typeface="Calibri" pitchFamily="34" charset="-122"/>
                <a:cs typeface="Calibri" pitchFamily="34" charset="-120"/>
              </a:rPr>
              <a:t>Dimensions</a:t>
            </a:r>
            <a:endParaRPr lang="en-US" sz="800" dirty="0"/>
          </a:p>
        </p:txBody>
      </p:sp>
      <p:sp>
        <p:nvSpPr>
          <p:cNvPr id="30" name="Text 28"/>
          <p:cNvSpPr/>
          <p:nvPr/>
        </p:nvSpPr>
        <p:spPr>
          <a:xfrm>
            <a:off x="3419856" y="2464964"/>
            <a:ext cx="5212080" cy="274320"/>
          </a:xfrm>
          <a:prstGeom prst="rect">
            <a:avLst/>
          </a:prstGeom>
          <a:noFill/>
          <a:ln/>
        </p:spPr>
        <p:txBody>
          <a:bodyPr wrap="square" lIns="0" tIns="0" rIns="0" bIns="0" rtlCol="0" anchor="ctr"/>
          <a:lstStyle/>
          <a:p>
            <a:pPr marL="0" indent="0">
              <a:buNone/>
            </a:pPr>
            <a:r>
              <a:rPr lang="en-US" sz="800" b="1" dirty="0">
                <a:solidFill>
                  <a:srgbClr val="A5D6A7"/>
                </a:solidFill>
                <a:latin typeface="Calibri" pitchFamily="34" charset="0"/>
                <a:ea typeface="Calibri" pitchFamily="34" charset="-122"/>
                <a:cs typeface="Calibri" pitchFamily="34" charset="-120"/>
              </a:rPr>
              <a:t>Key Fields</a:t>
            </a:r>
            <a:endParaRPr lang="en-US" sz="800" dirty="0"/>
          </a:p>
        </p:txBody>
      </p:sp>
      <p:sp>
        <p:nvSpPr>
          <p:cNvPr id="31" name="Shape 29"/>
          <p:cNvSpPr/>
          <p:nvPr/>
        </p:nvSpPr>
        <p:spPr>
          <a:xfrm>
            <a:off x="457200" y="2757572"/>
            <a:ext cx="8229600" cy="347472"/>
          </a:xfrm>
          <a:prstGeom prst="rect">
            <a:avLst/>
          </a:prstGeom>
          <a:solidFill>
            <a:srgbClr val="FFFFFF"/>
          </a:solidFill>
          <a:ln w="12700">
            <a:solidFill>
              <a:srgbClr val="C8E6C9"/>
            </a:solidFill>
            <a:prstDash val="solid"/>
          </a:ln>
        </p:spPr>
        <p:txBody>
          <a:bodyPr/>
          <a:lstStyle/>
          <a:p>
            <a:endParaRPr lang="en-US"/>
          </a:p>
        </p:txBody>
      </p:sp>
      <p:sp>
        <p:nvSpPr>
          <p:cNvPr id="32" name="Shape 30"/>
          <p:cNvSpPr/>
          <p:nvPr/>
        </p:nvSpPr>
        <p:spPr>
          <a:xfrm>
            <a:off x="457200" y="2757572"/>
            <a:ext cx="36576" cy="347472"/>
          </a:xfrm>
          <a:prstGeom prst="rect">
            <a:avLst/>
          </a:prstGeom>
          <a:solidFill>
            <a:srgbClr val="66BB6A"/>
          </a:solidFill>
          <a:ln w="12700">
            <a:solidFill>
              <a:srgbClr val="66BB6A"/>
            </a:solidFill>
            <a:prstDash val="solid"/>
          </a:ln>
        </p:spPr>
        <p:txBody>
          <a:bodyPr/>
          <a:lstStyle/>
          <a:p>
            <a:endParaRPr lang="en-US"/>
          </a:p>
        </p:txBody>
      </p:sp>
      <p:sp>
        <p:nvSpPr>
          <p:cNvPr id="33" name="Text 31"/>
          <p:cNvSpPr/>
          <p:nvPr/>
        </p:nvSpPr>
        <p:spPr>
          <a:xfrm>
            <a:off x="585216" y="2757572"/>
            <a:ext cx="1737360" cy="347472"/>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accounts.csv</a:t>
            </a:r>
            <a:endParaRPr lang="en-US" sz="850" dirty="0"/>
          </a:p>
        </p:txBody>
      </p:sp>
      <p:sp>
        <p:nvSpPr>
          <p:cNvPr id="34" name="Text 32"/>
          <p:cNvSpPr/>
          <p:nvPr/>
        </p:nvSpPr>
        <p:spPr>
          <a:xfrm>
            <a:off x="2359152" y="2757572"/>
            <a:ext cx="1005840" cy="347472"/>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500 × 10</a:t>
            </a:r>
            <a:endParaRPr lang="en-US" sz="800" dirty="0"/>
          </a:p>
        </p:txBody>
      </p:sp>
      <p:sp>
        <p:nvSpPr>
          <p:cNvPr id="35" name="Text 33"/>
          <p:cNvSpPr/>
          <p:nvPr/>
        </p:nvSpPr>
        <p:spPr>
          <a:xfrm>
            <a:off x="3419856" y="2757572"/>
            <a:ext cx="5212080" cy="347472"/>
          </a:xfrm>
          <a:prstGeom prst="rect">
            <a:avLst/>
          </a:prstGeom>
          <a:noFill/>
          <a:ln/>
        </p:spPr>
        <p:txBody>
          <a:bodyPr wrap="square" lIns="0" tIns="0" rIns="0" bIns="0" rtlCol="0" anchor="ctr"/>
          <a:lstStyle/>
          <a:p>
            <a:pPr marL="0" indent="0">
              <a:buNone/>
            </a:pPr>
            <a:r>
              <a:rPr lang="en-US" sz="800" dirty="0">
                <a:solidFill>
                  <a:srgbClr val="263238"/>
                </a:solidFill>
                <a:latin typeface="Calibri" pitchFamily="34" charset="0"/>
                <a:ea typeface="Calibri" pitchFamily="34" charset="-122"/>
                <a:cs typeface="Calibri" pitchFamily="34" charset="-120"/>
              </a:rPr>
              <a:t>industry, plan_tier, referral_source, seats, churn_flag  ← TARGET VARIABLE</a:t>
            </a:r>
            <a:endParaRPr lang="en-US" sz="800" dirty="0"/>
          </a:p>
        </p:txBody>
      </p:sp>
      <p:sp>
        <p:nvSpPr>
          <p:cNvPr id="36" name="Shape 34"/>
          <p:cNvSpPr/>
          <p:nvPr/>
        </p:nvSpPr>
        <p:spPr>
          <a:xfrm>
            <a:off x="457200" y="3141620"/>
            <a:ext cx="8229600" cy="347472"/>
          </a:xfrm>
          <a:prstGeom prst="rect">
            <a:avLst/>
          </a:prstGeom>
          <a:solidFill>
            <a:srgbClr val="F1F5F1"/>
          </a:solidFill>
          <a:ln w="12700">
            <a:solidFill>
              <a:srgbClr val="C8E6C9"/>
            </a:solidFill>
            <a:prstDash val="solid"/>
          </a:ln>
        </p:spPr>
        <p:txBody>
          <a:bodyPr/>
          <a:lstStyle/>
          <a:p>
            <a:endParaRPr lang="en-US"/>
          </a:p>
        </p:txBody>
      </p:sp>
      <p:sp>
        <p:nvSpPr>
          <p:cNvPr id="37" name="Shape 35"/>
          <p:cNvSpPr/>
          <p:nvPr/>
        </p:nvSpPr>
        <p:spPr>
          <a:xfrm>
            <a:off x="457200" y="3141620"/>
            <a:ext cx="36576" cy="347472"/>
          </a:xfrm>
          <a:prstGeom prst="rect">
            <a:avLst/>
          </a:prstGeom>
          <a:solidFill>
            <a:srgbClr val="2E7D32"/>
          </a:solidFill>
          <a:ln w="12700">
            <a:solidFill>
              <a:srgbClr val="2E7D32"/>
            </a:solidFill>
            <a:prstDash val="solid"/>
          </a:ln>
        </p:spPr>
        <p:txBody>
          <a:bodyPr/>
          <a:lstStyle/>
          <a:p>
            <a:endParaRPr lang="en-US"/>
          </a:p>
        </p:txBody>
      </p:sp>
      <p:sp>
        <p:nvSpPr>
          <p:cNvPr id="38" name="Text 36"/>
          <p:cNvSpPr/>
          <p:nvPr/>
        </p:nvSpPr>
        <p:spPr>
          <a:xfrm>
            <a:off x="585216" y="3141620"/>
            <a:ext cx="1737360" cy="347472"/>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subscriptions.csv</a:t>
            </a:r>
            <a:endParaRPr lang="en-US" sz="850" dirty="0"/>
          </a:p>
        </p:txBody>
      </p:sp>
      <p:sp>
        <p:nvSpPr>
          <p:cNvPr id="39" name="Text 37"/>
          <p:cNvSpPr/>
          <p:nvPr/>
        </p:nvSpPr>
        <p:spPr>
          <a:xfrm>
            <a:off x="2359152" y="3141620"/>
            <a:ext cx="1005840" cy="347472"/>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5,000 × 14</a:t>
            </a:r>
            <a:endParaRPr lang="en-US" sz="800" dirty="0"/>
          </a:p>
        </p:txBody>
      </p:sp>
      <p:sp>
        <p:nvSpPr>
          <p:cNvPr id="40" name="Text 38"/>
          <p:cNvSpPr/>
          <p:nvPr/>
        </p:nvSpPr>
        <p:spPr>
          <a:xfrm>
            <a:off x="3419856" y="3141620"/>
            <a:ext cx="5212080" cy="347472"/>
          </a:xfrm>
          <a:prstGeom prst="rect">
            <a:avLst/>
          </a:prstGeom>
          <a:noFill/>
          <a:ln/>
        </p:spPr>
        <p:txBody>
          <a:bodyPr wrap="square" lIns="0" tIns="0" rIns="0" bIns="0" rtlCol="0" anchor="ctr"/>
          <a:lstStyle/>
          <a:p>
            <a:pPr marL="0" indent="0">
              <a:buNone/>
            </a:pPr>
            <a:r>
              <a:rPr lang="en-US" sz="800" dirty="0">
                <a:solidFill>
                  <a:srgbClr val="263238"/>
                </a:solidFill>
                <a:latin typeface="Calibri" pitchFamily="34" charset="0"/>
                <a:ea typeface="Calibri" pitchFamily="34" charset="-122"/>
                <a:cs typeface="Calibri" pitchFamily="34" charset="-120"/>
              </a:rPr>
              <a:t>mrr_amount, arr_amount, billing_frequency, upgrade_flag, downgrade_flag</a:t>
            </a:r>
            <a:endParaRPr lang="en-US" sz="800" dirty="0"/>
          </a:p>
        </p:txBody>
      </p:sp>
      <p:sp>
        <p:nvSpPr>
          <p:cNvPr id="41" name="Shape 39"/>
          <p:cNvSpPr/>
          <p:nvPr/>
        </p:nvSpPr>
        <p:spPr>
          <a:xfrm>
            <a:off x="457200" y="3525668"/>
            <a:ext cx="8229600" cy="347472"/>
          </a:xfrm>
          <a:prstGeom prst="rect">
            <a:avLst/>
          </a:prstGeom>
          <a:solidFill>
            <a:srgbClr val="FFFFFF"/>
          </a:solidFill>
          <a:ln w="12700">
            <a:solidFill>
              <a:srgbClr val="C8E6C9"/>
            </a:solidFill>
            <a:prstDash val="solid"/>
          </a:ln>
        </p:spPr>
        <p:txBody>
          <a:bodyPr/>
          <a:lstStyle/>
          <a:p>
            <a:endParaRPr lang="en-US"/>
          </a:p>
        </p:txBody>
      </p:sp>
      <p:sp>
        <p:nvSpPr>
          <p:cNvPr id="42" name="Shape 40"/>
          <p:cNvSpPr/>
          <p:nvPr/>
        </p:nvSpPr>
        <p:spPr>
          <a:xfrm>
            <a:off x="457200" y="3525668"/>
            <a:ext cx="36576" cy="347472"/>
          </a:xfrm>
          <a:prstGeom prst="rect">
            <a:avLst/>
          </a:prstGeom>
          <a:solidFill>
            <a:srgbClr val="26A69A"/>
          </a:solidFill>
          <a:ln w="12700">
            <a:solidFill>
              <a:srgbClr val="26A69A"/>
            </a:solidFill>
            <a:prstDash val="solid"/>
          </a:ln>
        </p:spPr>
        <p:txBody>
          <a:bodyPr/>
          <a:lstStyle/>
          <a:p>
            <a:endParaRPr lang="en-US"/>
          </a:p>
        </p:txBody>
      </p:sp>
      <p:sp>
        <p:nvSpPr>
          <p:cNvPr id="43" name="Text 41"/>
          <p:cNvSpPr/>
          <p:nvPr/>
        </p:nvSpPr>
        <p:spPr>
          <a:xfrm>
            <a:off x="585216" y="3525668"/>
            <a:ext cx="1737360" cy="347472"/>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feature_usage.csv</a:t>
            </a:r>
            <a:endParaRPr lang="en-US" sz="850" dirty="0"/>
          </a:p>
        </p:txBody>
      </p:sp>
      <p:sp>
        <p:nvSpPr>
          <p:cNvPr id="44" name="Text 42"/>
          <p:cNvSpPr/>
          <p:nvPr/>
        </p:nvSpPr>
        <p:spPr>
          <a:xfrm>
            <a:off x="2359152" y="3525668"/>
            <a:ext cx="1005840" cy="347472"/>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25,000 × 8</a:t>
            </a:r>
            <a:endParaRPr lang="en-US" sz="800" dirty="0"/>
          </a:p>
        </p:txBody>
      </p:sp>
      <p:sp>
        <p:nvSpPr>
          <p:cNvPr id="45" name="Text 43"/>
          <p:cNvSpPr/>
          <p:nvPr/>
        </p:nvSpPr>
        <p:spPr>
          <a:xfrm>
            <a:off x="3419856" y="3525668"/>
            <a:ext cx="5212080" cy="347472"/>
          </a:xfrm>
          <a:prstGeom prst="rect">
            <a:avLst/>
          </a:prstGeom>
          <a:noFill/>
          <a:ln/>
        </p:spPr>
        <p:txBody>
          <a:bodyPr wrap="square" lIns="0" tIns="0" rIns="0" bIns="0" rtlCol="0" anchor="ctr"/>
          <a:lstStyle/>
          <a:p>
            <a:pPr marL="0" indent="0">
              <a:buNone/>
            </a:pPr>
            <a:r>
              <a:rPr lang="en-US" sz="800" dirty="0">
                <a:solidFill>
                  <a:srgbClr val="263238"/>
                </a:solidFill>
                <a:latin typeface="Calibri" pitchFamily="34" charset="0"/>
                <a:ea typeface="Calibri" pitchFamily="34" charset="-122"/>
                <a:cs typeface="Calibri" pitchFamily="34" charset="-120"/>
              </a:rPr>
              <a:t>feature_name, usage_count, session_duration, error_count</a:t>
            </a:r>
            <a:endParaRPr lang="en-US" sz="800" dirty="0"/>
          </a:p>
        </p:txBody>
      </p:sp>
      <p:sp>
        <p:nvSpPr>
          <p:cNvPr id="46" name="Shape 44"/>
          <p:cNvSpPr/>
          <p:nvPr/>
        </p:nvSpPr>
        <p:spPr>
          <a:xfrm>
            <a:off x="457200" y="3909716"/>
            <a:ext cx="8229600" cy="347472"/>
          </a:xfrm>
          <a:prstGeom prst="rect">
            <a:avLst/>
          </a:prstGeom>
          <a:solidFill>
            <a:srgbClr val="F1F5F1"/>
          </a:solidFill>
          <a:ln w="12700">
            <a:solidFill>
              <a:srgbClr val="C8E6C9"/>
            </a:solidFill>
            <a:prstDash val="solid"/>
          </a:ln>
        </p:spPr>
        <p:txBody>
          <a:bodyPr/>
          <a:lstStyle/>
          <a:p>
            <a:endParaRPr lang="en-US"/>
          </a:p>
        </p:txBody>
      </p:sp>
      <p:sp>
        <p:nvSpPr>
          <p:cNvPr id="47" name="Shape 45"/>
          <p:cNvSpPr/>
          <p:nvPr/>
        </p:nvSpPr>
        <p:spPr>
          <a:xfrm>
            <a:off x="457200" y="3909716"/>
            <a:ext cx="36576" cy="347472"/>
          </a:xfrm>
          <a:prstGeom prst="rect">
            <a:avLst/>
          </a:prstGeom>
          <a:solidFill>
            <a:srgbClr val="8BC34A"/>
          </a:solidFill>
          <a:ln w="12700">
            <a:solidFill>
              <a:srgbClr val="8BC34A"/>
            </a:solidFill>
            <a:prstDash val="solid"/>
          </a:ln>
        </p:spPr>
        <p:txBody>
          <a:bodyPr/>
          <a:lstStyle/>
          <a:p>
            <a:endParaRPr lang="en-US"/>
          </a:p>
        </p:txBody>
      </p:sp>
      <p:sp>
        <p:nvSpPr>
          <p:cNvPr id="48" name="Text 46"/>
          <p:cNvSpPr/>
          <p:nvPr/>
        </p:nvSpPr>
        <p:spPr>
          <a:xfrm>
            <a:off x="585216" y="3909716"/>
            <a:ext cx="1737360" cy="347472"/>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support_tickets.csv</a:t>
            </a:r>
            <a:endParaRPr lang="en-US" sz="850" dirty="0"/>
          </a:p>
        </p:txBody>
      </p:sp>
      <p:sp>
        <p:nvSpPr>
          <p:cNvPr id="49" name="Text 47"/>
          <p:cNvSpPr/>
          <p:nvPr/>
        </p:nvSpPr>
        <p:spPr>
          <a:xfrm>
            <a:off x="2359152" y="3909716"/>
            <a:ext cx="1005840" cy="347472"/>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2,000 × 9</a:t>
            </a:r>
            <a:endParaRPr lang="en-US" sz="800" dirty="0"/>
          </a:p>
        </p:txBody>
      </p:sp>
      <p:sp>
        <p:nvSpPr>
          <p:cNvPr id="50" name="Text 48"/>
          <p:cNvSpPr/>
          <p:nvPr/>
        </p:nvSpPr>
        <p:spPr>
          <a:xfrm>
            <a:off x="3419856" y="3909716"/>
            <a:ext cx="5212080" cy="347472"/>
          </a:xfrm>
          <a:prstGeom prst="rect">
            <a:avLst/>
          </a:prstGeom>
          <a:noFill/>
          <a:ln/>
        </p:spPr>
        <p:txBody>
          <a:bodyPr wrap="square" lIns="0" tIns="0" rIns="0" bIns="0" rtlCol="0" anchor="ctr"/>
          <a:lstStyle/>
          <a:p>
            <a:pPr marL="0" indent="0">
              <a:buNone/>
            </a:pPr>
            <a:r>
              <a:rPr lang="en-US" sz="800" dirty="0">
                <a:solidFill>
                  <a:srgbClr val="263238"/>
                </a:solidFill>
                <a:latin typeface="Calibri" pitchFamily="34" charset="0"/>
                <a:ea typeface="Calibri" pitchFamily="34" charset="-122"/>
                <a:cs typeface="Calibri" pitchFamily="34" charset="-120"/>
              </a:rPr>
              <a:t>priority, resolution_hours, satisfaction_score (1–5), escalation_flag</a:t>
            </a:r>
            <a:endParaRPr lang="en-US" sz="800" dirty="0"/>
          </a:p>
        </p:txBody>
      </p:sp>
      <p:sp>
        <p:nvSpPr>
          <p:cNvPr id="51" name="Shape 49"/>
          <p:cNvSpPr/>
          <p:nvPr/>
        </p:nvSpPr>
        <p:spPr>
          <a:xfrm>
            <a:off x="457200" y="4293764"/>
            <a:ext cx="8229600" cy="347472"/>
          </a:xfrm>
          <a:prstGeom prst="rect">
            <a:avLst/>
          </a:prstGeom>
          <a:solidFill>
            <a:srgbClr val="FFFFFF"/>
          </a:solidFill>
          <a:ln w="12700">
            <a:solidFill>
              <a:srgbClr val="C8E6C9"/>
            </a:solidFill>
            <a:prstDash val="solid"/>
          </a:ln>
        </p:spPr>
        <p:txBody>
          <a:bodyPr/>
          <a:lstStyle/>
          <a:p>
            <a:endParaRPr lang="en-US"/>
          </a:p>
        </p:txBody>
      </p:sp>
      <p:sp>
        <p:nvSpPr>
          <p:cNvPr id="52" name="Shape 50"/>
          <p:cNvSpPr/>
          <p:nvPr/>
        </p:nvSpPr>
        <p:spPr>
          <a:xfrm>
            <a:off x="457200" y="4293764"/>
            <a:ext cx="36576" cy="347472"/>
          </a:xfrm>
          <a:prstGeom prst="rect">
            <a:avLst/>
          </a:prstGeom>
          <a:solidFill>
            <a:srgbClr val="C62828"/>
          </a:solidFill>
          <a:ln w="12700">
            <a:solidFill>
              <a:srgbClr val="C62828"/>
            </a:solidFill>
            <a:prstDash val="solid"/>
          </a:ln>
        </p:spPr>
        <p:txBody>
          <a:bodyPr/>
          <a:lstStyle/>
          <a:p>
            <a:endParaRPr lang="en-US"/>
          </a:p>
        </p:txBody>
      </p:sp>
      <p:sp>
        <p:nvSpPr>
          <p:cNvPr id="53" name="Text 51"/>
          <p:cNvSpPr/>
          <p:nvPr/>
        </p:nvSpPr>
        <p:spPr>
          <a:xfrm>
            <a:off x="585216" y="4293764"/>
            <a:ext cx="1737360" cy="347472"/>
          </a:xfrm>
          <a:prstGeom prst="rect">
            <a:avLst/>
          </a:prstGeom>
          <a:noFill/>
          <a:ln/>
        </p:spPr>
        <p:txBody>
          <a:bodyPr wrap="square" lIns="0" tIns="0" rIns="0" bIns="0" rtlCol="0" anchor="ctr"/>
          <a:lstStyle/>
          <a:p>
            <a:pPr marL="0" indent="0">
              <a:buNone/>
            </a:pPr>
            <a:r>
              <a:rPr lang="en-US" sz="850" b="1" dirty="0">
                <a:solidFill>
                  <a:srgbClr val="1B5E20"/>
                </a:solidFill>
                <a:latin typeface="Calibri" pitchFamily="34" charset="0"/>
                <a:ea typeface="Calibri" pitchFamily="34" charset="-122"/>
                <a:cs typeface="Calibri" pitchFamily="34" charset="-120"/>
              </a:rPr>
              <a:t>churn_events.csv</a:t>
            </a:r>
            <a:endParaRPr lang="en-US" sz="850" dirty="0"/>
          </a:p>
        </p:txBody>
      </p:sp>
      <p:sp>
        <p:nvSpPr>
          <p:cNvPr id="54" name="Text 52"/>
          <p:cNvSpPr/>
          <p:nvPr/>
        </p:nvSpPr>
        <p:spPr>
          <a:xfrm>
            <a:off x="2359152" y="4293764"/>
            <a:ext cx="1005840" cy="347472"/>
          </a:xfrm>
          <a:prstGeom prst="rect">
            <a:avLst/>
          </a:prstGeom>
          <a:noFill/>
          <a:ln/>
        </p:spPr>
        <p:txBody>
          <a:bodyPr wrap="square" lIns="0" tIns="0" rIns="0" bIns="0" rtlCol="0" anchor="ctr"/>
          <a:lstStyle/>
          <a:p>
            <a:pPr marL="0" indent="0">
              <a:buNone/>
            </a:pPr>
            <a:r>
              <a:rPr lang="en-US" sz="800" dirty="0">
                <a:solidFill>
                  <a:srgbClr val="757575"/>
                </a:solidFill>
                <a:latin typeface="Calibri" pitchFamily="34" charset="0"/>
                <a:ea typeface="Calibri" pitchFamily="34" charset="-122"/>
                <a:cs typeface="Calibri" pitchFamily="34" charset="-120"/>
              </a:rPr>
              <a:t>600 × 9</a:t>
            </a:r>
            <a:endParaRPr lang="en-US" sz="800" dirty="0"/>
          </a:p>
        </p:txBody>
      </p:sp>
      <p:sp>
        <p:nvSpPr>
          <p:cNvPr id="55" name="Text 53"/>
          <p:cNvSpPr/>
          <p:nvPr/>
        </p:nvSpPr>
        <p:spPr>
          <a:xfrm>
            <a:off x="3419856" y="4293764"/>
            <a:ext cx="5212080" cy="347472"/>
          </a:xfrm>
          <a:prstGeom prst="rect">
            <a:avLst/>
          </a:prstGeom>
          <a:noFill/>
          <a:ln/>
        </p:spPr>
        <p:txBody>
          <a:bodyPr wrap="square" lIns="0" tIns="0" rIns="0" bIns="0" rtlCol="0" anchor="ctr"/>
          <a:lstStyle/>
          <a:p>
            <a:pPr marL="0" indent="0">
              <a:buNone/>
            </a:pPr>
            <a:r>
              <a:rPr lang="en-US" sz="800" dirty="0">
                <a:solidFill>
                  <a:srgbClr val="263238"/>
                </a:solidFill>
                <a:latin typeface="Calibri" pitchFamily="34" charset="0"/>
                <a:ea typeface="Calibri" pitchFamily="34" charset="-122"/>
                <a:cs typeface="Calibri" pitchFamily="34" charset="-120"/>
              </a:rPr>
              <a:t>reason_code, refund_amount_usd, preceding_downgrade_flag, feedback_text</a:t>
            </a:r>
            <a:endParaRPr lang="en-US" sz="800" dirty="0"/>
          </a:p>
        </p:txBody>
      </p:sp>
      <p:sp>
        <p:nvSpPr>
          <p:cNvPr id="56" name="Shape 54"/>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57" name="Text 55"/>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58" name="Text 56"/>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Data</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DATA</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Data Preparation</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Integration, quality assurance, feature engineering, and partitioning</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8" name="Text 6"/>
          <p:cNvSpPr/>
          <p:nvPr/>
        </p:nvSpPr>
        <p:spPr>
          <a:xfrm>
            <a:off x="2441448" y="2542032"/>
            <a:ext cx="109728" cy="219456"/>
          </a:xfrm>
          <a:prstGeom prst="rect">
            <a:avLst/>
          </a:prstGeom>
          <a:noFill/>
          <a:ln/>
        </p:spPr>
        <p:txBody>
          <a:bodyPr wrap="square" lIns="0" tIns="0" rIns="0" bIns="0" rtlCol="0" anchor="ctr"/>
          <a:lstStyle/>
          <a:p>
            <a:pPr marL="0" indent="0" algn="ctr">
              <a:buNone/>
            </a:pPr>
            <a:endParaRPr lang="en-US" sz="900" dirty="0"/>
          </a:p>
        </p:txBody>
      </p:sp>
      <p:sp>
        <p:nvSpPr>
          <p:cNvPr id="9" name="Shape 7"/>
          <p:cNvSpPr/>
          <p:nvPr/>
        </p:nvSpPr>
        <p:spPr>
          <a:xfrm>
            <a:off x="457200" y="1536192"/>
            <a:ext cx="1920240" cy="3200400"/>
          </a:xfrm>
          <a:prstGeom prst="rect">
            <a:avLst/>
          </a:prstGeom>
          <a:solidFill>
            <a:srgbClr val="E8F5E9"/>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457200" y="1536192"/>
            <a:ext cx="1920240" cy="36576"/>
          </a:xfrm>
          <a:prstGeom prst="rect">
            <a:avLst/>
          </a:prstGeom>
          <a:solidFill>
            <a:srgbClr val="66BB6A"/>
          </a:solidFill>
          <a:ln w="12700">
            <a:solidFill>
              <a:srgbClr val="66BB6A"/>
            </a:solidFill>
            <a:prstDash val="solid"/>
          </a:ln>
        </p:spPr>
        <p:txBody>
          <a:bodyPr/>
          <a:lstStyle/>
          <a:p>
            <a:endParaRPr lang="en-US"/>
          </a:p>
        </p:txBody>
      </p:sp>
      <p:sp>
        <p:nvSpPr>
          <p:cNvPr id="11" name="Text 9"/>
          <p:cNvSpPr/>
          <p:nvPr/>
        </p:nvSpPr>
        <p:spPr>
          <a:xfrm>
            <a:off x="566928" y="1627632"/>
            <a:ext cx="457200" cy="329184"/>
          </a:xfrm>
          <a:prstGeom prst="rect">
            <a:avLst/>
          </a:prstGeom>
          <a:noFill/>
          <a:ln/>
        </p:spPr>
        <p:txBody>
          <a:bodyPr wrap="square" lIns="0" tIns="0" rIns="0" bIns="0" rtlCol="0" anchor="ctr"/>
          <a:lstStyle/>
          <a:p>
            <a:pPr marL="0" indent="0">
              <a:buNone/>
            </a:pPr>
            <a:r>
              <a:rPr lang="en-US" sz="2200" b="1" dirty="0">
                <a:solidFill>
                  <a:srgbClr val="66BB6A"/>
                </a:solidFill>
                <a:latin typeface="Calibri" pitchFamily="34" charset="0"/>
                <a:ea typeface="Calibri" pitchFamily="34" charset="-122"/>
                <a:cs typeface="Calibri" pitchFamily="34" charset="-120"/>
              </a:rPr>
              <a:t>01</a:t>
            </a:r>
            <a:endParaRPr lang="en-US" sz="2200" dirty="0"/>
          </a:p>
        </p:txBody>
      </p:sp>
      <p:sp>
        <p:nvSpPr>
          <p:cNvPr id="12" name="Shape 10"/>
          <p:cNvSpPr/>
          <p:nvPr/>
        </p:nvSpPr>
        <p:spPr>
          <a:xfrm>
            <a:off x="566928" y="2011680"/>
            <a:ext cx="1554480" cy="18288"/>
          </a:xfrm>
          <a:prstGeom prst="rect">
            <a:avLst/>
          </a:prstGeom>
          <a:solidFill>
            <a:srgbClr val="C8E6C9"/>
          </a:solidFill>
          <a:ln w="12700">
            <a:solidFill>
              <a:srgbClr val="C8E6C9"/>
            </a:solidFill>
            <a:prstDash val="solid"/>
          </a:ln>
        </p:spPr>
        <p:txBody>
          <a:bodyPr/>
          <a:lstStyle/>
          <a:p>
            <a:endParaRPr lang="en-US"/>
          </a:p>
        </p:txBody>
      </p:sp>
      <p:sp>
        <p:nvSpPr>
          <p:cNvPr id="13" name="Text 11"/>
          <p:cNvSpPr/>
          <p:nvPr/>
        </p:nvSpPr>
        <p:spPr>
          <a:xfrm>
            <a:off x="566928" y="2066544"/>
            <a:ext cx="1700784" cy="475488"/>
          </a:xfrm>
          <a:prstGeom prst="rect">
            <a:avLst/>
          </a:prstGeom>
          <a:noFill/>
          <a:ln/>
        </p:spPr>
        <p:txBody>
          <a:bodyPr wrap="square"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Multi-Table Integration</a:t>
            </a:r>
            <a:endParaRPr lang="en-US" sz="950" dirty="0"/>
          </a:p>
        </p:txBody>
      </p:sp>
      <p:sp>
        <p:nvSpPr>
          <p:cNvPr id="14" name="Text 12"/>
          <p:cNvSpPr/>
          <p:nvPr/>
        </p:nvSpPr>
        <p:spPr>
          <a:xfrm>
            <a:off x="505536" y="2596896"/>
            <a:ext cx="1771320" cy="2011680"/>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Merged all 5 tables on account_id and subscription_id</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Resolved referential integrity across differing record counts</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Produced flat account-level dataset: 500 rows × 37 columns</a:t>
            </a:r>
            <a:endParaRPr lang="en-US" sz="1050" dirty="0"/>
          </a:p>
        </p:txBody>
      </p:sp>
      <p:sp>
        <p:nvSpPr>
          <p:cNvPr id="16" name="Text 14"/>
          <p:cNvSpPr/>
          <p:nvPr/>
        </p:nvSpPr>
        <p:spPr>
          <a:xfrm>
            <a:off x="4526280" y="2542032"/>
            <a:ext cx="109728" cy="219456"/>
          </a:xfrm>
          <a:prstGeom prst="rect">
            <a:avLst/>
          </a:prstGeom>
          <a:noFill/>
          <a:ln/>
        </p:spPr>
        <p:txBody>
          <a:bodyPr wrap="square" lIns="0" tIns="0" rIns="0" bIns="0" rtlCol="0" anchor="ctr"/>
          <a:lstStyle/>
          <a:p>
            <a:pPr marL="0" indent="0" algn="ctr">
              <a:buNone/>
            </a:pPr>
            <a:endParaRPr lang="en-US" sz="900" dirty="0"/>
          </a:p>
        </p:txBody>
      </p:sp>
      <p:sp>
        <p:nvSpPr>
          <p:cNvPr id="17" name="Shape 15"/>
          <p:cNvSpPr/>
          <p:nvPr/>
        </p:nvSpPr>
        <p:spPr>
          <a:xfrm>
            <a:off x="2542032" y="1536192"/>
            <a:ext cx="1920240" cy="3200400"/>
          </a:xfrm>
          <a:prstGeom prst="rect">
            <a:avLst/>
          </a:prstGeom>
          <a:solidFill>
            <a:srgbClr val="F1F8F1"/>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2542032" y="1536192"/>
            <a:ext cx="1920240" cy="36576"/>
          </a:xfrm>
          <a:prstGeom prst="rect">
            <a:avLst/>
          </a:prstGeom>
          <a:solidFill>
            <a:srgbClr val="2E7D32"/>
          </a:solidFill>
          <a:ln w="12700">
            <a:solidFill>
              <a:srgbClr val="2E7D32"/>
            </a:solidFill>
            <a:prstDash val="solid"/>
          </a:ln>
        </p:spPr>
        <p:txBody>
          <a:bodyPr/>
          <a:lstStyle/>
          <a:p>
            <a:endParaRPr lang="en-US"/>
          </a:p>
        </p:txBody>
      </p:sp>
      <p:sp>
        <p:nvSpPr>
          <p:cNvPr id="19" name="Text 17"/>
          <p:cNvSpPr/>
          <p:nvPr/>
        </p:nvSpPr>
        <p:spPr>
          <a:xfrm>
            <a:off x="2651760" y="1627632"/>
            <a:ext cx="457200" cy="329184"/>
          </a:xfrm>
          <a:prstGeom prst="rect">
            <a:avLst/>
          </a:prstGeom>
          <a:noFill/>
          <a:ln/>
        </p:spPr>
        <p:txBody>
          <a:bodyPr wrap="square" lIns="0" tIns="0" rIns="0" bIns="0" rtlCol="0" anchor="ctr"/>
          <a:lstStyle/>
          <a:p>
            <a:pPr marL="0" indent="0">
              <a:buNone/>
            </a:pPr>
            <a:r>
              <a:rPr lang="en-US" sz="2200" b="1" dirty="0">
                <a:solidFill>
                  <a:srgbClr val="2E7D32"/>
                </a:solidFill>
                <a:latin typeface="Calibri" pitchFamily="34" charset="0"/>
                <a:ea typeface="Calibri" pitchFamily="34" charset="-122"/>
                <a:cs typeface="Calibri" pitchFamily="34" charset="-120"/>
              </a:rPr>
              <a:t>02</a:t>
            </a:r>
            <a:endParaRPr lang="en-US" sz="2200" dirty="0"/>
          </a:p>
        </p:txBody>
      </p:sp>
      <p:sp>
        <p:nvSpPr>
          <p:cNvPr id="20" name="Shape 18"/>
          <p:cNvSpPr/>
          <p:nvPr/>
        </p:nvSpPr>
        <p:spPr>
          <a:xfrm>
            <a:off x="2651760" y="2011680"/>
            <a:ext cx="1554480" cy="18288"/>
          </a:xfrm>
          <a:prstGeom prst="rect">
            <a:avLst/>
          </a:prstGeom>
          <a:solidFill>
            <a:srgbClr val="C8E6C9"/>
          </a:solidFill>
          <a:ln w="12700">
            <a:solidFill>
              <a:srgbClr val="C8E6C9"/>
            </a:solidFill>
            <a:prstDash val="solid"/>
          </a:ln>
        </p:spPr>
        <p:txBody>
          <a:bodyPr/>
          <a:lstStyle/>
          <a:p>
            <a:endParaRPr lang="en-US"/>
          </a:p>
        </p:txBody>
      </p:sp>
      <p:sp>
        <p:nvSpPr>
          <p:cNvPr id="21" name="Text 19"/>
          <p:cNvSpPr/>
          <p:nvPr/>
        </p:nvSpPr>
        <p:spPr>
          <a:xfrm>
            <a:off x="2651760" y="2066544"/>
            <a:ext cx="1700784" cy="475488"/>
          </a:xfrm>
          <a:prstGeom prst="rect">
            <a:avLst/>
          </a:prstGeom>
          <a:noFill/>
          <a:ln/>
        </p:spPr>
        <p:txBody>
          <a:bodyPr wrap="square"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Quality &amp; Standardization</a:t>
            </a:r>
            <a:endParaRPr lang="en-US" sz="950" dirty="0"/>
          </a:p>
        </p:txBody>
      </p:sp>
      <p:sp>
        <p:nvSpPr>
          <p:cNvPr id="22" name="Text 20"/>
          <p:cNvSpPr/>
          <p:nvPr/>
        </p:nvSpPr>
        <p:spPr>
          <a:xfrm>
            <a:off x="2629557" y="2596896"/>
            <a:ext cx="1664208" cy="2011680"/>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Removed missing or inconsistent values via dropna()</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Standardized: industry, country, plan_tier, referral_source</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Verified 110 churned accounts confirming 22% churn rate</a:t>
            </a:r>
            <a:endParaRPr lang="en-US" sz="1050" dirty="0"/>
          </a:p>
        </p:txBody>
      </p:sp>
      <p:sp>
        <p:nvSpPr>
          <p:cNvPr id="25" name="Shape 23"/>
          <p:cNvSpPr/>
          <p:nvPr/>
        </p:nvSpPr>
        <p:spPr>
          <a:xfrm>
            <a:off x="4626864" y="1536192"/>
            <a:ext cx="1920240" cy="3200400"/>
          </a:xfrm>
          <a:prstGeom prst="rect">
            <a:avLst/>
          </a:prstGeom>
          <a:solidFill>
            <a:srgbClr val="E0F2F1"/>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4626864" y="1536192"/>
            <a:ext cx="1920240" cy="36576"/>
          </a:xfrm>
          <a:prstGeom prst="rect">
            <a:avLst/>
          </a:prstGeom>
          <a:solidFill>
            <a:srgbClr val="26A69A"/>
          </a:solidFill>
          <a:ln w="12700">
            <a:solidFill>
              <a:srgbClr val="26A69A"/>
            </a:solidFill>
            <a:prstDash val="solid"/>
          </a:ln>
        </p:spPr>
        <p:txBody>
          <a:bodyPr/>
          <a:lstStyle/>
          <a:p>
            <a:endParaRPr lang="en-US"/>
          </a:p>
        </p:txBody>
      </p:sp>
      <p:sp>
        <p:nvSpPr>
          <p:cNvPr id="27" name="Text 25"/>
          <p:cNvSpPr/>
          <p:nvPr/>
        </p:nvSpPr>
        <p:spPr>
          <a:xfrm>
            <a:off x="4736592" y="1627632"/>
            <a:ext cx="457200" cy="329184"/>
          </a:xfrm>
          <a:prstGeom prst="rect">
            <a:avLst/>
          </a:prstGeom>
          <a:noFill/>
          <a:ln/>
        </p:spPr>
        <p:txBody>
          <a:bodyPr wrap="square" lIns="0" tIns="0" rIns="0" bIns="0" rtlCol="0" anchor="ctr"/>
          <a:lstStyle/>
          <a:p>
            <a:pPr marL="0" indent="0">
              <a:buNone/>
            </a:pPr>
            <a:r>
              <a:rPr lang="en-US" sz="2200" b="1" dirty="0">
                <a:solidFill>
                  <a:srgbClr val="26A69A"/>
                </a:solidFill>
                <a:latin typeface="Calibri" pitchFamily="34" charset="0"/>
                <a:ea typeface="Calibri" pitchFamily="34" charset="-122"/>
                <a:cs typeface="Calibri" pitchFamily="34" charset="-120"/>
              </a:rPr>
              <a:t>03</a:t>
            </a:r>
            <a:endParaRPr lang="en-US" sz="2200" dirty="0"/>
          </a:p>
        </p:txBody>
      </p:sp>
      <p:sp>
        <p:nvSpPr>
          <p:cNvPr id="28" name="Shape 26"/>
          <p:cNvSpPr/>
          <p:nvPr/>
        </p:nvSpPr>
        <p:spPr>
          <a:xfrm>
            <a:off x="4736592" y="2011680"/>
            <a:ext cx="1554480" cy="18288"/>
          </a:xfrm>
          <a:prstGeom prst="rect">
            <a:avLst/>
          </a:prstGeom>
          <a:solidFill>
            <a:srgbClr val="C8E6C9"/>
          </a:solidFill>
          <a:ln w="12700">
            <a:solidFill>
              <a:srgbClr val="C8E6C9"/>
            </a:solidFill>
            <a:prstDash val="solid"/>
          </a:ln>
        </p:spPr>
        <p:txBody>
          <a:bodyPr/>
          <a:lstStyle/>
          <a:p>
            <a:endParaRPr lang="en-US"/>
          </a:p>
        </p:txBody>
      </p:sp>
      <p:sp>
        <p:nvSpPr>
          <p:cNvPr id="29" name="Text 27"/>
          <p:cNvSpPr/>
          <p:nvPr/>
        </p:nvSpPr>
        <p:spPr>
          <a:xfrm>
            <a:off x="4736592" y="2066544"/>
            <a:ext cx="1700784" cy="475488"/>
          </a:xfrm>
          <a:prstGeom prst="rect">
            <a:avLst/>
          </a:prstGeom>
          <a:noFill/>
          <a:ln/>
        </p:spPr>
        <p:txBody>
          <a:bodyPr wrap="square"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Feature Engineering</a:t>
            </a:r>
            <a:endParaRPr lang="en-US" sz="950" dirty="0"/>
          </a:p>
        </p:txBody>
      </p:sp>
      <p:sp>
        <p:nvSpPr>
          <p:cNvPr id="30" name="Text 28"/>
          <p:cNvSpPr/>
          <p:nvPr/>
        </p:nvSpPr>
        <p:spPr>
          <a:xfrm>
            <a:off x="4700016" y="2600815"/>
            <a:ext cx="1847088" cy="2011680"/>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Aggregated feature_usage to account level: avg session, error rate</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Aggregated support_tickets: resolution hrs, satisfaction, escalation</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Created preceding_downgrade flag: 90-day pre-churn window</a:t>
            </a:r>
            <a:endParaRPr lang="en-US" sz="1050" dirty="0"/>
          </a:p>
        </p:txBody>
      </p:sp>
      <p:sp>
        <p:nvSpPr>
          <p:cNvPr id="31" name="Shape 29"/>
          <p:cNvSpPr/>
          <p:nvPr/>
        </p:nvSpPr>
        <p:spPr>
          <a:xfrm>
            <a:off x="6711696" y="1536192"/>
            <a:ext cx="1920240" cy="3200400"/>
          </a:xfrm>
          <a:prstGeom prst="rect">
            <a:avLst/>
          </a:prstGeom>
          <a:solidFill>
            <a:srgbClr val="F9FBF0"/>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32" name="Shape 30"/>
          <p:cNvSpPr/>
          <p:nvPr/>
        </p:nvSpPr>
        <p:spPr>
          <a:xfrm>
            <a:off x="6711696" y="1536192"/>
            <a:ext cx="1920240" cy="36576"/>
          </a:xfrm>
          <a:prstGeom prst="rect">
            <a:avLst/>
          </a:prstGeom>
          <a:solidFill>
            <a:srgbClr val="8BC34A"/>
          </a:solidFill>
          <a:ln w="12700">
            <a:solidFill>
              <a:srgbClr val="8BC34A"/>
            </a:solidFill>
            <a:prstDash val="solid"/>
          </a:ln>
        </p:spPr>
        <p:txBody>
          <a:bodyPr/>
          <a:lstStyle/>
          <a:p>
            <a:endParaRPr lang="en-US"/>
          </a:p>
        </p:txBody>
      </p:sp>
      <p:sp>
        <p:nvSpPr>
          <p:cNvPr id="33" name="Text 31"/>
          <p:cNvSpPr/>
          <p:nvPr/>
        </p:nvSpPr>
        <p:spPr>
          <a:xfrm>
            <a:off x="6821424" y="1627632"/>
            <a:ext cx="457200" cy="329184"/>
          </a:xfrm>
          <a:prstGeom prst="rect">
            <a:avLst/>
          </a:prstGeom>
          <a:noFill/>
          <a:ln/>
        </p:spPr>
        <p:txBody>
          <a:bodyPr wrap="square" lIns="0" tIns="0" rIns="0" bIns="0" rtlCol="0" anchor="ctr"/>
          <a:lstStyle/>
          <a:p>
            <a:pPr marL="0" indent="0">
              <a:buNone/>
            </a:pPr>
            <a:r>
              <a:rPr lang="en-US" sz="2200" b="1" dirty="0">
                <a:solidFill>
                  <a:srgbClr val="8BC34A"/>
                </a:solidFill>
                <a:latin typeface="Calibri" pitchFamily="34" charset="0"/>
                <a:ea typeface="Calibri" pitchFamily="34" charset="-122"/>
                <a:cs typeface="Calibri" pitchFamily="34" charset="-120"/>
              </a:rPr>
              <a:t>04</a:t>
            </a:r>
            <a:endParaRPr lang="en-US" sz="2200" dirty="0"/>
          </a:p>
        </p:txBody>
      </p:sp>
      <p:sp>
        <p:nvSpPr>
          <p:cNvPr id="34" name="Shape 32"/>
          <p:cNvSpPr/>
          <p:nvPr/>
        </p:nvSpPr>
        <p:spPr>
          <a:xfrm>
            <a:off x="6821424" y="2011680"/>
            <a:ext cx="1554480" cy="18288"/>
          </a:xfrm>
          <a:prstGeom prst="rect">
            <a:avLst/>
          </a:prstGeom>
          <a:solidFill>
            <a:srgbClr val="C8E6C9"/>
          </a:solidFill>
          <a:ln w="12700">
            <a:solidFill>
              <a:srgbClr val="C8E6C9"/>
            </a:solidFill>
            <a:prstDash val="solid"/>
          </a:ln>
        </p:spPr>
        <p:txBody>
          <a:bodyPr/>
          <a:lstStyle/>
          <a:p>
            <a:endParaRPr lang="en-US"/>
          </a:p>
        </p:txBody>
      </p:sp>
      <p:sp>
        <p:nvSpPr>
          <p:cNvPr id="35" name="Text 33"/>
          <p:cNvSpPr/>
          <p:nvPr/>
        </p:nvSpPr>
        <p:spPr>
          <a:xfrm>
            <a:off x="6821424" y="2066544"/>
            <a:ext cx="1700784" cy="475488"/>
          </a:xfrm>
          <a:prstGeom prst="rect">
            <a:avLst/>
          </a:prstGeom>
          <a:noFill/>
          <a:ln/>
        </p:spPr>
        <p:txBody>
          <a:bodyPr wrap="square"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Train / Validation Split</a:t>
            </a:r>
            <a:endParaRPr lang="en-US" sz="950" dirty="0"/>
          </a:p>
        </p:txBody>
      </p:sp>
      <p:sp>
        <p:nvSpPr>
          <p:cNvPr id="36" name="Text 34"/>
          <p:cNvSpPr/>
          <p:nvPr/>
        </p:nvSpPr>
        <p:spPr>
          <a:xfrm>
            <a:off x="6821424" y="2596896"/>
            <a:ext cx="1700784" cy="2011680"/>
          </a:xfrm>
          <a:prstGeom prst="rect">
            <a:avLst/>
          </a:prstGeom>
          <a:noFill/>
          <a:ln/>
        </p:spPr>
        <p:txBody>
          <a:bodyPr wrap="square" rtlCol="0" anchor="t"/>
          <a:lstStyle/>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Stratified 70/30 split preserving 22% churn rate in both sets</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Training: 350 accounts  |  Validation: 150 accounts</a:t>
            </a:r>
            <a:endParaRPr lang="en-US" sz="1050" dirty="0"/>
          </a:p>
          <a:p>
            <a:pPr marL="171450" indent="-171450">
              <a:buSzPct val="100000"/>
              <a:buFont typeface="Arial" panose="020B0604020202020204" pitchFamily="34" charset="0"/>
              <a:buChar char="•"/>
            </a:pPr>
            <a:r>
              <a:rPr lang="en-US" sz="1050" dirty="0">
                <a:solidFill>
                  <a:srgbClr val="263238"/>
                </a:solidFill>
                <a:latin typeface="Calibri" pitchFamily="34" charset="0"/>
                <a:ea typeface="Calibri" pitchFamily="34" charset="-122"/>
                <a:cs typeface="Calibri" pitchFamily="34" charset="-120"/>
              </a:rPr>
              <a:t>Fixed random_state = 42 for full reproducibility</a:t>
            </a:r>
            <a:endParaRPr lang="en-US" sz="1050" dirty="0"/>
          </a:p>
        </p:txBody>
      </p:sp>
      <p:sp>
        <p:nvSpPr>
          <p:cNvPr id="37" name="Shape 35"/>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38" name="Text 36"/>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39" name="Text 37"/>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Data Preparation</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DESCRIPTIVE ANALYTICS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Phase A: Dashboard  (1 of 2)</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Industry churn rates, exit reasons, and tenure analysis</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08760"/>
            <a:ext cx="8229600" cy="3236976"/>
          </a:xfrm>
          <a:prstGeom prst="rect">
            <a:avLst/>
          </a:prstGeom>
          <a:solidFill>
            <a:srgbClr val="F4F4F4"/>
          </a:solidFill>
          <a:ln w="12700">
            <a:solidFill>
              <a:srgbClr val="CCCCCC"/>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08760"/>
            <a:ext cx="8229600" cy="256032"/>
          </a:xfrm>
          <a:prstGeom prst="rect">
            <a:avLst/>
          </a:prstGeom>
          <a:solidFill>
            <a:srgbClr val="F3F2F1"/>
          </a:solidFill>
          <a:ln w="12700">
            <a:solidFill>
              <a:srgbClr val="E0E0E0"/>
            </a:solidFill>
            <a:prstDash val="solid"/>
          </a:ln>
        </p:spPr>
        <p:txBody>
          <a:bodyPr/>
          <a:lstStyle/>
          <a:p>
            <a:endParaRPr lang="en-US"/>
          </a:p>
        </p:txBody>
      </p:sp>
      <p:sp>
        <p:nvSpPr>
          <p:cNvPr id="9" name="Text 7"/>
          <p:cNvSpPr/>
          <p:nvPr/>
        </p:nvSpPr>
        <p:spPr>
          <a:xfrm>
            <a:off x="566928" y="1508760"/>
            <a:ext cx="8010144" cy="256032"/>
          </a:xfrm>
          <a:prstGeom prst="rect">
            <a:avLst/>
          </a:prstGeom>
          <a:noFill/>
          <a:ln/>
        </p:spPr>
        <p:txBody>
          <a:bodyPr wrap="square" lIns="0" tIns="0" rIns="0" bIns="0" rtlCol="0" anchor="ctr"/>
          <a:lstStyle/>
          <a:p>
            <a:pPr marL="0" indent="0">
              <a:buNone/>
            </a:pPr>
            <a:r>
              <a:rPr lang="en-US" sz="750" dirty="0">
                <a:solidFill>
                  <a:srgbClr val="605E5C"/>
                </a:solidFill>
                <a:latin typeface="Calibri" pitchFamily="34" charset="0"/>
                <a:ea typeface="Calibri" pitchFamily="34" charset="-122"/>
                <a:cs typeface="Calibri" pitchFamily="34" charset="-120"/>
              </a:rPr>
              <a:t>RavenStack — Customer Churn Analysis  |  Spring 2026  |  500 Accounts  |  22% Overall Churn Rate</a:t>
            </a:r>
            <a:endParaRPr lang="en-US" sz="750" dirty="0"/>
          </a:p>
        </p:txBody>
      </p:sp>
      <p:sp>
        <p:nvSpPr>
          <p:cNvPr id="10" name="Shape 8"/>
          <p:cNvSpPr/>
          <p:nvPr/>
        </p:nvSpPr>
        <p:spPr>
          <a:xfrm>
            <a:off x="548640" y="1828800"/>
            <a:ext cx="2651760" cy="2688336"/>
          </a:xfrm>
          <a:prstGeom prst="rect">
            <a:avLst/>
          </a:prstGeom>
          <a:solidFill>
            <a:srgbClr val="FFFFFF"/>
          </a:solidFill>
          <a:ln w="12700">
            <a:solidFill>
              <a:srgbClr val="EDEBE9"/>
            </a:solidFill>
            <a:prstDash val="solid"/>
          </a:ln>
        </p:spPr>
        <p:txBody>
          <a:bodyPr/>
          <a:lstStyle/>
          <a:p>
            <a:endParaRPr lang="en-US"/>
          </a:p>
        </p:txBody>
      </p:sp>
      <p:sp>
        <p:nvSpPr>
          <p:cNvPr id="11" name="Text 9"/>
          <p:cNvSpPr/>
          <p:nvPr/>
        </p:nvSpPr>
        <p:spPr>
          <a:xfrm>
            <a:off x="658368" y="1883664"/>
            <a:ext cx="2432304"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Churn Rate by Industry (%)</a:t>
            </a:r>
            <a:endParaRPr lang="en-US" sz="800" dirty="0"/>
          </a:p>
        </p:txBody>
      </p:sp>
      <p:graphicFrame>
        <p:nvGraphicFramePr>
          <p:cNvPr id="12" name="Chart 0"/>
          <p:cNvGraphicFramePr/>
          <p:nvPr/>
        </p:nvGraphicFramePr>
        <p:xfrm>
          <a:off x="566928" y="2084832"/>
          <a:ext cx="2615184"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3310128" y="1828800"/>
            <a:ext cx="2651760" cy="2688336"/>
          </a:xfrm>
          <a:prstGeom prst="rect">
            <a:avLst/>
          </a:prstGeom>
          <a:solidFill>
            <a:srgbClr val="FFFFFF"/>
          </a:solidFill>
          <a:ln w="12700">
            <a:solidFill>
              <a:srgbClr val="EDEBE9"/>
            </a:solidFill>
            <a:prstDash val="solid"/>
          </a:ln>
        </p:spPr>
        <p:txBody>
          <a:bodyPr/>
          <a:lstStyle/>
          <a:p>
            <a:endParaRPr lang="en-US"/>
          </a:p>
        </p:txBody>
      </p:sp>
      <p:sp>
        <p:nvSpPr>
          <p:cNvPr id="14" name="Text 11"/>
          <p:cNvSpPr/>
          <p:nvPr/>
        </p:nvSpPr>
        <p:spPr>
          <a:xfrm>
            <a:off x="3419856" y="1883664"/>
            <a:ext cx="2432304"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Primary Exit Reason (600 events)</a:t>
            </a:r>
            <a:endParaRPr lang="en-US" sz="800" dirty="0"/>
          </a:p>
        </p:txBody>
      </p:sp>
      <p:graphicFrame>
        <p:nvGraphicFramePr>
          <p:cNvPr id="15" name="Chart 1"/>
          <p:cNvGraphicFramePr/>
          <p:nvPr/>
        </p:nvGraphicFramePr>
        <p:xfrm>
          <a:off x="3328416" y="2084832"/>
          <a:ext cx="2615184"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6" name="Shape 12"/>
          <p:cNvSpPr/>
          <p:nvPr/>
        </p:nvSpPr>
        <p:spPr>
          <a:xfrm>
            <a:off x="6071616" y="1828800"/>
            <a:ext cx="2523744" cy="2688336"/>
          </a:xfrm>
          <a:prstGeom prst="rect">
            <a:avLst/>
          </a:prstGeom>
          <a:solidFill>
            <a:srgbClr val="FFFFFF"/>
          </a:solidFill>
          <a:ln w="12700">
            <a:solidFill>
              <a:srgbClr val="EDEBE9"/>
            </a:solidFill>
            <a:prstDash val="solid"/>
          </a:ln>
        </p:spPr>
        <p:txBody>
          <a:bodyPr/>
          <a:lstStyle/>
          <a:p>
            <a:endParaRPr lang="en-US"/>
          </a:p>
        </p:txBody>
      </p:sp>
      <p:sp>
        <p:nvSpPr>
          <p:cNvPr id="17" name="Text 13"/>
          <p:cNvSpPr/>
          <p:nvPr/>
        </p:nvSpPr>
        <p:spPr>
          <a:xfrm>
            <a:off x="6181344" y="1883664"/>
            <a:ext cx="2304288"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Churn Rate by Tenure Group (%)</a:t>
            </a:r>
            <a:endParaRPr lang="en-US" sz="800" dirty="0"/>
          </a:p>
        </p:txBody>
      </p:sp>
      <p:graphicFrame>
        <p:nvGraphicFramePr>
          <p:cNvPr id="18" name="Chart 2"/>
          <p:cNvGraphicFramePr/>
          <p:nvPr/>
        </p:nvGraphicFramePr>
        <p:xfrm>
          <a:off x="6089904" y="2084832"/>
          <a:ext cx="2487168" cy="2212848"/>
        </p:xfrm>
        <a:graphic>
          <a:graphicData uri="http://schemas.openxmlformats.org/drawingml/2006/chart">
            <c:chart xmlns:c="http://schemas.openxmlformats.org/drawingml/2006/chart" xmlns:r="http://schemas.openxmlformats.org/officeDocument/2006/relationships" r:id="rId5"/>
          </a:graphicData>
        </a:graphic>
      </p:graphicFrame>
      <p:sp>
        <p:nvSpPr>
          <p:cNvPr id="19" name="Text 14"/>
          <p:cNvSpPr/>
          <p:nvPr/>
        </p:nvSpPr>
        <p:spPr>
          <a:xfrm>
            <a:off x="6089904" y="4315968"/>
            <a:ext cx="2487168" cy="182880"/>
          </a:xfrm>
          <a:prstGeom prst="rect">
            <a:avLst/>
          </a:prstGeom>
          <a:noFill/>
          <a:ln/>
        </p:spPr>
        <p:txBody>
          <a:bodyPr wrap="square" lIns="0" tIns="0" rIns="0" bIns="0" rtlCol="0" anchor="ctr"/>
          <a:lstStyle/>
          <a:p>
            <a:pPr marL="0" indent="0" algn="ctr">
              <a:buNone/>
            </a:pPr>
            <a:r>
              <a:rPr lang="en-US" sz="650" i="1" dirty="0">
                <a:solidFill>
                  <a:srgbClr val="757575"/>
                </a:solidFill>
                <a:latin typeface="Calibri" pitchFamily="34" charset="0"/>
                <a:ea typeface="Calibri" pitchFamily="34" charset="-122"/>
                <a:cs typeface="Calibri" pitchFamily="34" charset="-120"/>
              </a:rPr>
              <a:t>Tenure has no protective effect: churn rate is flat across all cohorts</a:t>
            </a:r>
            <a:endParaRPr lang="en-US" sz="650" dirty="0"/>
          </a:p>
        </p:txBody>
      </p:sp>
      <p:sp>
        <p:nvSpPr>
          <p:cNvPr id="20" name="Shape 15"/>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21" name="Text 16"/>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22" name="Text 17"/>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Descriptive Analytics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DESCRIPTIVE ANALYTICS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Phase A: Dashboard  (2 of 2)</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Geography, plan tier breakdown, and referral source analysis</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08760"/>
            <a:ext cx="8229600" cy="3236976"/>
          </a:xfrm>
          <a:prstGeom prst="rect">
            <a:avLst/>
          </a:prstGeom>
          <a:solidFill>
            <a:srgbClr val="F4F4F4"/>
          </a:solidFill>
          <a:ln w="12700">
            <a:solidFill>
              <a:srgbClr val="CCCCCC"/>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08760"/>
            <a:ext cx="8229600" cy="256032"/>
          </a:xfrm>
          <a:prstGeom prst="rect">
            <a:avLst/>
          </a:prstGeom>
          <a:solidFill>
            <a:srgbClr val="F3F2F1"/>
          </a:solidFill>
          <a:ln w="12700">
            <a:solidFill>
              <a:srgbClr val="E0E0E0"/>
            </a:solidFill>
            <a:prstDash val="solid"/>
          </a:ln>
        </p:spPr>
        <p:txBody>
          <a:bodyPr/>
          <a:lstStyle/>
          <a:p>
            <a:endParaRPr lang="en-US"/>
          </a:p>
        </p:txBody>
      </p:sp>
      <p:sp>
        <p:nvSpPr>
          <p:cNvPr id="9" name="Text 7"/>
          <p:cNvSpPr/>
          <p:nvPr/>
        </p:nvSpPr>
        <p:spPr>
          <a:xfrm>
            <a:off x="566928" y="1508760"/>
            <a:ext cx="8010144" cy="256032"/>
          </a:xfrm>
          <a:prstGeom prst="rect">
            <a:avLst/>
          </a:prstGeom>
          <a:noFill/>
          <a:ln/>
        </p:spPr>
        <p:txBody>
          <a:bodyPr wrap="square" lIns="0" tIns="0" rIns="0" bIns="0" rtlCol="0" anchor="ctr"/>
          <a:lstStyle/>
          <a:p>
            <a:pPr marL="0" indent="0">
              <a:buNone/>
            </a:pPr>
            <a:r>
              <a:rPr lang="en-US" sz="750" dirty="0">
                <a:solidFill>
                  <a:srgbClr val="605E5C"/>
                </a:solidFill>
                <a:latin typeface="Calibri" pitchFamily="34" charset="0"/>
                <a:ea typeface="Calibri" pitchFamily="34" charset="-122"/>
                <a:cs typeface="Calibri" pitchFamily="34" charset="-120"/>
              </a:rPr>
              <a:t>RavenStack — Customer Churn Analysis  |  Spring 2026  |  500 Accounts  |  22% Overall Churn Rate</a:t>
            </a:r>
            <a:endParaRPr lang="en-US" sz="750" dirty="0"/>
          </a:p>
        </p:txBody>
      </p:sp>
      <p:sp>
        <p:nvSpPr>
          <p:cNvPr id="10" name="Shape 8"/>
          <p:cNvSpPr/>
          <p:nvPr/>
        </p:nvSpPr>
        <p:spPr>
          <a:xfrm>
            <a:off x="548640" y="1828800"/>
            <a:ext cx="2651760" cy="2816352"/>
          </a:xfrm>
          <a:prstGeom prst="rect">
            <a:avLst/>
          </a:prstGeom>
          <a:solidFill>
            <a:srgbClr val="FFFFFF"/>
          </a:solidFill>
          <a:ln w="12700">
            <a:solidFill>
              <a:srgbClr val="EDEBE9"/>
            </a:solidFill>
            <a:prstDash val="solid"/>
          </a:ln>
        </p:spPr>
        <p:txBody>
          <a:bodyPr/>
          <a:lstStyle/>
          <a:p>
            <a:endParaRPr lang="en-US"/>
          </a:p>
        </p:txBody>
      </p:sp>
      <p:sp>
        <p:nvSpPr>
          <p:cNvPr id="11" name="Text 9"/>
          <p:cNvSpPr/>
          <p:nvPr/>
        </p:nvSpPr>
        <p:spPr>
          <a:xfrm>
            <a:off x="658368" y="1883664"/>
            <a:ext cx="2432304"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Churn Rate by Country (%)</a:t>
            </a:r>
            <a:endParaRPr lang="en-US" sz="800" dirty="0"/>
          </a:p>
        </p:txBody>
      </p:sp>
      <p:graphicFrame>
        <p:nvGraphicFramePr>
          <p:cNvPr id="12" name="Chart 0"/>
          <p:cNvGraphicFramePr/>
          <p:nvPr/>
        </p:nvGraphicFramePr>
        <p:xfrm>
          <a:off x="566928" y="2084832"/>
          <a:ext cx="2615184"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3310128" y="1828800"/>
            <a:ext cx="2651760" cy="2816352"/>
          </a:xfrm>
          <a:prstGeom prst="rect">
            <a:avLst/>
          </a:prstGeom>
          <a:solidFill>
            <a:srgbClr val="FFFFFF"/>
          </a:solidFill>
          <a:ln w="12700">
            <a:solidFill>
              <a:srgbClr val="EDEBE9"/>
            </a:solidFill>
            <a:prstDash val="solid"/>
          </a:ln>
        </p:spPr>
        <p:txBody>
          <a:bodyPr/>
          <a:lstStyle/>
          <a:p>
            <a:endParaRPr lang="en-US"/>
          </a:p>
        </p:txBody>
      </p:sp>
      <p:sp>
        <p:nvSpPr>
          <p:cNvPr id="14" name="Text 11"/>
          <p:cNvSpPr/>
          <p:nvPr/>
        </p:nvSpPr>
        <p:spPr>
          <a:xfrm>
            <a:off x="3419856" y="1883664"/>
            <a:ext cx="2432304"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Churned Accounts by Plan Tier</a:t>
            </a:r>
            <a:endParaRPr lang="en-US" sz="800" dirty="0"/>
          </a:p>
        </p:txBody>
      </p:sp>
      <p:graphicFrame>
        <p:nvGraphicFramePr>
          <p:cNvPr id="15" name="Chart 1"/>
          <p:cNvGraphicFramePr/>
          <p:nvPr/>
        </p:nvGraphicFramePr>
        <p:xfrm>
          <a:off x="3328416" y="2084832"/>
          <a:ext cx="2615184" cy="2157984"/>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 12"/>
          <p:cNvSpPr/>
          <p:nvPr/>
        </p:nvSpPr>
        <p:spPr>
          <a:xfrm>
            <a:off x="3419856" y="4308135"/>
            <a:ext cx="2432304" cy="256032"/>
          </a:xfrm>
          <a:prstGeom prst="rect">
            <a:avLst/>
          </a:prstGeom>
          <a:noFill/>
          <a:ln/>
        </p:spPr>
        <p:txBody>
          <a:bodyPr wrap="square" lIns="0" tIns="0" rIns="0" bIns="0" rtlCol="0" anchor="ctr"/>
          <a:lstStyle/>
          <a:p>
            <a:pPr marL="0" indent="0" algn="ctr">
              <a:buNone/>
            </a:pPr>
            <a:r>
              <a:rPr lang="en-US" sz="650" i="1" dirty="0">
                <a:solidFill>
                  <a:srgbClr val="757575"/>
                </a:solidFill>
                <a:latin typeface="Calibri" pitchFamily="34" charset="0"/>
                <a:ea typeface="Calibri" pitchFamily="34" charset="-122"/>
                <a:cs typeface="Calibri" pitchFamily="34" charset="-120"/>
              </a:rPr>
              <a:t>All three tiers churn at nearly equal rates, plan level is not a retention predictor</a:t>
            </a:r>
            <a:endParaRPr lang="en-US" sz="650" dirty="0"/>
          </a:p>
        </p:txBody>
      </p:sp>
      <p:sp>
        <p:nvSpPr>
          <p:cNvPr id="17" name="Shape 13"/>
          <p:cNvSpPr/>
          <p:nvPr/>
        </p:nvSpPr>
        <p:spPr>
          <a:xfrm>
            <a:off x="6071616" y="1828800"/>
            <a:ext cx="2523744" cy="2816352"/>
          </a:xfrm>
          <a:prstGeom prst="rect">
            <a:avLst/>
          </a:prstGeom>
          <a:solidFill>
            <a:srgbClr val="FFFFFF"/>
          </a:solidFill>
          <a:ln w="12700">
            <a:solidFill>
              <a:srgbClr val="EDEBE9"/>
            </a:solidFill>
            <a:prstDash val="solid"/>
          </a:ln>
        </p:spPr>
        <p:txBody>
          <a:bodyPr/>
          <a:lstStyle/>
          <a:p>
            <a:endParaRPr lang="en-US" dirty="0"/>
          </a:p>
        </p:txBody>
      </p:sp>
      <p:sp>
        <p:nvSpPr>
          <p:cNvPr id="18" name="Text 14"/>
          <p:cNvSpPr/>
          <p:nvPr/>
        </p:nvSpPr>
        <p:spPr>
          <a:xfrm>
            <a:off x="6181344" y="1883664"/>
            <a:ext cx="2304288" cy="201168"/>
          </a:xfrm>
          <a:prstGeom prst="rect">
            <a:avLst/>
          </a:prstGeom>
          <a:noFill/>
          <a:ln/>
        </p:spPr>
        <p:txBody>
          <a:bodyPr wrap="square" lIns="0" tIns="0" rIns="0" bIns="0" rtlCol="0" anchor="ctr"/>
          <a:lstStyle/>
          <a:p>
            <a:pPr marL="0" indent="0">
              <a:buNone/>
            </a:pPr>
            <a:r>
              <a:rPr lang="en-US" sz="800" b="1" dirty="0">
                <a:solidFill>
                  <a:srgbClr val="252423"/>
                </a:solidFill>
                <a:latin typeface="Calibri" pitchFamily="34" charset="0"/>
                <a:ea typeface="Calibri" pitchFamily="34" charset="-122"/>
                <a:cs typeface="Calibri" pitchFamily="34" charset="-120"/>
              </a:rPr>
              <a:t>Churn Rate by Referral Source (%)</a:t>
            </a:r>
            <a:endParaRPr lang="en-US" sz="800" dirty="0"/>
          </a:p>
        </p:txBody>
      </p:sp>
      <p:graphicFrame>
        <p:nvGraphicFramePr>
          <p:cNvPr id="19" name="Chart 2"/>
          <p:cNvGraphicFramePr/>
          <p:nvPr/>
        </p:nvGraphicFramePr>
        <p:xfrm>
          <a:off x="6089904" y="2084832"/>
          <a:ext cx="2487168" cy="2212848"/>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 15"/>
          <p:cNvSpPr/>
          <p:nvPr/>
        </p:nvSpPr>
        <p:spPr>
          <a:xfrm>
            <a:off x="6089904" y="4342095"/>
            <a:ext cx="2487168" cy="182880"/>
          </a:xfrm>
          <a:prstGeom prst="rect">
            <a:avLst/>
          </a:prstGeom>
          <a:noFill/>
          <a:ln/>
        </p:spPr>
        <p:txBody>
          <a:bodyPr wrap="square" lIns="0" tIns="0" rIns="0" bIns="0" rtlCol="0" anchor="ctr"/>
          <a:lstStyle/>
          <a:p>
            <a:pPr marL="0" indent="0" algn="ctr">
              <a:buNone/>
            </a:pPr>
            <a:r>
              <a:rPr lang="en-US" sz="650" i="1" dirty="0">
                <a:solidFill>
                  <a:srgbClr val="757575"/>
                </a:solidFill>
                <a:latin typeface="Calibri" pitchFamily="34" charset="0"/>
                <a:ea typeface="Calibri" pitchFamily="34" charset="-122"/>
                <a:cs typeface="Calibri" pitchFamily="34" charset="-120"/>
              </a:rPr>
              <a:t>Event-acquired customers churn most, organic customers are most committed</a:t>
            </a:r>
            <a:endParaRPr lang="en-US" sz="650" dirty="0"/>
          </a:p>
        </p:txBody>
      </p:sp>
      <p:sp>
        <p:nvSpPr>
          <p:cNvPr id="21" name="Shape 16"/>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22" name="Text 17"/>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23" name="Text 18"/>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Descriptive Analytics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DESCRIPTIVE ANALYTICS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Key Findings from Phase A</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Five findings from the descriptive analysis that shaped the predictive model</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36192"/>
            <a:ext cx="3858768"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36192"/>
            <a:ext cx="3858768" cy="36576"/>
          </a:xfrm>
          <a:prstGeom prst="rect">
            <a:avLst/>
          </a:prstGeom>
          <a:solidFill>
            <a:srgbClr val="66BB6A"/>
          </a:solidFill>
          <a:ln w="12700">
            <a:solidFill>
              <a:srgbClr val="66BB6A"/>
            </a:solidFill>
            <a:prstDash val="solid"/>
          </a:ln>
        </p:spPr>
        <p:txBody>
          <a:bodyPr/>
          <a:lstStyle/>
          <a:p>
            <a:endParaRPr lang="en-US"/>
          </a:p>
        </p:txBody>
      </p:sp>
      <p:sp>
        <p:nvSpPr>
          <p:cNvPr id="9" name="Text 7"/>
          <p:cNvSpPr/>
          <p:nvPr/>
        </p:nvSpPr>
        <p:spPr>
          <a:xfrm>
            <a:off x="548640" y="1627632"/>
            <a:ext cx="3675888"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Industry vertical is a primary risk differentiator</a:t>
            </a:r>
            <a:endParaRPr lang="en-US" sz="900" dirty="0"/>
          </a:p>
        </p:txBody>
      </p:sp>
      <p:sp>
        <p:nvSpPr>
          <p:cNvPr id="10" name="Text 8"/>
          <p:cNvSpPr/>
          <p:nvPr/>
        </p:nvSpPr>
        <p:spPr>
          <a:xfrm>
            <a:off x="548640" y="1865376"/>
            <a:ext cx="3675888" cy="640080"/>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DevTools exhibits a 31% churn rate, nine points above the 22% mean. Product-market fit or support quality issues appear concentrated within this segment, making it the highest-priority vertical.</a:t>
            </a:r>
            <a:endParaRPr lang="en-US" sz="800" dirty="0"/>
          </a:p>
        </p:txBody>
      </p:sp>
      <p:sp>
        <p:nvSpPr>
          <p:cNvPr id="11" name="Shape 9"/>
          <p:cNvSpPr/>
          <p:nvPr/>
        </p:nvSpPr>
        <p:spPr>
          <a:xfrm>
            <a:off x="457200" y="2670048"/>
            <a:ext cx="3858768"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57200" y="2670048"/>
            <a:ext cx="3858768" cy="36576"/>
          </a:xfrm>
          <a:prstGeom prst="rect">
            <a:avLst/>
          </a:prstGeom>
          <a:solidFill>
            <a:srgbClr val="C62828"/>
          </a:solidFill>
          <a:ln w="12700">
            <a:solidFill>
              <a:srgbClr val="C62828"/>
            </a:solidFill>
            <a:prstDash val="solid"/>
          </a:ln>
        </p:spPr>
        <p:txBody>
          <a:bodyPr/>
          <a:lstStyle/>
          <a:p>
            <a:endParaRPr lang="en-US"/>
          </a:p>
        </p:txBody>
      </p:sp>
      <p:sp>
        <p:nvSpPr>
          <p:cNvPr id="13" name="Text 11"/>
          <p:cNvSpPr/>
          <p:nvPr/>
        </p:nvSpPr>
        <p:spPr>
          <a:xfrm>
            <a:off x="548640" y="2761488"/>
            <a:ext cx="3675888"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Product feature gaps drive the majority of exits</a:t>
            </a:r>
            <a:endParaRPr lang="en-US" sz="900" dirty="0"/>
          </a:p>
        </p:txBody>
      </p:sp>
      <p:sp>
        <p:nvSpPr>
          <p:cNvPr id="14" name="Text 12"/>
          <p:cNvSpPr/>
          <p:nvPr/>
        </p:nvSpPr>
        <p:spPr>
          <a:xfrm>
            <a:off x="548640" y="2999232"/>
            <a:ext cx="3675888" cy="640080"/>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Feature dissatisfaction accounts for 114 of 600 churn events — the single largest exit category. This indicates a product roadmap gap rather than a pricing or support problem.</a:t>
            </a:r>
            <a:endParaRPr lang="en-US" sz="800" dirty="0"/>
          </a:p>
        </p:txBody>
      </p:sp>
      <p:sp>
        <p:nvSpPr>
          <p:cNvPr id="15" name="Shape 13"/>
          <p:cNvSpPr/>
          <p:nvPr/>
        </p:nvSpPr>
        <p:spPr>
          <a:xfrm>
            <a:off x="457200" y="3803904"/>
            <a:ext cx="3858768" cy="914400"/>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457200" y="3803904"/>
            <a:ext cx="3858768" cy="36576"/>
          </a:xfrm>
          <a:prstGeom prst="rect">
            <a:avLst/>
          </a:prstGeom>
          <a:solidFill>
            <a:srgbClr val="26A69A"/>
          </a:solidFill>
          <a:ln w="12700">
            <a:solidFill>
              <a:srgbClr val="26A69A"/>
            </a:solidFill>
            <a:prstDash val="solid"/>
          </a:ln>
        </p:spPr>
        <p:txBody>
          <a:bodyPr/>
          <a:lstStyle/>
          <a:p>
            <a:endParaRPr lang="en-US"/>
          </a:p>
        </p:txBody>
      </p:sp>
      <p:sp>
        <p:nvSpPr>
          <p:cNvPr id="17" name="Text 15"/>
          <p:cNvSpPr/>
          <p:nvPr/>
        </p:nvSpPr>
        <p:spPr>
          <a:xfrm>
            <a:off x="548640" y="3895344"/>
            <a:ext cx="3675888"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Plan tier has no measurable effect on retention</a:t>
            </a:r>
            <a:endParaRPr lang="en-US" sz="900" dirty="0"/>
          </a:p>
        </p:txBody>
      </p:sp>
      <p:sp>
        <p:nvSpPr>
          <p:cNvPr id="18" name="Text 16"/>
          <p:cNvSpPr/>
          <p:nvPr/>
        </p:nvSpPr>
        <p:spPr>
          <a:xfrm>
            <a:off x="548640" y="4133088"/>
            <a:ext cx="3675888" cy="640080"/>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Churn rates are statistically equivalent across Basic, Pro, and Enterprise tiers. Attrition is driven by behavioral and engagement factors, not subscription level or perceived value.</a:t>
            </a:r>
            <a:endParaRPr lang="en-US" sz="800" dirty="0"/>
          </a:p>
        </p:txBody>
      </p:sp>
      <p:sp>
        <p:nvSpPr>
          <p:cNvPr id="19" name="Shape 17"/>
          <p:cNvSpPr/>
          <p:nvPr/>
        </p:nvSpPr>
        <p:spPr>
          <a:xfrm>
            <a:off x="4480560" y="1536192"/>
            <a:ext cx="4206240"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4480560" y="1536192"/>
            <a:ext cx="4206240" cy="36576"/>
          </a:xfrm>
          <a:prstGeom prst="rect">
            <a:avLst/>
          </a:prstGeom>
          <a:solidFill>
            <a:srgbClr val="2E7D32"/>
          </a:solidFill>
          <a:ln w="12700">
            <a:solidFill>
              <a:srgbClr val="2E7D32"/>
            </a:solidFill>
            <a:prstDash val="solid"/>
          </a:ln>
        </p:spPr>
        <p:txBody>
          <a:bodyPr/>
          <a:lstStyle/>
          <a:p>
            <a:endParaRPr lang="en-US"/>
          </a:p>
        </p:txBody>
      </p:sp>
      <p:sp>
        <p:nvSpPr>
          <p:cNvPr id="21" name="Text 19"/>
          <p:cNvSpPr/>
          <p:nvPr/>
        </p:nvSpPr>
        <p:spPr>
          <a:xfrm>
            <a:off x="4572000" y="1627632"/>
            <a:ext cx="4023360"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Tenure does not predict retention</a:t>
            </a:r>
            <a:endParaRPr lang="en-US" sz="900" dirty="0"/>
          </a:p>
        </p:txBody>
      </p:sp>
      <p:sp>
        <p:nvSpPr>
          <p:cNvPr id="22" name="Text 20"/>
          <p:cNvSpPr/>
          <p:nvPr/>
        </p:nvSpPr>
        <p:spPr>
          <a:xfrm>
            <a:off x="4572000" y="1865376"/>
            <a:ext cx="4023360" cy="640080"/>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Customers with 2+ years tenure churn at comparable rates to newer cohorts. Habituation and switching-cost inertia do not provide meaningful protection against attrition.</a:t>
            </a:r>
            <a:endParaRPr lang="en-US" sz="800" dirty="0"/>
          </a:p>
        </p:txBody>
      </p:sp>
      <p:sp>
        <p:nvSpPr>
          <p:cNvPr id="23" name="Shape 21"/>
          <p:cNvSpPr/>
          <p:nvPr/>
        </p:nvSpPr>
        <p:spPr>
          <a:xfrm>
            <a:off x="4480560" y="2670048"/>
            <a:ext cx="4206240" cy="96926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4" name="Shape 22"/>
          <p:cNvSpPr/>
          <p:nvPr/>
        </p:nvSpPr>
        <p:spPr>
          <a:xfrm>
            <a:off x="4480560" y="2670048"/>
            <a:ext cx="4206240" cy="36576"/>
          </a:xfrm>
          <a:prstGeom prst="rect">
            <a:avLst/>
          </a:prstGeom>
          <a:solidFill>
            <a:srgbClr val="8BC34A"/>
          </a:solidFill>
          <a:ln w="12700">
            <a:solidFill>
              <a:srgbClr val="8BC34A"/>
            </a:solidFill>
            <a:prstDash val="solid"/>
          </a:ln>
        </p:spPr>
        <p:txBody>
          <a:bodyPr/>
          <a:lstStyle/>
          <a:p>
            <a:endParaRPr lang="en-US"/>
          </a:p>
        </p:txBody>
      </p:sp>
      <p:sp>
        <p:nvSpPr>
          <p:cNvPr id="25" name="Text 23"/>
          <p:cNvSpPr/>
          <p:nvPr/>
        </p:nvSpPr>
        <p:spPr>
          <a:xfrm>
            <a:off x="4572000" y="2761488"/>
            <a:ext cx="4023360" cy="201168"/>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Geographic segmentation reveals actionable patterns</a:t>
            </a:r>
            <a:endParaRPr lang="en-US" sz="900" dirty="0"/>
          </a:p>
        </p:txBody>
      </p:sp>
      <p:sp>
        <p:nvSpPr>
          <p:cNvPr id="26" name="Text 24"/>
          <p:cNvSpPr/>
          <p:nvPr/>
        </p:nvSpPr>
        <p:spPr>
          <a:xfrm>
            <a:off x="4572000" y="2999232"/>
            <a:ext cx="4023360" cy="640080"/>
          </a:xfrm>
          <a:prstGeom prst="rect">
            <a:avLst/>
          </a:prstGeom>
          <a:noFill/>
          <a:ln/>
        </p:spPr>
        <p:txBody>
          <a:bodyPr wrap="square" rtlCol="0" anchor="t"/>
          <a:lstStyle/>
          <a:p>
            <a:pPr marL="0" indent="0">
              <a:buNone/>
            </a:pPr>
            <a:r>
              <a:rPr lang="en-US" sz="800" dirty="0">
                <a:solidFill>
                  <a:srgbClr val="263238"/>
                </a:solidFill>
                <a:latin typeface="Calibri" pitchFamily="34" charset="0"/>
                <a:ea typeface="Calibri" pitchFamily="34" charset="-122"/>
                <a:cs typeface="Calibri" pitchFamily="34" charset="-120"/>
              </a:rPr>
              <a:t>Australian accounts show the strongest retention signal in the dataset. German accounts show the highest churn propensity. These patterns are consistent and support regional CS strategy.</a:t>
            </a:r>
            <a:endParaRPr lang="en-US" sz="800" dirty="0"/>
          </a:p>
        </p:txBody>
      </p:sp>
      <p:sp>
        <p:nvSpPr>
          <p:cNvPr id="27" name="Shape 25"/>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28" name="Text 26"/>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29" name="Text 27"/>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Descriptive Analytics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PREDICTIVE ANALYTICS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Phase B: Logistic Regression Model</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Python  ·  scikit-learn  ·  OneHotEncoder pipeline  ·  Stratified 70/30 split  ·  class_weight = balanced</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36192"/>
            <a:ext cx="1920240" cy="87782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36192"/>
            <a:ext cx="1920240" cy="36576"/>
          </a:xfrm>
          <a:prstGeom prst="rect">
            <a:avLst/>
          </a:prstGeom>
          <a:solidFill>
            <a:srgbClr val="2E7D32"/>
          </a:solidFill>
          <a:ln w="12700">
            <a:solidFill>
              <a:srgbClr val="2E7D32"/>
            </a:solidFill>
            <a:prstDash val="solid"/>
          </a:ln>
        </p:spPr>
        <p:txBody>
          <a:bodyPr/>
          <a:lstStyle/>
          <a:p>
            <a:endParaRPr lang="en-US"/>
          </a:p>
        </p:txBody>
      </p:sp>
      <p:sp>
        <p:nvSpPr>
          <p:cNvPr id="9" name="Text 7"/>
          <p:cNvSpPr/>
          <p:nvPr/>
        </p:nvSpPr>
        <p:spPr>
          <a:xfrm>
            <a:off x="457200" y="1609344"/>
            <a:ext cx="1920240" cy="420624"/>
          </a:xfrm>
          <a:prstGeom prst="rect">
            <a:avLst/>
          </a:prstGeom>
          <a:noFill/>
          <a:ln/>
        </p:spPr>
        <p:txBody>
          <a:bodyPr wrap="square" lIns="0" tIns="0" rIns="0" bIns="0" rtlCol="0" anchor="ctr"/>
          <a:lstStyle/>
          <a:p>
            <a:pPr marL="0" indent="0" algn="ctr">
              <a:buNone/>
            </a:pPr>
            <a:r>
              <a:rPr lang="en-US" sz="2600" b="1" dirty="0">
                <a:solidFill>
                  <a:srgbClr val="2E7D32"/>
                </a:solidFill>
                <a:latin typeface="Calibri" pitchFamily="34" charset="0"/>
                <a:ea typeface="Calibri" pitchFamily="34" charset="-122"/>
                <a:cs typeface="Calibri" pitchFamily="34" charset="-120"/>
              </a:rPr>
              <a:t>59%</a:t>
            </a:r>
            <a:endParaRPr lang="en-US" sz="2600" dirty="0"/>
          </a:p>
        </p:txBody>
      </p:sp>
      <p:sp>
        <p:nvSpPr>
          <p:cNvPr id="10" name="Text 8"/>
          <p:cNvSpPr/>
          <p:nvPr/>
        </p:nvSpPr>
        <p:spPr>
          <a:xfrm>
            <a:off x="530352" y="2029968"/>
            <a:ext cx="1773936"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Overall Accuracy</a:t>
            </a:r>
            <a:endParaRPr lang="en-US" sz="850" dirty="0"/>
          </a:p>
        </p:txBody>
      </p:sp>
      <p:sp>
        <p:nvSpPr>
          <p:cNvPr id="11" name="Shape 9"/>
          <p:cNvSpPr/>
          <p:nvPr/>
        </p:nvSpPr>
        <p:spPr>
          <a:xfrm>
            <a:off x="2542032" y="1536192"/>
            <a:ext cx="1920240" cy="87782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2542032" y="1536192"/>
            <a:ext cx="1920240" cy="36576"/>
          </a:xfrm>
          <a:prstGeom prst="rect">
            <a:avLst/>
          </a:prstGeom>
          <a:solidFill>
            <a:srgbClr val="1B5E20"/>
          </a:solidFill>
          <a:ln w="12700">
            <a:solidFill>
              <a:srgbClr val="1B5E20"/>
            </a:solidFill>
            <a:prstDash val="solid"/>
          </a:ln>
        </p:spPr>
        <p:txBody>
          <a:bodyPr/>
          <a:lstStyle/>
          <a:p>
            <a:endParaRPr lang="en-US"/>
          </a:p>
        </p:txBody>
      </p:sp>
      <p:sp>
        <p:nvSpPr>
          <p:cNvPr id="13" name="Text 11"/>
          <p:cNvSpPr/>
          <p:nvPr/>
        </p:nvSpPr>
        <p:spPr>
          <a:xfrm>
            <a:off x="2542032" y="1609344"/>
            <a:ext cx="1920240" cy="420624"/>
          </a:xfrm>
          <a:prstGeom prst="rect">
            <a:avLst/>
          </a:prstGeom>
          <a:noFill/>
          <a:ln/>
        </p:spPr>
        <p:txBody>
          <a:bodyPr wrap="square" lIns="0" tIns="0" rIns="0" bIns="0" rtlCol="0" anchor="ctr"/>
          <a:lstStyle/>
          <a:p>
            <a:pPr marL="0" indent="0" algn="ctr">
              <a:buNone/>
            </a:pPr>
            <a:r>
              <a:rPr lang="en-US" sz="2600" b="1" dirty="0">
                <a:solidFill>
                  <a:srgbClr val="1B5E20"/>
                </a:solidFill>
                <a:latin typeface="Calibri" pitchFamily="34" charset="0"/>
                <a:ea typeface="Calibri" pitchFamily="34" charset="-122"/>
                <a:cs typeface="Calibri" pitchFamily="34" charset="-120"/>
              </a:rPr>
              <a:t>0.56</a:t>
            </a:r>
            <a:endParaRPr lang="en-US" sz="2600" dirty="0"/>
          </a:p>
        </p:txBody>
      </p:sp>
      <p:sp>
        <p:nvSpPr>
          <p:cNvPr id="14" name="Text 12"/>
          <p:cNvSpPr/>
          <p:nvPr/>
        </p:nvSpPr>
        <p:spPr>
          <a:xfrm>
            <a:off x="2615184" y="2029968"/>
            <a:ext cx="1773936"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ROC-AUC Score</a:t>
            </a:r>
            <a:endParaRPr lang="en-US" sz="850" dirty="0"/>
          </a:p>
        </p:txBody>
      </p:sp>
      <p:sp>
        <p:nvSpPr>
          <p:cNvPr id="15" name="Shape 13"/>
          <p:cNvSpPr/>
          <p:nvPr/>
        </p:nvSpPr>
        <p:spPr>
          <a:xfrm>
            <a:off x="4626864" y="1536192"/>
            <a:ext cx="1920240" cy="87782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4626864" y="1536192"/>
            <a:ext cx="1920240" cy="36576"/>
          </a:xfrm>
          <a:prstGeom prst="rect">
            <a:avLst/>
          </a:prstGeom>
          <a:solidFill>
            <a:srgbClr val="26A69A"/>
          </a:solidFill>
          <a:ln w="12700">
            <a:solidFill>
              <a:srgbClr val="26A69A"/>
            </a:solidFill>
            <a:prstDash val="solid"/>
          </a:ln>
        </p:spPr>
        <p:txBody>
          <a:bodyPr/>
          <a:lstStyle/>
          <a:p>
            <a:endParaRPr lang="en-US"/>
          </a:p>
        </p:txBody>
      </p:sp>
      <p:sp>
        <p:nvSpPr>
          <p:cNvPr id="17" name="Text 15"/>
          <p:cNvSpPr/>
          <p:nvPr/>
        </p:nvSpPr>
        <p:spPr>
          <a:xfrm>
            <a:off x="4626864" y="1609344"/>
            <a:ext cx="1920240" cy="420624"/>
          </a:xfrm>
          <a:prstGeom prst="rect">
            <a:avLst/>
          </a:prstGeom>
          <a:noFill/>
          <a:ln/>
        </p:spPr>
        <p:txBody>
          <a:bodyPr wrap="square" lIns="0" tIns="0" rIns="0" bIns="0" rtlCol="0" anchor="ctr"/>
          <a:lstStyle/>
          <a:p>
            <a:pPr marL="0" indent="0" algn="ctr">
              <a:buNone/>
            </a:pPr>
            <a:r>
              <a:rPr lang="en-US" sz="2600" b="1" dirty="0">
                <a:solidFill>
                  <a:srgbClr val="26A69A"/>
                </a:solidFill>
                <a:latin typeface="Calibri" pitchFamily="34" charset="0"/>
                <a:ea typeface="Calibri" pitchFamily="34" charset="-122"/>
                <a:cs typeface="Calibri" pitchFamily="34" charset="-120"/>
              </a:rPr>
              <a:t>48%</a:t>
            </a:r>
            <a:endParaRPr lang="en-US" sz="2600" dirty="0"/>
          </a:p>
        </p:txBody>
      </p:sp>
      <p:sp>
        <p:nvSpPr>
          <p:cNvPr id="18" name="Text 16"/>
          <p:cNvSpPr/>
          <p:nvPr/>
        </p:nvSpPr>
        <p:spPr>
          <a:xfrm>
            <a:off x="4700016" y="2029968"/>
            <a:ext cx="1773936"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Recall (Churners)</a:t>
            </a:r>
            <a:endParaRPr lang="en-US" sz="850" dirty="0"/>
          </a:p>
        </p:txBody>
      </p:sp>
      <p:sp>
        <p:nvSpPr>
          <p:cNvPr id="19" name="Shape 17"/>
          <p:cNvSpPr/>
          <p:nvPr/>
        </p:nvSpPr>
        <p:spPr>
          <a:xfrm>
            <a:off x="6711696" y="1536192"/>
            <a:ext cx="1920240" cy="877824"/>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6711696" y="1536192"/>
            <a:ext cx="1920240" cy="36576"/>
          </a:xfrm>
          <a:prstGeom prst="rect">
            <a:avLst/>
          </a:prstGeom>
          <a:solidFill>
            <a:srgbClr val="C62828"/>
          </a:solidFill>
          <a:ln w="12700">
            <a:solidFill>
              <a:srgbClr val="C62828"/>
            </a:solidFill>
            <a:prstDash val="solid"/>
          </a:ln>
        </p:spPr>
        <p:txBody>
          <a:bodyPr/>
          <a:lstStyle/>
          <a:p>
            <a:endParaRPr lang="en-US"/>
          </a:p>
        </p:txBody>
      </p:sp>
      <p:sp>
        <p:nvSpPr>
          <p:cNvPr id="21" name="Text 19"/>
          <p:cNvSpPr/>
          <p:nvPr/>
        </p:nvSpPr>
        <p:spPr>
          <a:xfrm>
            <a:off x="6711696" y="1609344"/>
            <a:ext cx="1920240" cy="420624"/>
          </a:xfrm>
          <a:prstGeom prst="rect">
            <a:avLst/>
          </a:prstGeom>
          <a:noFill/>
          <a:ln/>
        </p:spPr>
        <p:txBody>
          <a:bodyPr wrap="square" lIns="0" tIns="0" rIns="0" bIns="0" rtlCol="0" anchor="ctr"/>
          <a:lstStyle/>
          <a:p>
            <a:pPr marL="0" indent="0" algn="ctr">
              <a:buNone/>
            </a:pPr>
            <a:r>
              <a:rPr lang="en-US" sz="2600" b="1" dirty="0">
                <a:solidFill>
                  <a:srgbClr val="C62828"/>
                </a:solidFill>
                <a:latin typeface="Calibri" pitchFamily="34" charset="0"/>
                <a:ea typeface="Calibri" pitchFamily="34" charset="-122"/>
                <a:cs typeface="Calibri" pitchFamily="34" charset="-120"/>
              </a:rPr>
              <a:t>26%</a:t>
            </a:r>
            <a:endParaRPr lang="en-US" sz="2600" dirty="0"/>
          </a:p>
        </p:txBody>
      </p:sp>
      <p:sp>
        <p:nvSpPr>
          <p:cNvPr id="22" name="Text 20"/>
          <p:cNvSpPr/>
          <p:nvPr/>
        </p:nvSpPr>
        <p:spPr>
          <a:xfrm>
            <a:off x="6784848" y="2029968"/>
            <a:ext cx="1773936" cy="256032"/>
          </a:xfrm>
          <a:prstGeom prst="rect">
            <a:avLst/>
          </a:prstGeom>
          <a:noFill/>
          <a:ln/>
        </p:spPr>
        <p:txBody>
          <a:bodyPr wrap="square" rtlCol="0" anchor="ctr"/>
          <a:lstStyle/>
          <a:p>
            <a:pPr marL="0" indent="0" algn="ctr">
              <a:buNone/>
            </a:pPr>
            <a:r>
              <a:rPr lang="en-US" sz="850" dirty="0">
                <a:solidFill>
                  <a:srgbClr val="757575"/>
                </a:solidFill>
                <a:latin typeface="Calibri" pitchFamily="34" charset="0"/>
                <a:ea typeface="Calibri" pitchFamily="34" charset="-122"/>
                <a:cs typeface="Calibri" pitchFamily="34" charset="-120"/>
              </a:rPr>
              <a:t>Precision</a:t>
            </a:r>
            <a:endParaRPr lang="en-US" sz="850" dirty="0"/>
          </a:p>
        </p:txBody>
      </p:sp>
      <p:sp>
        <p:nvSpPr>
          <p:cNvPr id="23" name="Shape 21"/>
          <p:cNvSpPr/>
          <p:nvPr/>
        </p:nvSpPr>
        <p:spPr>
          <a:xfrm>
            <a:off x="457200" y="2542032"/>
            <a:ext cx="2834640" cy="2212848"/>
          </a:xfrm>
          <a:prstGeom prst="rect">
            <a:avLst/>
          </a:prstGeom>
          <a:solidFill>
            <a:srgbClr val="1B5E20"/>
          </a:solidFill>
          <a:ln w="12700">
            <a:solidFill>
              <a:srgbClr val="1B5E20"/>
            </a:solidFill>
            <a:prstDash val="solid"/>
          </a:ln>
          <a:effectLst>
            <a:outerShdw blurRad="63500" dist="25400" dir="8100000" algn="bl" rotWithShape="0">
              <a:srgbClr val="000000">
                <a:alpha val="8000"/>
              </a:srgbClr>
            </a:outerShdw>
          </a:effectLst>
        </p:spPr>
        <p:txBody>
          <a:bodyPr/>
          <a:lstStyle/>
          <a:p>
            <a:endParaRPr lang="en-US"/>
          </a:p>
        </p:txBody>
      </p:sp>
      <p:sp>
        <p:nvSpPr>
          <p:cNvPr id="24" name="Text 22"/>
          <p:cNvSpPr/>
          <p:nvPr/>
        </p:nvSpPr>
        <p:spPr>
          <a:xfrm>
            <a:off x="566928" y="2615184"/>
            <a:ext cx="2615184" cy="219456"/>
          </a:xfrm>
          <a:prstGeom prst="rect">
            <a:avLst/>
          </a:prstGeom>
          <a:noFill/>
          <a:ln/>
        </p:spPr>
        <p:txBody>
          <a:bodyPr wrap="square" lIns="0" tIns="0" rIns="0" bIns="0" rtlCol="0" anchor="ctr"/>
          <a:lstStyle/>
          <a:p>
            <a:pPr marL="0" indent="0">
              <a:buNone/>
            </a:pPr>
            <a:r>
              <a:rPr lang="en-US" sz="850" b="1" dirty="0">
                <a:solidFill>
                  <a:srgbClr val="66BB6A"/>
                </a:solidFill>
                <a:latin typeface="Calibri" pitchFamily="34" charset="0"/>
                <a:ea typeface="Calibri" pitchFamily="34" charset="-122"/>
                <a:cs typeface="Calibri" pitchFamily="34" charset="-120"/>
              </a:rPr>
              <a:t>Confusion Matrix  ·  Validation Set</a:t>
            </a:r>
            <a:endParaRPr lang="en-US" sz="850" dirty="0"/>
          </a:p>
        </p:txBody>
      </p:sp>
      <p:sp>
        <p:nvSpPr>
          <p:cNvPr id="25" name="Shape 23"/>
          <p:cNvSpPr/>
          <p:nvPr/>
        </p:nvSpPr>
        <p:spPr>
          <a:xfrm>
            <a:off x="566928" y="2944368"/>
            <a:ext cx="1207008" cy="640080"/>
          </a:xfrm>
          <a:prstGeom prst="rect">
            <a:avLst/>
          </a:prstGeom>
          <a:solidFill>
            <a:srgbClr val="2D6A4F">
              <a:alpha val="80000"/>
            </a:srgbClr>
          </a:solidFill>
          <a:ln w="12700">
            <a:solidFill>
              <a:srgbClr val="FFFFFF"/>
            </a:solidFill>
            <a:prstDash val="solid"/>
          </a:ln>
        </p:spPr>
        <p:txBody>
          <a:bodyPr/>
          <a:lstStyle/>
          <a:p>
            <a:endParaRPr lang="en-US"/>
          </a:p>
        </p:txBody>
      </p:sp>
      <p:sp>
        <p:nvSpPr>
          <p:cNvPr id="26" name="Text 24"/>
          <p:cNvSpPr/>
          <p:nvPr/>
        </p:nvSpPr>
        <p:spPr>
          <a:xfrm>
            <a:off x="566928" y="2944368"/>
            <a:ext cx="1207008" cy="640080"/>
          </a:xfrm>
          <a:prstGeom prst="rect">
            <a:avLst/>
          </a:prstGeom>
          <a:noFill/>
          <a:ln/>
        </p:spPr>
        <p:txBody>
          <a:bodyPr wrap="square" lIns="0" tIns="0" rIns="0" bIns="0" rtlCol="0" anchor="ctr"/>
          <a:lstStyle/>
          <a:p>
            <a:pPr marL="0" indent="0" algn="ctr">
              <a:buNone/>
            </a:pPr>
            <a:r>
              <a:rPr lang="en-US" sz="1300" b="1" dirty="0">
                <a:solidFill>
                  <a:srgbClr val="A5D6A7"/>
                </a:solidFill>
                <a:latin typeface="Calibri" pitchFamily="34" charset="0"/>
                <a:ea typeface="Calibri" pitchFamily="34" charset="-122"/>
                <a:cs typeface="Calibri" pitchFamily="34" charset="-120"/>
              </a:rPr>
              <a:t>TN: 56</a:t>
            </a:r>
            <a:endParaRPr lang="en-US" sz="1300" dirty="0"/>
          </a:p>
        </p:txBody>
      </p:sp>
      <p:sp>
        <p:nvSpPr>
          <p:cNvPr id="27" name="Shape 25"/>
          <p:cNvSpPr/>
          <p:nvPr/>
        </p:nvSpPr>
        <p:spPr>
          <a:xfrm>
            <a:off x="1865376" y="2944368"/>
            <a:ext cx="1207008" cy="640080"/>
          </a:xfrm>
          <a:prstGeom prst="rect">
            <a:avLst/>
          </a:prstGeom>
          <a:solidFill>
            <a:srgbClr val="C62828">
              <a:alpha val="28000"/>
            </a:srgbClr>
          </a:solidFill>
          <a:ln w="12700">
            <a:solidFill>
              <a:srgbClr val="FFFFFF"/>
            </a:solidFill>
            <a:prstDash val="solid"/>
          </a:ln>
        </p:spPr>
        <p:txBody>
          <a:bodyPr/>
          <a:lstStyle/>
          <a:p>
            <a:endParaRPr lang="en-US"/>
          </a:p>
        </p:txBody>
      </p:sp>
      <p:sp>
        <p:nvSpPr>
          <p:cNvPr id="28" name="Text 26"/>
          <p:cNvSpPr/>
          <p:nvPr/>
        </p:nvSpPr>
        <p:spPr>
          <a:xfrm>
            <a:off x="1865376" y="2944368"/>
            <a:ext cx="1207008" cy="640080"/>
          </a:xfrm>
          <a:prstGeom prst="rect">
            <a:avLst/>
          </a:prstGeom>
          <a:noFill/>
          <a:ln/>
        </p:spPr>
        <p:txBody>
          <a:bodyPr wrap="square" lIns="0" tIns="0" rIns="0" bIns="0" rtlCol="0" anchor="ctr"/>
          <a:lstStyle/>
          <a:p>
            <a:pPr marL="0" indent="0" algn="ctr">
              <a:buNone/>
            </a:pPr>
            <a:r>
              <a:rPr lang="en-US" sz="1300" b="1" dirty="0">
                <a:solidFill>
                  <a:srgbClr val="FFCDD2"/>
                </a:solidFill>
                <a:latin typeface="Calibri" pitchFamily="34" charset="0"/>
                <a:ea typeface="Calibri" pitchFamily="34" charset="-122"/>
                <a:cs typeface="Calibri" pitchFamily="34" charset="-120"/>
              </a:rPr>
              <a:t>FP: 61</a:t>
            </a:r>
            <a:endParaRPr lang="en-US" sz="1300" dirty="0"/>
          </a:p>
        </p:txBody>
      </p:sp>
      <p:sp>
        <p:nvSpPr>
          <p:cNvPr id="29" name="Shape 27"/>
          <p:cNvSpPr/>
          <p:nvPr/>
        </p:nvSpPr>
        <p:spPr>
          <a:xfrm>
            <a:off x="566928" y="3675888"/>
            <a:ext cx="1207008" cy="640080"/>
          </a:xfrm>
          <a:prstGeom prst="rect">
            <a:avLst/>
          </a:prstGeom>
          <a:solidFill>
            <a:srgbClr val="C62828">
              <a:alpha val="28000"/>
            </a:srgbClr>
          </a:solidFill>
          <a:ln w="12700">
            <a:solidFill>
              <a:srgbClr val="FFFFFF"/>
            </a:solidFill>
            <a:prstDash val="solid"/>
          </a:ln>
        </p:spPr>
        <p:txBody>
          <a:bodyPr/>
          <a:lstStyle/>
          <a:p>
            <a:endParaRPr lang="en-US"/>
          </a:p>
        </p:txBody>
      </p:sp>
      <p:sp>
        <p:nvSpPr>
          <p:cNvPr id="30" name="Text 28"/>
          <p:cNvSpPr/>
          <p:nvPr/>
        </p:nvSpPr>
        <p:spPr>
          <a:xfrm>
            <a:off x="566928" y="3675888"/>
            <a:ext cx="1207008" cy="640080"/>
          </a:xfrm>
          <a:prstGeom prst="rect">
            <a:avLst/>
          </a:prstGeom>
          <a:noFill/>
          <a:ln/>
        </p:spPr>
        <p:txBody>
          <a:bodyPr wrap="square" lIns="0" tIns="0" rIns="0" bIns="0" rtlCol="0" anchor="ctr"/>
          <a:lstStyle/>
          <a:p>
            <a:pPr marL="0" indent="0" algn="ctr">
              <a:buNone/>
            </a:pPr>
            <a:r>
              <a:rPr lang="en-US" sz="1300" b="1" dirty="0">
                <a:solidFill>
                  <a:srgbClr val="FFCDD2"/>
                </a:solidFill>
                <a:latin typeface="Calibri" pitchFamily="34" charset="0"/>
                <a:ea typeface="Calibri" pitchFamily="34" charset="-122"/>
                <a:cs typeface="Calibri" pitchFamily="34" charset="-120"/>
              </a:rPr>
              <a:t>FN: 17</a:t>
            </a:r>
            <a:endParaRPr lang="en-US" sz="1300" dirty="0"/>
          </a:p>
        </p:txBody>
      </p:sp>
      <p:sp>
        <p:nvSpPr>
          <p:cNvPr id="31" name="Shape 29"/>
          <p:cNvSpPr/>
          <p:nvPr/>
        </p:nvSpPr>
        <p:spPr>
          <a:xfrm>
            <a:off x="1865376" y="3675888"/>
            <a:ext cx="1207008" cy="640080"/>
          </a:xfrm>
          <a:prstGeom prst="rect">
            <a:avLst/>
          </a:prstGeom>
          <a:solidFill>
            <a:srgbClr val="2D6A4F">
              <a:alpha val="80000"/>
            </a:srgbClr>
          </a:solidFill>
          <a:ln w="12700">
            <a:solidFill>
              <a:srgbClr val="FFFFFF"/>
            </a:solidFill>
            <a:prstDash val="solid"/>
          </a:ln>
        </p:spPr>
        <p:txBody>
          <a:bodyPr/>
          <a:lstStyle/>
          <a:p>
            <a:endParaRPr lang="en-US"/>
          </a:p>
        </p:txBody>
      </p:sp>
      <p:sp>
        <p:nvSpPr>
          <p:cNvPr id="32" name="Text 30"/>
          <p:cNvSpPr/>
          <p:nvPr/>
        </p:nvSpPr>
        <p:spPr>
          <a:xfrm>
            <a:off x="1865376" y="3675888"/>
            <a:ext cx="1207008" cy="640080"/>
          </a:xfrm>
          <a:prstGeom prst="rect">
            <a:avLst/>
          </a:prstGeom>
          <a:noFill/>
          <a:ln/>
        </p:spPr>
        <p:txBody>
          <a:bodyPr wrap="square" lIns="0" tIns="0" rIns="0" bIns="0" rtlCol="0" anchor="ctr"/>
          <a:lstStyle/>
          <a:p>
            <a:pPr marL="0" indent="0" algn="ctr">
              <a:buNone/>
            </a:pPr>
            <a:r>
              <a:rPr lang="en-US" sz="1300" b="1" dirty="0">
                <a:solidFill>
                  <a:srgbClr val="A5D6A7"/>
                </a:solidFill>
                <a:latin typeface="Calibri" pitchFamily="34" charset="0"/>
                <a:ea typeface="Calibri" pitchFamily="34" charset="-122"/>
                <a:cs typeface="Calibri" pitchFamily="34" charset="-120"/>
              </a:rPr>
              <a:t>TP: 16</a:t>
            </a:r>
            <a:endParaRPr lang="en-US" sz="1300" dirty="0"/>
          </a:p>
        </p:txBody>
      </p:sp>
      <p:sp>
        <p:nvSpPr>
          <p:cNvPr id="33" name="Text 31"/>
          <p:cNvSpPr/>
          <p:nvPr/>
        </p:nvSpPr>
        <p:spPr>
          <a:xfrm>
            <a:off x="566928" y="4535424"/>
            <a:ext cx="1207008" cy="164592"/>
          </a:xfrm>
          <a:prstGeom prst="rect">
            <a:avLst/>
          </a:prstGeom>
          <a:noFill/>
          <a:ln/>
        </p:spPr>
        <p:txBody>
          <a:bodyPr wrap="square" lIns="0" tIns="0" rIns="0" bIns="0" rtlCol="0" anchor="ctr"/>
          <a:lstStyle/>
          <a:p>
            <a:pPr marL="0" indent="0" algn="ctr">
              <a:buNone/>
            </a:pPr>
            <a:r>
              <a:rPr lang="en-US" sz="650" dirty="0">
                <a:solidFill>
                  <a:srgbClr val="A5D6A7"/>
                </a:solidFill>
                <a:latin typeface="Calibri" pitchFamily="34" charset="0"/>
                <a:ea typeface="Calibri" pitchFamily="34" charset="-122"/>
                <a:cs typeface="Calibri" pitchFamily="34" charset="-120"/>
              </a:rPr>
              <a:t>Predicted: Retained</a:t>
            </a:r>
            <a:endParaRPr lang="en-US" sz="650" dirty="0"/>
          </a:p>
        </p:txBody>
      </p:sp>
      <p:sp>
        <p:nvSpPr>
          <p:cNvPr id="34" name="Text 32"/>
          <p:cNvSpPr/>
          <p:nvPr/>
        </p:nvSpPr>
        <p:spPr>
          <a:xfrm>
            <a:off x="1865376" y="4535424"/>
            <a:ext cx="1207008" cy="164592"/>
          </a:xfrm>
          <a:prstGeom prst="rect">
            <a:avLst/>
          </a:prstGeom>
          <a:noFill/>
          <a:ln/>
        </p:spPr>
        <p:txBody>
          <a:bodyPr wrap="square" lIns="0" tIns="0" rIns="0" bIns="0" rtlCol="0" anchor="ctr"/>
          <a:lstStyle/>
          <a:p>
            <a:pPr marL="0" indent="0" algn="ctr">
              <a:buNone/>
            </a:pPr>
            <a:r>
              <a:rPr lang="en-US" sz="650" dirty="0">
                <a:solidFill>
                  <a:srgbClr val="A5D6A7"/>
                </a:solidFill>
                <a:latin typeface="Calibri" pitchFamily="34" charset="0"/>
                <a:ea typeface="Calibri" pitchFamily="34" charset="-122"/>
                <a:cs typeface="Calibri" pitchFamily="34" charset="-120"/>
              </a:rPr>
              <a:t>Predicted: Churned</a:t>
            </a:r>
            <a:endParaRPr lang="en-US" sz="650" dirty="0"/>
          </a:p>
        </p:txBody>
      </p:sp>
      <p:sp>
        <p:nvSpPr>
          <p:cNvPr id="35" name="Shape 33"/>
          <p:cNvSpPr/>
          <p:nvPr/>
        </p:nvSpPr>
        <p:spPr>
          <a:xfrm>
            <a:off x="3474720" y="2542032"/>
            <a:ext cx="2633472" cy="2212848"/>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36" name="Shape 34"/>
          <p:cNvSpPr/>
          <p:nvPr/>
        </p:nvSpPr>
        <p:spPr>
          <a:xfrm>
            <a:off x="3474720" y="2542032"/>
            <a:ext cx="36576" cy="2212848"/>
          </a:xfrm>
          <a:prstGeom prst="rect">
            <a:avLst/>
          </a:prstGeom>
          <a:solidFill>
            <a:srgbClr val="26A69A"/>
          </a:solidFill>
          <a:ln w="12700">
            <a:solidFill>
              <a:srgbClr val="26A69A"/>
            </a:solidFill>
            <a:prstDash val="solid"/>
          </a:ln>
        </p:spPr>
        <p:txBody>
          <a:bodyPr/>
          <a:lstStyle/>
          <a:p>
            <a:endParaRPr lang="en-US"/>
          </a:p>
        </p:txBody>
      </p:sp>
      <p:sp>
        <p:nvSpPr>
          <p:cNvPr id="37" name="Text 35"/>
          <p:cNvSpPr/>
          <p:nvPr/>
        </p:nvSpPr>
        <p:spPr>
          <a:xfrm>
            <a:off x="3611880" y="2633472"/>
            <a:ext cx="2377440" cy="219456"/>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ROC Curve  ·  AUC = 0.56</a:t>
            </a:r>
            <a:endParaRPr lang="en-US" sz="900" dirty="0"/>
          </a:p>
        </p:txBody>
      </p:sp>
      <p:sp>
        <p:nvSpPr>
          <p:cNvPr id="38" name="Text 36"/>
          <p:cNvSpPr/>
          <p:nvPr/>
        </p:nvSpPr>
        <p:spPr>
          <a:xfrm>
            <a:off x="3611880" y="2907792"/>
            <a:ext cx="2377440" cy="1737360"/>
          </a:xfrm>
          <a:prstGeom prst="rect">
            <a:avLst/>
          </a:prstGeom>
          <a:noFill/>
          <a:ln/>
        </p:spPr>
        <p:txBody>
          <a:bodyPr wrap="square" rtlCol="0" anchor="t"/>
          <a:lstStyle/>
          <a:p>
            <a:pPr marL="0" indent="0">
              <a:buNone/>
            </a:pPr>
            <a:r>
              <a:rPr lang="en-US" sz="1000" dirty="0">
                <a:solidFill>
                  <a:srgbClr val="263238"/>
                </a:solidFill>
                <a:latin typeface="Calibri" pitchFamily="34" charset="0"/>
                <a:ea typeface="Calibri" pitchFamily="34" charset="-122"/>
                <a:cs typeface="Calibri" pitchFamily="34" charset="-120"/>
              </a:rPr>
              <a:t>A ROC-AUC of 0.56 indicates discrimination between churners and retained customers at a rate modestly above random chance (0.50). This is consistent with the attenuated behavioral patterns inherent in synthetic data. In a production environment with richer behavioral signals, AUC would be expected to improve substantially.</a:t>
            </a:r>
            <a:endParaRPr lang="en-US" sz="1000" dirty="0"/>
          </a:p>
        </p:txBody>
      </p:sp>
      <p:sp>
        <p:nvSpPr>
          <p:cNvPr id="39" name="Shape 37"/>
          <p:cNvSpPr/>
          <p:nvPr/>
        </p:nvSpPr>
        <p:spPr>
          <a:xfrm>
            <a:off x="6291072" y="2542032"/>
            <a:ext cx="2395728" cy="2212848"/>
          </a:xfrm>
          <a:prstGeom prst="rect">
            <a:avLst/>
          </a:prstGeom>
          <a:solidFill>
            <a:srgbClr val="1B5E20"/>
          </a:solidFill>
          <a:ln w="12700">
            <a:solidFill>
              <a:srgbClr val="1B5E20"/>
            </a:solidFill>
            <a:prstDash val="solid"/>
          </a:ln>
          <a:effectLst>
            <a:outerShdw blurRad="63500" dist="25400" dir="8100000" algn="bl" rotWithShape="0">
              <a:srgbClr val="000000">
                <a:alpha val="8000"/>
              </a:srgbClr>
            </a:outerShdw>
          </a:effectLst>
        </p:spPr>
        <p:txBody>
          <a:bodyPr/>
          <a:lstStyle/>
          <a:p>
            <a:endParaRPr lang="en-US"/>
          </a:p>
        </p:txBody>
      </p:sp>
      <p:sp>
        <p:nvSpPr>
          <p:cNvPr id="40" name="Text 38"/>
          <p:cNvSpPr/>
          <p:nvPr/>
        </p:nvSpPr>
        <p:spPr>
          <a:xfrm>
            <a:off x="6400800" y="2633472"/>
            <a:ext cx="2176272" cy="237744"/>
          </a:xfrm>
          <a:prstGeom prst="rect">
            <a:avLst/>
          </a:prstGeom>
          <a:noFill/>
          <a:ln/>
        </p:spPr>
        <p:txBody>
          <a:bodyPr wrap="square" lIns="0" tIns="0" rIns="0" bIns="0" rtlCol="0" anchor="ctr"/>
          <a:lstStyle/>
          <a:p>
            <a:pPr marL="0" indent="0">
              <a:buNone/>
            </a:pPr>
            <a:r>
              <a:rPr lang="en-US" sz="950" b="1" dirty="0">
                <a:solidFill>
                  <a:srgbClr val="66BB6A"/>
                </a:solidFill>
                <a:latin typeface="Calibri" pitchFamily="34" charset="0"/>
                <a:ea typeface="Calibri" pitchFamily="34" charset="-122"/>
                <a:cs typeface="Calibri" pitchFamily="34" charset="-120"/>
              </a:rPr>
              <a:t>Model Interpretation</a:t>
            </a:r>
            <a:endParaRPr lang="en-US" sz="950" dirty="0"/>
          </a:p>
        </p:txBody>
      </p:sp>
      <p:sp>
        <p:nvSpPr>
          <p:cNvPr id="42" name="Text 40"/>
          <p:cNvSpPr/>
          <p:nvPr/>
        </p:nvSpPr>
        <p:spPr>
          <a:xfrm>
            <a:off x="6291072" y="2962656"/>
            <a:ext cx="2176272" cy="1719072"/>
          </a:xfrm>
          <a:prstGeom prst="rect">
            <a:avLst/>
          </a:prstGeom>
          <a:noFill/>
          <a:ln/>
        </p:spPr>
        <p:txBody>
          <a:bodyPr wrap="square" rtlCol="0" anchor="t"/>
          <a:lstStyle/>
          <a:p>
            <a:pPr marL="171450" indent="-171450">
              <a:buSzPct val="100000"/>
              <a:buFont typeface="Arial" panose="020B0604020202020204" pitchFamily="34" charset="0"/>
              <a:buChar char="•"/>
            </a:pPr>
            <a:r>
              <a:rPr lang="en-US" sz="900" dirty="0">
                <a:solidFill>
                  <a:srgbClr val="C8E6C9"/>
                </a:solidFill>
                <a:latin typeface="Calibri" pitchFamily="34" charset="0"/>
                <a:ea typeface="Calibri" pitchFamily="34" charset="-122"/>
                <a:cs typeface="Calibri" pitchFamily="34" charset="-120"/>
              </a:rPr>
              <a:t>A naive classifier predicting retention for all accounts achieves 78% accuracy, context makes 59% meaningful</a:t>
            </a:r>
            <a:endParaRPr lang="en-US" sz="900" dirty="0"/>
          </a:p>
          <a:p>
            <a:pPr marL="171450" indent="-171450">
              <a:buSzPct val="100000"/>
              <a:buFont typeface="Arial" panose="020B0604020202020204" pitchFamily="34" charset="0"/>
              <a:buChar char="•"/>
            </a:pPr>
            <a:r>
              <a:rPr lang="en-US" sz="900" dirty="0">
                <a:solidFill>
                  <a:srgbClr val="C8E6C9"/>
                </a:solidFill>
                <a:latin typeface="Calibri" pitchFamily="34" charset="0"/>
                <a:ea typeface="Calibri" pitchFamily="34" charset="-122"/>
                <a:cs typeface="Calibri" pitchFamily="34" charset="-120"/>
              </a:rPr>
              <a:t>Recall of 48% means nearly half of churning accounts are correctly flagged before exit, the revenue-relevant metric</a:t>
            </a:r>
            <a:endParaRPr lang="en-US" sz="900" dirty="0"/>
          </a:p>
          <a:p>
            <a:pPr marL="171450" indent="-171450">
              <a:buSzPct val="100000"/>
              <a:buFont typeface="Arial" panose="020B0604020202020204" pitchFamily="34" charset="0"/>
              <a:buChar char="•"/>
            </a:pPr>
            <a:r>
              <a:rPr lang="en-US" sz="900" dirty="0">
                <a:solidFill>
                  <a:srgbClr val="C8E6C9"/>
                </a:solidFill>
                <a:latin typeface="Calibri" pitchFamily="34" charset="0"/>
                <a:ea typeface="Calibri" pitchFamily="34" charset="-122"/>
                <a:cs typeface="Calibri" pitchFamily="34" charset="-120"/>
              </a:rPr>
              <a:t>The coefficient analysis on the next slide is the primary analytical output of Phase B</a:t>
            </a:r>
            <a:endParaRPr lang="en-US" sz="900" dirty="0"/>
          </a:p>
        </p:txBody>
      </p:sp>
      <p:sp>
        <p:nvSpPr>
          <p:cNvPr id="43" name="Shape 41"/>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44" name="Text 42"/>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45" name="Text 43"/>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Predictive Analytics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6692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Logistic Regression: Coefficient Analysis</a:t>
            </a:r>
            <a:endParaRPr lang="en-US" sz="2400" dirty="0"/>
          </a:p>
        </p:txBody>
      </p:sp>
      <p:sp>
        <p:nvSpPr>
          <p:cNvPr id="3" name="Text 1"/>
          <p:cNvSpPr/>
          <p:nvPr/>
        </p:nvSpPr>
        <p:spPr>
          <a:xfrm>
            <a:off x="457200" y="822960"/>
            <a:ext cx="8229600" cy="237744"/>
          </a:xfrm>
          <a:prstGeom prst="rect">
            <a:avLst/>
          </a:prstGeom>
          <a:noFill/>
          <a:ln/>
        </p:spPr>
        <p:txBody>
          <a:bodyPr wrap="square" lIns="0" tIns="0" rIns="0" bIns="0" rtlCol="0" anchor="ctr"/>
          <a:lstStyle/>
          <a:p>
            <a:pPr marL="0" indent="0">
              <a:buNone/>
            </a:pPr>
            <a:r>
              <a:rPr lang="en-US" sz="1000" i="1" dirty="0">
                <a:solidFill>
                  <a:srgbClr val="A5D6A7"/>
                </a:solidFill>
                <a:latin typeface="Calibri" pitchFamily="34" charset="0"/>
                <a:ea typeface="Calibri" pitchFamily="34" charset="-122"/>
                <a:cs typeface="Calibri" pitchFamily="34" charset="-120"/>
              </a:rPr>
              <a:t>Churn risk factors and retention factors ranked by coefficient magnitude</a:t>
            </a:r>
            <a:endParaRPr lang="en-US" sz="1000" dirty="0"/>
          </a:p>
        </p:txBody>
      </p:sp>
      <p:sp>
        <p:nvSpPr>
          <p:cNvPr id="4" name="Shape 2"/>
          <p:cNvSpPr/>
          <p:nvPr/>
        </p:nvSpPr>
        <p:spPr>
          <a:xfrm>
            <a:off x="457200" y="1115568"/>
            <a:ext cx="8229600" cy="18288"/>
          </a:xfrm>
          <a:prstGeom prst="rect">
            <a:avLst/>
          </a:prstGeom>
          <a:solidFill>
            <a:srgbClr val="2D5A30"/>
          </a:solidFill>
          <a:ln w="12700">
            <a:solidFill>
              <a:srgbClr val="2D5A30"/>
            </a:solidFill>
            <a:prstDash val="solid"/>
          </a:ln>
        </p:spPr>
        <p:txBody>
          <a:bodyPr/>
          <a:lstStyle/>
          <a:p>
            <a:endParaRPr lang="en-US"/>
          </a:p>
        </p:txBody>
      </p:sp>
      <p:sp>
        <p:nvSpPr>
          <p:cNvPr id="5" name="Shape 3"/>
          <p:cNvSpPr/>
          <p:nvPr/>
        </p:nvSpPr>
        <p:spPr>
          <a:xfrm>
            <a:off x="457200" y="1188720"/>
            <a:ext cx="4023360" cy="256032"/>
          </a:xfrm>
          <a:prstGeom prst="rect">
            <a:avLst/>
          </a:prstGeom>
          <a:solidFill>
            <a:srgbClr val="C62828"/>
          </a:solidFill>
          <a:ln w="12700">
            <a:solidFill>
              <a:srgbClr val="C62828"/>
            </a:solidFill>
            <a:prstDash val="solid"/>
          </a:ln>
        </p:spPr>
        <p:txBody>
          <a:bodyPr/>
          <a:lstStyle/>
          <a:p>
            <a:endParaRPr lang="en-US"/>
          </a:p>
        </p:txBody>
      </p:sp>
      <p:sp>
        <p:nvSpPr>
          <p:cNvPr id="6" name="Text 4"/>
          <p:cNvSpPr/>
          <p:nvPr/>
        </p:nvSpPr>
        <p:spPr>
          <a:xfrm>
            <a:off x="457200" y="1188720"/>
            <a:ext cx="402336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CHURN RISK FACTORS</a:t>
            </a:r>
            <a:endParaRPr lang="en-US" sz="800" dirty="0"/>
          </a:p>
        </p:txBody>
      </p:sp>
      <p:sp>
        <p:nvSpPr>
          <p:cNvPr id="7" name="Shape 5"/>
          <p:cNvSpPr/>
          <p:nvPr/>
        </p:nvSpPr>
        <p:spPr>
          <a:xfrm>
            <a:off x="4663440" y="1188720"/>
            <a:ext cx="4023360" cy="256032"/>
          </a:xfrm>
          <a:prstGeom prst="rect">
            <a:avLst/>
          </a:prstGeom>
          <a:solidFill>
            <a:srgbClr val="2E7D32"/>
          </a:solidFill>
          <a:ln w="12700">
            <a:solidFill>
              <a:srgbClr val="2E7D32"/>
            </a:solidFill>
            <a:prstDash val="solid"/>
          </a:ln>
        </p:spPr>
        <p:txBody>
          <a:bodyPr/>
          <a:lstStyle/>
          <a:p>
            <a:endParaRPr lang="en-US"/>
          </a:p>
        </p:txBody>
      </p:sp>
      <p:sp>
        <p:nvSpPr>
          <p:cNvPr id="8" name="Text 6"/>
          <p:cNvSpPr/>
          <p:nvPr/>
        </p:nvSpPr>
        <p:spPr>
          <a:xfrm>
            <a:off x="4663440" y="1188720"/>
            <a:ext cx="4023360" cy="256032"/>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RETENTION FACTORS</a:t>
            </a:r>
            <a:endParaRPr lang="en-US" sz="800" dirty="0"/>
          </a:p>
        </p:txBody>
      </p:sp>
      <p:sp>
        <p:nvSpPr>
          <p:cNvPr id="9" name="Shape 7"/>
          <p:cNvSpPr/>
          <p:nvPr/>
        </p:nvSpPr>
        <p:spPr>
          <a:xfrm>
            <a:off x="457200" y="1536192"/>
            <a:ext cx="4023360" cy="493776"/>
          </a:xfrm>
          <a:prstGeom prst="rect">
            <a:avLst/>
          </a:prstGeom>
          <a:solidFill>
            <a:srgbClr val="0A2810"/>
          </a:solidFill>
          <a:ln w="12700">
            <a:solidFill>
              <a:srgbClr val="1A4A1E"/>
            </a:solidFill>
            <a:prstDash val="solid"/>
          </a:ln>
        </p:spPr>
        <p:txBody>
          <a:bodyPr/>
          <a:lstStyle/>
          <a:p>
            <a:endParaRPr lang="en-US"/>
          </a:p>
        </p:txBody>
      </p:sp>
      <p:sp>
        <p:nvSpPr>
          <p:cNvPr id="10" name="Text 8"/>
          <p:cNvSpPr/>
          <p:nvPr/>
        </p:nvSpPr>
        <p:spPr>
          <a:xfrm>
            <a:off x="530352" y="1536192"/>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+0.60</a:t>
            </a:r>
            <a:endParaRPr lang="en-US" sz="1300" dirty="0"/>
          </a:p>
        </p:txBody>
      </p:sp>
      <p:sp>
        <p:nvSpPr>
          <p:cNvPr id="11" name="Text 9"/>
          <p:cNvSpPr/>
          <p:nvPr/>
        </p:nvSpPr>
        <p:spPr>
          <a:xfrm>
            <a:off x="1225296" y="1591056"/>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Germany Accounts</a:t>
            </a:r>
            <a:endParaRPr lang="en-US" sz="900" dirty="0"/>
          </a:p>
        </p:txBody>
      </p:sp>
      <p:sp>
        <p:nvSpPr>
          <p:cNvPr id="12" name="Text 10"/>
          <p:cNvSpPr/>
          <p:nvPr/>
        </p:nvSpPr>
        <p:spPr>
          <a:xfrm>
            <a:off x="1225296" y="1810512"/>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Highest country-level churn propensity</a:t>
            </a:r>
            <a:endParaRPr lang="en-US" sz="750" dirty="0"/>
          </a:p>
        </p:txBody>
      </p:sp>
      <p:sp>
        <p:nvSpPr>
          <p:cNvPr id="13" name="Shape 11"/>
          <p:cNvSpPr/>
          <p:nvPr/>
        </p:nvSpPr>
        <p:spPr>
          <a:xfrm>
            <a:off x="457200" y="2048256"/>
            <a:ext cx="4023360" cy="493776"/>
          </a:xfrm>
          <a:prstGeom prst="rect">
            <a:avLst/>
          </a:prstGeom>
          <a:solidFill>
            <a:srgbClr val="0C3012"/>
          </a:solidFill>
          <a:ln w="12700">
            <a:solidFill>
              <a:srgbClr val="1A4A1E"/>
            </a:solidFill>
            <a:prstDash val="solid"/>
          </a:ln>
        </p:spPr>
        <p:txBody>
          <a:bodyPr/>
          <a:lstStyle/>
          <a:p>
            <a:endParaRPr lang="en-US"/>
          </a:p>
        </p:txBody>
      </p:sp>
      <p:sp>
        <p:nvSpPr>
          <p:cNvPr id="14" name="Text 12"/>
          <p:cNvSpPr/>
          <p:nvPr/>
        </p:nvSpPr>
        <p:spPr>
          <a:xfrm>
            <a:off x="530352" y="2048256"/>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+0.44</a:t>
            </a:r>
            <a:endParaRPr lang="en-US" sz="1300" dirty="0"/>
          </a:p>
        </p:txBody>
      </p:sp>
      <p:sp>
        <p:nvSpPr>
          <p:cNvPr id="15" name="Text 13"/>
          <p:cNvSpPr/>
          <p:nvPr/>
        </p:nvSpPr>
        <p:spPr>
          <a:xfrm>
            <a:off x="1225296" y="2103120"/>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DevTools Industry</a:t>
            </a:r>
            <a:endParaRPr lang="en-US" sz="900" dirty="0"/>
          </a:p>
        </p:txBody>
      </p:sp>
      <p:sp>
        <p:nvSpPr>
          <p:cNvPr id="16" name="Text 14"/>
          <p:cNvSpPr/>
          <p:nvPr/>
        </p:nvSpPr>
        <p:spPr>
          <a:xfrm>
            <a:off x="1225296" y="2322576"/>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High-expectation, competitive vertical</a:t>
            </a:r>
            <a:endParaRPr lang="en-US" sz="750" dirty="0"/>
          </a:p>
        </p:txBody>
      </p:sp>
      <p:sp>
        <p:nvSpPr>
          <p:cNvPr id="17" name="Shape 15"/>
          <p:cNvSpPr/>
          <p:nvPr/>
        </p:nvSpPr>
        <p:spPr>
          <a:xfrm>
            <a:off x="457200" y="2560320"/>
            <a:ext cx="4023360" cy="493776"/>
          </a:xfrm>
          <a:prstGeom prst="rect">
            <a:avLst/>
          </a:prstGeom>
          <a:solidFill>
            <a:srgbClr val="0A2810"/>
          </a:solidFill>
          <a:ln w="12700">
            <a:solidFill>
              <a:srgbClr val="1A4A1E"/>
            </a:solidFill>
            <a:prstDash val="solid"/>
          </a:ln>
        </p:spPr>
        <p:txBody>
          <a:bodyPr/>
          <a:lstStyle/>
          <a:p>
            <a:endParaRPr lang="en-US"/>
          </a:p>
        </p:txBody>
      </p:sp>
      <p:sp>
        <p:nvSpPr>
          <p:cNvPr id="18" name="Text 16"/>
          <p:cNvSpPr/>
          <p:nvPr/>
        </p:nvSpPr>
        <p:spPr>
          <a:xfrm>
            <a:off x="530352" y="2560320"/>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+0.43</a:t>
            </a:r>
            <a:endParaRPr lang="en-US" sz="1300" dirty="0"/>
          </a:p>
        </p:txBody>
      </p:sp>
      <p:sp>
        <p:nvSpPr>
          <p:cNvPr id="19" name="Text 17"/>
          <p:cNvSpPr/>
          <p:nvPr/>
        </p:nvSpPr>
        <p:spPr>
          <a:xfrm>
            <a:off x="1225296" y="2615184"/>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Event-Based Referral</a:t>
            </a:r>
            <a:endParaRPr lang="en-US" sz="900" dirty="0"/>
          </a:p>
        </p:txBody>
      </p:sp>
      <p:sp>
        <p:nvSpPr>
          <p:cNvPr id="20" name="Text 18"/>
          <p:cNvSpPr/>
          <p:nvPr/>
        </p:nvSpPr>
        <p:spPr>
          <a:xfrm>
            <a:off x="1225296" y="2834640"/>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Event-acquired customers show lower commitment</a:t>
            </a:r>
            <a:endParaRPr lang="en-US" sz="750" dirty="0"/>
          </a:p>
        </p:txBody>
      </p:sp>
      <p:sp>
        <p:nvSpPr>
          <p:cNvPr id="21" name="Shape 19"/>
          <p:cNvSpPr/>
          <p:nvPr/>
        </p:nvSpPr>
        <p:spPr>
          <a:xfrm>
            <a:off x="457200" y="3072384"/>
            <a:ext cx="4023360" cy="493776"/>
          </a:xfrm>
          <a:prstGeom prst="rect">
            <a:avLst/>
          </a:prstGeom>
          <a:solidFill>
            <a:srgbClr val="0C3012"/>
          </a:solidFill>
          <a:ln w="12700">
            <a:solidFill>
              <a:srgbClr val="1A4A1E"/>
            </a:solidFill>
            <a:prstDash val="solid"/>
          </a:ln>
        </p:spPr>
        <p:txBody>
          <a:bodyPr/>
          <a:lstStyle/>
          <a:p>
            <a:endParaRPr lang="en-US"/>
          </a:p>
        </p:txBody>
      </p:sp>
      <p:sp>
        <p:nvSpPr>
          <p:cNvPr id="22" name="Text 20"/>
          <p:cNvSpPr/>
          <p:nvPr/>
        </p:nvSpPr>
        <p:spPr>
          <a:xfrm>
            <a:off x="530352" y="3072384"/>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+0.43</a:t>
            </a:r>
            <a:endParaRPr lang="en-US" sz="1300" dirty="0"/>
          </a:p>
        </p:txBody>
      </p:sp>
      <p:sp>
        <p:nvSpPr>
          <p:cNvPr id="23" name="Text 21"/>
          <p:cNvSpPr/>
          <p:nvPr/>
        </p:nvSpPr>
        <p:spPr>
          <a:xfrm>
            <a:off x="1225296" y="3127248"/>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High Usage Volume</a:t>
            </a:r>
            <a:endParaRPr lang="en-US" sz="900" dirty="0"/>
          </a:p>
        </p:txBody>
      </p:sp>
      <p:sp>
        <p:nvSpPr>
          <p:cNvPr id="24" name="Text 22"/>
          <p:cNvSpPr/>
          <p:nvPr/>
        </p:nvSpPr>
        <p:spPr>
          <a:xfrm>
            <a:off x="1225296" y="3346704"/>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Volume without depth signals frustration</a:t>
            </a:r>
            <a:endParaRPr lang="en-US" sz="750" dirty="0"/>
          </a:p>
        </p:txBody>
      </p:sp>
      <p:sp>
        <p:nvSpPr>
          <p:cNvPr id="25" name="Shape 23"/>
          <p:cNvSpPr/>
          <p:nvPr/>
        </p:nvSpPr>
        <p:spPr>
          <a:xfrm>
            <a:off x="457200" y="3584448"/>
            <a:ext cx="4023360" cy="493776"/>
          </a:xfrm>
          <a:prstGeom prst="rect">
            <a:avLst/>
          </a:prstGeom>
          <a:solidFill>
            <a:srgbClr val="0A2810"/>
          </a:solidFill>
          <a:ln w="12700">
            <a:solidFill>
              <a:srgbClr val="1A4A1E"/>
            </a:solidFill>
            <a:prstDash val="solid"/>
          </a:ln>
        </p:spPr>
        <p:txBody>
          <a:bodyPr/>
          <a:lstStyle/>
          <a:p>
            <a:endParaRPr lang="en-US"/>
          </a:p>
        </p:txBody>
      </p:sp>
      <p:sp>
        <p:nvSpPr>
          <p:cNvPr id="26" name="Text 24"/>
          <p:cNvSpPr/>
          <p:nvPr/>
        </p:nvSpPr>
        <p:spPr>
          <a:xfrm>
            <a:off x="530352" y="3584448"/>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+0.32</a:t>
            </a:r>
            <a:endParaRPr lang="en-US" sz="1300" dirty="0"/>
          </a:p>
        </p:txBody>
      </p:sp>
      <p:sp>
        <p:nvSpPr>
          <p:cNvPr id="27" name="Text 25"/>
          <p:cNvSpPr/>
          <p:nvPr/>
        </p:nvSpPr>
        <p:spPr>
          <a:xfrm>
            <a:off x="1225296" y="3639312"/>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Seat Count</a:t>
            </a:r>
            <a:endParaRPr lang="en-US" sz="900" dirty="0"/>
          </a:p>
        </p:txBody>
      </p:sp>
      <p:sp>
        <p:nvSpPr>
          <p:cNvPr id="28" name="Text 26"/>
          <p:cNvSpPr/>
          <p:nvPr/>
        </p:nvSpPr>
        <p:spPr>
          <a:xfrm>
            <a:off x="1225296" y="3858768"/>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Larger teams have more exit pathways</a:t>
            </a:r>
            <a:endParaRPr lang="en-US" sz="750" dirty="0"/>
          </a:p>
        </p:txBody>
      </p:sp>
      <p:sp>
        <p:nvSpPr>
          <p:cNvPr id="29" name="Shape 27"/>
          <p:cNvSpPr/>
          <p:nvPr/>
        </p:nvSpPr>
        <p:spPr>
          <a:xfrm>
            <a:off x="457200" y="4096512"/>
            <a:ext cx="4023360" cy="493776"/>
          </a:xfrm>
          <a:prstGeom prst="rect">
            <a:avLst/>
          </a:prstGeom>
          <a:solidFill>
            <a:srgbClr val="0C3012"/>
          </a:solidFill>
          <a:ln w="12700">
            <a:solidFill>
              <a:srgbClr val="1A4A1E"/>
            </a:solidFill>
            <a:prstDash val="solid"/>
          </a:ln>
        </p:spPr>
        <p:txBody>
          <a:bodyPr/>
          <a:lstStyle/>
          <a:p>
            <a:endParaRPr lang="en-US"/>
          </a:p>
        </p:txBody>
      </p:sp>
      <p:sp>
        <p:nvSpPr>
          <p:cNvPr id="30" name="Text 28"/>
          <p:cNvSpPr/>
          <p:nvPr/>
        </p:nvSpPr>
        <p:spPr>
          <a:xfrm>
            <a:off x="530352" y="4096512"/>
            <a:ext cx="658368" cy="493776"/>
          </a:xfrm>
          <a:prstGeom prst="rect">
            <a:avLst/>
          </a:prstGeom>
          <a:noFill/>
          <a:ln/>
        </p:spPr>
        <p:txBody>
          <a:bodyPr wrap="square" lIns="0" tIns="0" rIns="0" bIns="0" rtlCol="0" anchor="ctr"/>
          <a:lstStyle/>
          <a:p>
            <a:pPr marL="0" indent="0">
              <a:buNone/>
            </a:pPr>
            <a:r>
              <a:rPr lang="en-US" sz="1300" b="1" dirty="0">
                <a:solidFill>
                  <a:srgbClr val="EF9A9A"/>
                </a:solidFill>
                <a:latin typeface="Calibri" pitchFamily="34" charset="0"/>
                <a:ea typeface="Calibri" pitchFamily="34" charset="-122"/>
                <a:cs typeface="Calibri" pitchFamily="34" charset="-120"/>
              </a:rPr>
              <a:t>+0.14</a:t>
            </a:r>
            <a:endParaRPr lang="en-US" sz="1300" dirty="0"/>
          </a:p>
        </p:txBody>
      </p:sp>
      <p:sp>
        <p:nvSpPr>
          <p:cNvPr id="31" name="Text 29"/>
          <p:cNvSpPr/>
          <p:nvPr/>
        </p:nvSpPr>
        <p:spPr>
          <a:xfrm>
            <a:off x="1225296" y="4151376"/>
            <a:ext cx="3145536"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Preceding Downgrade</a:t>
            </a:r>
            <a:endParaRPr lang="en-US" sz="900" dirty="0"/>
          </a:p>
        </p:txBody>
      </p:sp>
      <p:sp>
        <p:nvSpPr>
          <p:cNvPr id="32" name="Text 30"/>
          <p:cNvSpPr/>
          <p:nvPr/>
        </p:nvSpPr>
        <p:spPr>
          <a:xfrm>
            <a:off x="1225296" y="4370832"/>
            <a:ext cx="3145536"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Plan downgrade within 90 days = exit signal</a:t>
            </a:r>
            <a:endParaRPr lang="en-US" sz="750" dirty="0"/>
          </a:p>
        </p:txBody>
      </p:sp>
      <p:sp>
        <p:nvSpPr>
          <p:cNvPr id="33" name="Shape 31"/>
          <p:cNvSpPr/>
          <p:nvPr/>
        </p:nvSpPr>
        <p:spPr>
          <a:xfrm>
            <a:off x="4663440" y="1536192"/>
            <a:ext cx="4023360" cy="493776"/>
          </a:xfrm>
          <a:prstGeom prst="rect">
            <a:avLst/>
          </a:prstGeom>
          <a:solidFill>
            <a:srgbClr val="0A2810"/>
          </a:solidFill>
          <a:ln w="12700">
            <a:solidFill>
              <a:srgbClr val="1A4A1E"/>
            </a:solidFill>
            <a:prstDash val="solid"/>
          </a:ln>
        </p:spPr>
        <p:txBody>
          <a:bodyPr/>
          <a:lstStyle/>
          <a:p>
            <a:endParaRPr lang="en-US"/>
          </a:p>
        </p:txBody>
      </p:sp>
      <p:sp>
        <p:nvSpPr>
          <p:cNvPr id="34" name="Text 32"/>
          <p:cNvSpPr/>
          <p:nvPr/>
        </p:nvSpPr>
        <p:spPr>
          <a:xfrm>
            <a:off x="4736592" y="1536192"/>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-0.94</a:t>
            </a:r>
            <a:endParaRPr lang="en-US" sz="1300" dirty="0"/>
          </a:p>
        </p:txBody>
      </p:sp>
      <p:sp>
        <p:nvSpPr>
          <p:cNvPr id="35" name="Text 33"/>
          <p:cNvSpPr/>
          <p:nvPr/>
        </p:nvSpPr>
        <p:spPr>
          <a:xfrm>
            <a:off x="5486400" y="1591056"/>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Australia Accounts</a:t>
            </a:r>
            <a:endParaRPr lang="en-US" sz="900" dirty="0"/>
          </a:p>
        </p:txBody>
      </p:sp>
      <p:sp>
        <p:nvSpPr>
          <p:cNvPr id="36" name="Text 34"/>
          <p:cNvSpPr/>
          <p:nvPr/>
        </p:nvSpPr>
        <p:spPr>
          <a:xfrm>
            <a:off x="5486400" y="1810512"/>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Strongest geographic retention signal</a:t>
            </a:r>
            <a:endParaRPr lang="en-US" sz="750" dirty="0"/>
          </a:p>
        </p:txBody>
      </p:sp>
      <p:sp>
        <p:nvSpPr>
          <p:cNvPr id="37" name="Shape 35"/>
          <p:cNvSpPr/>
          <p:nvPr/>
        </p:nvSpPr>
        <p:spPr>
          <a:xfrm>
            <a:off x="4663440" y="2048256"/>
            <a:ext cx="4023360" cy="493776"/>
          </a:xfrm>
          <a:prstGeom prst="rect">
            <a:avLst/>
          </a:prstGeom>
          <a:solidFill>
            <a:srgbClr val="0C3012"/>
          </a:solidFill>
          <a:ln w="12700">
            <a:solidFill>
              <a:srgbClr val="1A4A1E"/>
            </a:solidFill>
            <a:prstDash val="solid"/>
          </a:ln>
        </p:spPr>
        <p:txBody>
          <a:bodyPr/>
          <a:lstStyle/>
          <a:p>
            <a:endParaRPr lang="en-US"/>
          </a:p>
        </p:txBody>
      </p:sp>
      <p:sp>
        <p:nvSpPr>
          <p:cNvPr id="38" name="Text 36"/>
          <p:cNvSpPr/>
          <p:nvPr/>
        </p:nvSpPr>
        <p:spPr>
          <a:xfrm>
            <a:off x="4736592" y="2048256"/>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-0.55</a:t>
            </a:r>
            <a:endParaRPr lang="en-US" sz="1300" dirty="0"/>
          </a:p>
        </p:txBody>
      </p:sp>
      <p:sp>
        <p:nvSpPr>
          <p:cNvPr id="39" name="Text 37"/>
          <p:cNvSpPr/>
          <p:nvPr/>
        </p:nvSpPr>
        <p:spPr>
          <a:xfrm>
            <a:off x="5486400" y="2103120"/>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Total Session Duration</a:t>
            </a:r>
            <a:endParaRPr lang="en-US" sz="900" dirty="0"/>
          </a:p>
        </p:txBody>
      </p:sp>
      <p:sp>
        <p:nvSpPr>
          <p:cNvPr id="40" name="Text 38"/>
          <p:cNvSpPr/>
          <p:nvPr/>
        </p:nvSpPr>
        <p:spPr>
          <a:xfrm>
            <a:off x="5486400" y="2322576"/>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Sustained engagement = leading retention predictor</a:t>
            </a:r>
            <a:endParaRPr lang="en-US" sz="750" dirty="0"/>
          </a:p>
        </p:txBody>
      </p:sp>
      <p:sp>
        <p:nvSpPr>
          <p:cNvPr id="41" name="Shape 39"/>
          <p:cNvSpPr/>
          <p:nvPr/>
        </p:nvSpPr>
        <p:spPr>
          <a:xfrm>
            <a:off x="4663440" y="2560320"/>
            <a:ext cx="4023360" cy="493776"/>
          </a:xfrm>
          <a:prstGeom prst="rect">
            <a:avLst/>
          </a:prstGeom>
          <a:solidFill>
            <a:srgbClr val="0A2810"/>
          </a:solidFill>
          <a:ln w="12700">
            <a:solidFill>
              <a:srgbClr val="1A4A1E"/>
            </a:solidFill>
            <a:prstDash val="solid"/>
          </a:ln>
        </p:spPr>
        <p:txBody>
          <a:bodyPr/>
          <a:lstStyle/>
          <a:p>
            <a:endParaRPr lang="en-US"/>
          </a:p>
        </p:txBody>
      </p:sp>
      <p:sp>
        <p:nvSpPr>
          <p:cNvPr id="42" name="Text 40"/>
          <p:cNvSpPr/>
          <p:nvPr/>
        </p:nvSpPr>
        <p:spPr>
          <a:xfrm>
            <a:off x="4736592" y="2560320"/>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-0.49</a:t>
            </a:r>
            <a:endParaRPr lang="en-US" sz="1300" dirty="0"/>
          </a:p>
        </p:txBody>
      </p:sp>
      <p:sp>
        <p:nvSpPr>
          <p:cNvPr id="43" name="Text 41"/>
          <p:cNvSpPr/>
          <p:nvPr/>
        </p:nvSpPr>
        <p:spPr>
          <a:xfrm>
            <a:off x="5486400" y="2615184"/>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Average Seats per Sub</a:t>
            </a:r>
            <a:endParaRPr lang="en-US" sz="900" dirty="0"/>
          </a:p>
        </p:txBody>
      </p:sp>
      <p:sp>
        <p:nvSpPr>
          <p:cNvPr id="44" name="Text 42"/>
          <p:cNvSpPr/>
          <p:nvPr/>
        </p:nvSpPr>
        <p:spPr>
          <a:xfrm>
            <a:off x="5486400" y="2834640"/>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Higher seat counts increase switching costs</a:t>
            </a:r>
            <a:endParaRPr lang="en-US" sz="750" dirty="0"/>
          </a:p>
        </p:txBody>
      </p:sp>
      <p:sp>
        <p:nvSpPr>
          <p:cNvPr id="45" name="Shape 43"/>
          <p:cNvSpPr/>
          <p:nvPr/>
        </p:nvSpPr>
        <p:spPr>
          <a:xfrm>
            <a:off x="4663440" y="3072384"/>
            <a:ext cx="4023360" cy="493776"/>
          </a:xfrm>
          <a:prstGeom prst="rect">
            <a:avLst/>
          </a:prstGeom>
          <a:solidFill>
            <a:srgbClr val="0C3012"/>
          </a:solidFill>
          <a:ln w="12700">
            <a:solidFill>
              <a:srgbClr val="1A4A1E"/>
            </a:solidFill>
            <a:prstDash val="solid"/>
          </a:ln>
        </p:spPr>
        <p:txBody>
          <a:bodyPr/>
          <a:lstStyle/>
          <a:p>
            <a:endParaRPr lang="en-US"/>
          </a:p>
        </p:txBody>
      </p:sp>
      <p:sp>
        <p:nvSpPr>
          <p:cNvPr id="46" name="Text 44"/>
          <p:cNvSpPr/>
          <p:nvPr/>
        </p:nvSpPr>
        <p:spPr>
          <a:xfrm>
            <a:off x="4736592" y="3072384"/>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-0.44</a:t>
            </a:r>
            <a:endParaRPr lang="en-US" sz="1300" dirty="0"/>
          </a:p>
        </p:txBody>
      </p:sp>
      <p:sp>
        <p:nvSpPr>
          <p:cNvPr id="47" name="Text 45"/>
          <p:cNvSpPr/>
          <p:nvPr/>
        </p:nvSpPr>
        <p:spPr>
          <a:xfrm>
            <a:off x="5486400" y="3127248"/>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EdTech Industry</a:t>
            </a:r>
            <a:endParaRPr lang="en-US" sz="900" dirty="0"/>
          </a:p>
        </p:txBody>
      </p:sp>
      <p:sp>
        <p:nvSpPr>
          <p:cNvPr id="48" name="Text 46"/>
          <p:cNvSpPr/>
          <p:nvPr/>
        </p:nvSpPr>
        <p:spPr>
          <a:xfrm>
            <a:off x="5486400" y="3346704"/>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Most stable vertical; lowest churn rate</a:t>
            </a:r>
            <a:endParaRPr lang="en-US" sz="750" dirty="0"/>
          </a:p>
        </p:txBody>
      </p:sp>
      <p:sp>
        <p:nvSpPr>
          <p:cNvPr id="49" name="Shape 47"/>
          <p:cNvSpPr/>
          <p:nvPr/>
        </p:nvSpPr>
        <p:spPr>
          <a:xfrm>
            <a:off x="4663440" y="3584448"/>
            <a:ext cx="4023360" cy="493776"/>
          </a:xfrm>
          <a:prstGeom prst="rect">
            <a:avLst/>
          </a:prstGeom>
          <a:solidFill>
            <a:srgbClr val="0A2810"/>
          </a:solidFill>
          <a:ln w="12700">
            <a:solidFill>
              <a:srgbClr val="1A4A1E"/>
            </a:solidFill>
            <a:prstDash val="solid"/>
          </a:ln>
        </p:spPr>
        <p:txBody>
          <a:bodyPr/>
          <a:lstStyle/>
          <a:p>
            <a:endParaRPr lang="en-US"/>
          </a:p>
        </p:txBody>
      </p:sp>
      <p:sp>
        <p:nvSpPr>
          <p:cNvPr id="50" name="Text 48"/>
          <p:cNvSpPr/>
          <p:nvPr/>
        </p:nvSpPr>
        <p:spPr>
          <a:xfrm>
            <a:off x="4736592" y="3584448"/>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-0.34</a:t>
            </a:r>
            <a:endParaRPr lang="en-US" sz="1300" dirty="0"/>
          </a:p>
        </p:txBody>
      </p:sp>
      <p:sp>
        <p:nvSpPr>
          <p:cNvPr id="51" name="Text 49"/>
          <p:cNvSpPr/>
          <p:nvPr/>
        </p:nvSpPr>
        <p:spPr>
          <a:xfrm>
            <a:off x="5486400" y="3639312"/>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Organic Referral</a:t>
            </a:r>
            <a:endParaRPr lang="en-US" sz="900" dirty="0"/>
          </a:p>
        </p:txBody>
      </p:sp>
      <p:sp>
        <p:nvSpPr>
          <p:cNvPr id="52" name="Text 50"/>
          <p:cNvSpPr/>
          <p:nvPr/>
        </p:nvSpPr>
        <p:spPr>
          <a:xfrm>
            <a:off x="5486400" y="3858768"/>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Organically acquired customers most committed</a:t>
            </a:r>
            <a:endParaRPr lang="en-US" sz="750" dirty="0"/>
          </a:p>
        </p:txBody>
      </p:sp>
      <p:sp>
        <p:nvSpPr>
          <p:cNvPr id="53" name="Shape 51"/>
          <p:cNvSpPr/>
          <p:nvPr/>
        </p:nvSpPr>
        <p:spPr>
          <a:xfrm>
            <a:off x="4663440" y="4096512"/>
            <a:ext cx="4023360" cy="493776"/>
          </a:xfrm>
          <a:prstGeom prst="rect">
            <a:avLst/>
          </a:prstGeom>
          <a:solidFill>
            <a:srgbClr val="0C3012"/>
          </a:solidFill>
          <a:ln w="12700">
            <a:solidFill>
              <a:srgbClr val="1A4A1E"/>
            </a:solidFill>
            <a:prstDash val="solid"/>
          </a:ln>
        </p:spPr>
        <p:txBody>
          <a:bodyPr/>
          <a:lstStyle/>
          <a:p>
            <a:endParaRPr lang="en-US"/>
          </a:p>
        </p:txBody>
      </p:sp>
      <p:sp>
        <p:nvSpPr>
          <p:cNvPr id="54" name="Text 52"/>
          <p:cNvSpPr/>
          <p:nvPr/>
        </p:nvSpPr>
        <p:spPr>
          <a:xfrm>
            <a:off x="4736592" y="4096512"/>
            <a:ext cx="713232" cy="493776"/>
          </a:xfrm>
          <a:prstGeom prst="rect">
            <a:avLst/>
          </a:prstGeom>
          <a:noFill/>
          <a:ln/>
        </p:spPr>
        <p:txBody>
          <a:bodyPr wrap="square" lIns="0" tIns="0" rIns="0" bIns="0" rtlCol="0" anchor="ctr"/>
          <a:lstStyle/>
          <a:p>
            <a:pPr marL="0" indent="0">
              <a:buNone/>
            </a:pPr>
            <a:r>
              <a:rPr lang="en-US" sz="1300" b="1" dirty="0">
                <a:solidFill>
                  <a:srgbClr val="A5D6A7"/>
                </a:solidFill>
                <a:latin typeface="Calibri" pitchFamily="34" charset="0"/>
                <a:ea typeface="Calibri" pitchFamily="34" charset="-122"/>
                <a:cs typeface="Calibri" pitchFamily="34" charset="-120"/>
              </a:rPr>
              <a:t>-0.32</a:t>
            </a:r>
            <a:endParaRPr lang="en-US" sz="1300" dirty="0"/>
          </a:p>
        </p:txBody>
      </p:sp>
      <p:sp>
        <p:nvSpPr>
          <p:cNvPr id="55" name="Text 53"/>
          <p:cNvSpPr/>
          <p:nvPr/>
        </p:nvSpPr>
        <p:spPr>
          <a:xfrm>
            <a:off x="5486400" y="4151376"/>
            <a:ext cx="3090672"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Annual Contract ARR</a:t>
            </a:r>
            <a:endParaRPr lang="en-US" sz="900" dirty="0"/>
          </a:p>
        </p:txBody>
      </p:sp>
      <p:sp>
        <p:nvSpPr>
          <p:cNvPr id="56" name="Text 54"/>
          <p:cNvSpPr/>
          <p:nvPr/>
        </p:nvSpPr>
        <p:spPr>
          <a:xfrm>
            <a:off x="5486400" y="4370832"/>
            <a:ext cx="3090672" cy="182880"/>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Annual billing is a structural retention lever</a:t>
            </a:r>
            <a:endParaRPr lang="en-US" sz="750" dirty="0"/>
          </a:p>
        </p:txBody>
      </p:sp>
      <p:sp>
        <p:nvSpPr>
          <p:cNvPr id="57" name="Shape 55"/>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58" name="Text 56"/>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59" name="Text 57"/>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Predictive Analytics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PRESCRIPTIVE ANALYTICS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Phase C: Customer Risk Segmentation</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All 500 accounts scored by churn probability and segmented with prescribed retention interventions</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graphicFrame>
        <p:nvGraphicFramePr>
          <p:cNvPr id="7" name="Chart 0"/>
          <p:cNvGraphicFramePr/>
          <p:nvPr/>
        </p:nvGraphicFramePr>
        <p:xfrm>
          <a:off x="457200" y="1536192"/>
          <a:ext cx="4663440" cy="2414016"/>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457200" y="4059936"/>
            <a:ext cx="1463040" cy="658368"/>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6"/>
          <p:cNvSpPr/>
          <p:nvPr/>
        </p:nvSpPr>
        <p:spPr>
          <a:xfrm>
            <a:off x="457200" y="4059936"/>
            <a:ext cx="1463040" cy="36576"/>
          </a:xfrm>
          <a:prstGeom prst="rect">
            <a:avLst/>
          </a:prstGeom>
          <a:solidFill>
            <a:srgbClr val="66BB6A"/>
          </a:solidFill>
          <a:ln w="12700">
            <a:solidFill>
              <a:srgbClr val="66BB6A"/>
            </a:solidFill>
            <a:prstDash val="solid"/>
          </a:ln>
        </p:spPr>
        <p:txBody>
          <a:bodyPr/>
          <a:lstStyle/>
          <a:p>
            <a:endParaRPr lang="en-US"/>
          </a:p>
        </p:txBody>
      </p:sp>
      <p:sp>
        <p:nvSpPr>
          <p:cNvPr id="10" name="Text 7"/>
          <p:cNvSpPr/>
          <p:nvPr/>
        </p:nvSpPr>
        <p:spPr>
          <a:xfrm>
            <a:off x="457200" y="4133088"/>
            <a:ext cx="1463040" cy="292608"/>
          </a:xfrm>
          <a:prstGeom prst="rect">
            <a:avLst/>
          </a:prstGeom>
          <a:noFill/>
          <a:ln/>
        </p:spPr>
        <p:txBody>
          <a:bodyPr wrap="square" lIns="0" tIns="0" rIns="0" bIns="0" rtlCol="0" anchor="ctr"/>
          <a:lstStyle/>
          <a:p>
            <a:pPr marL="0" indent="0" algn="ctr">
              <a:buNone/>
            </a:pPr>
            <a:r>
              <a:rPr lang="en-US" sz="1100" b="1" dirty="0">
                <a:solidFill>
                  <a:srgbClr val="66BB6A"/>
                </a:solidFill>
                <a:latin typeface="Calibri" pitchFamily="34" charset="0"/>
                <a:ea typeface="Calibri" pitchFamily="34" charset="-122"/>
                <a:cs typeface="Calibri" pitchFamily="34" charset="-120"/>
              </a:rPr>
              <a:t>$111,740</a:t>
            </a:r>
            <a:endParaRPr lang="en-US" sz="1100" dirty="0"/>
          </a:p>
        </p:txBody>
      </p:sp>
      <p:sp>
        <p:nvSpPr>
          <p:cNvPr id="11" name="Text 8"/>
          <p:cNvSpPr/>
          <p:nvPr/>
        </p:nvSpPr>
        <p:spPr>
          <a:xfrm>
            <a:off x="512064" y="4407408"/>
            <a:ext cx="1353312" cy="182880"/>
          </a:xfrm>
          <a:prstGeom prst="rect">
            <a:avLst/>
          </a:prstGeom>
          <a:noFill/>
          <a:ln/>
        </p:spPr>
        <p:txBody>
          <a:bodyPr wrap="square" rtlCol="0" anchor="ctr"/>
          <a:lstStyle/>
          <a:p>
            <a:pPr marL="0" indent="0" algn="ctr">
              <a:buNone/>
            </a:pPr>
            <a:r>
              <a:rPr lang="en-US" sz="700" dirty="0">
                <a:solidFill>
                  <a:srgbClr val="757575"/>
                </a:solidFill>
                <a:latin typeface="Calibri" pitchFamily="34" charset="0"/>
                <a:ea typeface="Calibri" pitchFamily="34" charset="-122"/>
                <a:cs typeface="Calibri" pitchFamily="34" charset="-120"/>
              </a:rPr>
              <a:t>Low Risk MRR</a:t>
            </a:r>
            <a:endParaRPr lang="en-US" sz="700" dirty="0"/>
          </a:p>
        </p:txBody>
      </p:sp>
      <p:sp>
        <p:nvSpPr>
          <p:cNvPr id="12" name="Shape 9"/>
          <p:cNvSpPr/>
          <p:nvPr/>
        </p:nvSpPr>
        <p:spPr>
          <a:xfrm>
            <a:off x="2029968" y="4059936"/>
            <a:ext cx="1463040" cy="658368"/>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0"/>
          <p:cNvSpPr/>
          <p:nvPr/>
        </p:nvSpPr>
        <p:spPr>
          <a:xfrm>
            <a:off x="2029968" y="4059936"/>
            <a:ext cx="1463040" cy="36576"/>
          </a:xfrm>
          <a:prstGeom prst="rect">
            <a:avLst/>
          </a:prstGeom>
          <a:solidFill>
            <a:srgbClr val="E65100"/>
          </a:solidFill>
          <a:ln w="12700">
            <a:solidFill>
              <a:srgbClr val="E65100"/>
            </a:solidFill>
            <a:prstDash val="solid"/>
          </a:ln>
        </p:spPr>
        <p:txBody>
          <a:bodyPr/>
          <a:lstStyle/>
          <a:p>
            <a:endParaRPr lang="en-US"/>
          </a:p>
        </p:txBody>
      </p:sp>
      <p:sp>
        <p:nvSpPr>
          <p:cNvPr id="14" name="Text 11"/>
          <p:cNvSpPr/>
          <p:nvPr/>
        </p:nvSpPr>
        <p:spPr>
          <a:xfrm>
            <a:off x="2029968" y="4133088"/>
            <a:ext cx="1463040" cy="292608"/>
          </a:xfrm>
          <a:prstGeom prst="rect">
            <a:avLst/>
          </a:prstGeom>
          <a:noFill/>
          <a:ln/>
        </p:spPr>
        <p:txBody>
          <a:bodyPr wrap="square" lIns="0" tIns="0" rIns="0" bIns="0" rtlCol="0" anchor="ctr"/>
          <a:lstStyle/>
          <a:p>
            <a:pPr marL="0" indent="0" algn="ctr">
              <a:buNone/>
            </a:pPr>
            <a:r>
              <a:rPr lang="en-US" sz="1100" b="1" dirty="0">
                <a:solidFill>
                  <a:srgbClr val="E65100"/>
                </a:solidFill>
                <a:latin typeface="Calibri" pitchFamily="34" charset="0"/>
                <a:ea typeface="Calibri" pitchFamily="34" charset="-122"/>
                <a:cs typeface="Calibri" pitchFamily="34" charset="-120"/>
              </a:rPr>
              <a:t>$864,230</a:t>
            </a:r>
            <a:endParaRPr lang="en-US" sz="1100" dirty="0"/>
          </a:p>
        </p:txBody>
      </p:sp>
      <p:sp>
        <p:nvSpPr>
          <p:cNvPr id="15" name="Text 12"/>
          <p:cNvSpPr/>
          <p:nvPr/>
        </p:nvSpPr>
        <p:spPr>
          <a:xfrm>
            <a:off x="2084832" y="4407408"/>
            <a:ext cx="1353312" cy="182880"/>
          </a:xfrm>
          <a:prstGeom prst="rect">
            <a:avLst/>
          </a:prstGeom>
          <a:noFill/>
          <a:ln/>
        </p:spPr>
        <p:txBody>
          <a:bodyPr wrap="square" rtlCol="0" anchor="ctr"/>
          <a:lstStyle/>
          <a:p>
            <a:pPr marL="0" indent="0" algn="ctr">
              <a:buNone/>
            </a:pPr>
            <a:r>
              <a:rPr lang="en-US" sz="700" dirty="0">
                <a:solidFill>
                  <a:srgbClr val="757575"/>
                </a:solidFill>
                <a:latin typeface="Calibri" pitchFamily="34" charset="0"/>
                <a:ea typeface="Calibri" pitchFamily="34" charset="-122"/>
                <a:cs typeface="Calibri" pitchFamily="34" charset="-120"/>
              </a:rPr>
              <a:t>Medium Risk MRR</a:t>
            </a:r>
            <a:endParaRPr lang="en-US" sz="700" dirty="0"/>
          </a:p>
        </p:txBody>
      </p:sp>
      <p:sp>
        <p:nvSpPr>
          <p:cNvPr id="16" name="Shape 13"/>
          <p:cNvSpPr/>
          <p:nvPr/>
        </p:nvSpPr>
        <p:spPr>
          <a:xfrm>
            <a:off x="3602736" y="4059936"/>
            <a:ext cx="1463040" cy="658368"/>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4"/>
          <p:cNvSpPr/>
          <p:nvPr/>
        </p:nvSpPr>
        <p:spPr>
          <a:xfrm>
            <a:off x="3602736" y="4059936"/>
            <a:ext cx="1463040" cy="36576"/>
          </a:xfrm>
          <a:prstGeom prst="rect">
            <a:avLst/>
          </a:prstGeom>
          <a:solidFill>
            <a:srgbClr val="C62828"/>
          </a:solidFill>
          <a:ln w="12700">
            <a:solidFill>
              <a:srgbClr val="C62828"/>
            </a:solidFill>
            <a:prstDash val="solid"/>
          </a:ln>
        </p:spPr>
        <p:txBody>
          <a:bodyPr/>
          <a:lstStyle/>
          <a:p>
            <a:endParaRPr lang="en-US"/>
          </a:p>
        </p:txBody>
      </p:sp>
      <p:sp>
        <p:nvSpPr>
          <p:cNvPr id="18" name="Text 15"/>
          <p:cNvSpPr/>
          <p:nvPr/>
        </p:nvSpPr>
        <p:spPr>
          <a:xfrm>
            <a:off x="3602736" y="4133088"/>
            <a:ext cx="1463040" cy="292608"/>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$156,118</a:t>
            </a:r>
            <a:endParaRPr lang="en-US" sz="1100" dirty="0"/>
          </a:p>
        </p:txBody>
      </p:sp>
      <p:sp>
        <p:nvSpPr>
          <p:cNvPr id="19" name="Text 16"/>
          <p:cNvSpPr/>
          <p:nvPr/>
        </p:nvSpPr>
        <p:spPr>
          <a:xfrm>
            <a:off x="3657600" y="4407408"/>
            <a:ext cx="1353312" cy="182880"/>
          </a:xfrm>
          <a:prstGeom prst="rect">
            <a:avLst/>
          </a:prstGeom>
          <a:noFill/>
          <a:ln/>
        </p:spPr>
        <p:txBody>
          <a:bodyPr wrap="square" rtlCol="0" anchor="ctr"/>
          <a:lstStyle/>
          <a:p>
            <a:pPr marL="0" indent="0" algn="ctr">
              <a:buNone/>
            </a:pPr>
            <a:r>
              <a:rPr lang="en-US" sz="700" dirty="0">
                <a:solidFill>
                  <a:srgbClr val="757575"/>
                </a:solidFill>
                <a:latin typeface="Calibri" pitchFamily="34" charset="0"/>
                <a:ea typeface="Calibri" pitchFamily="34" charset="-122"/>
                <a:cs typeface="Calibri" pitchFamily="34" charset="-120"/>
              </a:rPr>
              <a:t>High Risk MRR</a:t>
            </a:r>
            <a:endParaRPr lang="en-US" sz="700" dirty="0"/>
          </a:p>
        </p:txBody>
      </p:sp>
      <p:sp>
        <p:nvSpPr>
          <p:cNvPr id="20" name="Shape 17"/>
          <p:cNvSpPr/>
          <p:nvPr/>
        </p:nvSpPr>
        <p:spPr>
          <a:xfrm>
            <a:off x="5321808" y="1536192"/>
            <a:ext cx="3364992" cy="969264"/>
          </a:xfrm>
          <a:prstGeom prst="rect">
            <a:avLst/>
          </a:prstGeom>
          <a:solidFill>
            <a:srgbClr val="E8F5E9"/>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8"/>
          <p:cNvSpPr/>
          <p:nvPr/>
        </p:nvSpPr>
        <p:spPr>
          <a:xfrm>
            <a:off x="5321808" y="1536192"/>
            <a:ext cx="36576" cy="969264"/>
          </a:xfrm>
          <a:prstGeom prst="rect">
            <a:avLst/>
          </a:prstGeom>
          <a:solidFill>
            <a:srgbClr val="66BB6A"/>
          </a:solidFill>
          <a:ln w="12700">
            <a:solidFill>
              <a:srgbClr val="66BB6A"/>
            </a:solidFill>
            <a:prstDash val="solid"/>
          </a:ln>
        </p:spPr>
        <p:txBody>
          <a:bodyPr/>
          <a:lstStyle/>
          <a:p>
            <a:endParaRPr lang="en-US"/>
          </a:p>
        </p:txBody>
      </p:sp>
      <p:sp>
        <p:nvSpPr>
          <p:cNvPr id="22" name="Text 19"/>
          <p:cNvSpPr/>
          <p:nvPr/>
        </p:nvSpPr>
        <p:spPr>
          <a:xfrm>
            <a:off x="5449824" y="1609344"/>
            <a:ext cx="3145536" cy="219456"/>
          </a:xfrm>
          <a:prstGeom prst="rect">
            <a:avLst/>
          </a:prstGeom>
          <a:noFill/>
          <a:ln/>
        </p:spPr>
        <p:txBody>
          <a:bodyPr wrap="square" lIns="0" tIns="0" rIns="0" bIns="0" rtlCol="0" anchor="ctr"/>
          <a:lstStyle/>
          <a:p>
            <a:pPr marL="0" indent="0">
              <a:buNone/>
            </a:pPr>
            <a:r>
              <a:rPr lang="en-US" sz="850" b="1" dirty="0">
                <a:solidFill>
                  <a:srgbClr val="263238"/>
                </a:solidFill>
                <a:latin typeface="Calibri" pitchFamily="34" charset="0"/>
                <a:ea typeface="Calibri" pitchFamily="34" charset="-122"/>
                <a:cs typeface="Calibri" pitchFamily="34" charset="-120"/>
              </a:rPr>
              <a:t>Low Risk  ·  0–30%</a:t>
            </a:r>
            <a:endParaRPr lang="en-US" sz="850" dirty="0"/>
          </a:p>
        </p:txBody>
      </p:sp>
      <p:sp>
        <p:nvSpPr>
          <p:cNvPr id="23" name="Text 20"/>
          <p:cNvSpPr/>
          <p:nvPr/>
        </p:nvSpPr>
        <p:spPr>
          <a:xfrm>
            <a:off x="5449824" y="1847088"/>
            <a:ext cx="3145536" cy="164592"/>
          </a:xfrm>
          <a:prstGeom prst="rect">
            <a:avLst/>
          </a:prstGeom>
          <a:noFill/>
          <a:ln/>
        </p:spPr>
        <p:txBody>
          <a:bodyPr wrap="square" lIns="0" tIns="0" rIns="0" bIns="0" rtlCol="0" anchor="ctr"/>
          <a:lstStyle/>
          <a:p>
            <a:pPr marL="0" indent="0">
              <a:buNone/>
            </a:pPr>
            <a:r>
              <a:rPr lang="en-US" sz="750" dirty="0">
                <a:solidFill>
                  <a:srgbClr val="757575"/>
                </a:solidFill>
                <a:latin typeface="Calibri" pitchFamily="34" charset="0"/>
                <a:ea typeface="Calibri" pitchFamily="34" charset="-122"/>
                <a:cs typeface="Calibri" pitchFamily="34" charset="-120"/>
              </a:rPr>
              <a:t>28 accounts  |  $111,740 MRR</a:t>
            </a:r>
            <a:endParaRPr lang="en-US" sz="750" dirty="0"/>
          </a:p>
        </p:txBody>
      </p:sp>
      <p:sp>
        <p:nvSpPr>
          <p:cNvPr id="24" name="Text 21"/>
          <p:cNvSpPr/>
          <p:nvPr/>
        </p:nvSpPr>
        <p:spPr>
          <a:xfrm>
            <a:off x="5376672" y="1984248"/>
            <a:ext cx="3145536" cy="420624"/>
          </a:xfrm>
          <a:prstGeom prst="rect">
            <a:avLst/>
          </a:prstGeom>
          <a:noFill/>
          <a:ln/>
        </p:spPr>
        <p:txBody>
          <a:bodyPr wrap="square" rtlCol="0" anchor="t"/>
          <a:lstStyle/>
          <a:p>
            <a:pPr>
              <a:buSzPct val="100000"/>
            </a:pPr>
            <a:r>
              <a:rPr lang="en-US" sz="800" dirty="0">
                <a:solidFill>
                  <a:srgbClr val="263238"/>
                </a:solidFill>
                <a:latin typeface="Calibri" pitchFamily="34" charset="0"/>
                <a:ea typeface="Calibri" pitchFamily="34" charset="-122"/>
                <a:cs typeface="Calibri" pitchFamily="34" charset="-120"/>
              </a:rPr>
              <a:t>Quarterly account review</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Feature adoption communications</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No urgent intervention required</a:t>
            </a:r>
            <a:endParaRPr lang="en-US" sz="800" dirty="0"/>
          </a:p>
        </p:txBody>
      </p:sp>
      <p:sp>
        <p:nvSpPr>
          <p:cNvPr id="25" name="Shape 22"/>
          <p:cNvSpPr/>
          <p:nvPr/>
        </p:nvSpPr>
        <p:spPr>
          <a:xfrm>
            <a:off x="5321808" y="2560320"/>
            <a:ext cx="3364992" cy="969264"/>
          </a:xfrm>
          <a:prstGeom prst="rect">
            <a:avLst/>
          </a:prstGeom>
          <a:solidFill>
            <a:srgbClr val="FFF3E0"/>
          </a:solidFill>
          <a:ln w="12700">
            <a:solidFill>
              <a:srgbClr val="FFCC80"/>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3"/>
          <p:cNvSpPr/>
          <p:nvPr/>
        </p:nvSpPr>
        <p:spPr>
          <a:xfrm>
            <a:off x="5321808" y="2560320"/>
            <a:ext cx="36576" cy="969264"/>
          </a:xfrm>
          <a:prstGeom prst="rect">
            <a:avLst/>
          </a:prstGeom>
          <a:solidFill>
            <a:srgbClr val="E65100"/>
          </a:solidFill>
          <a:ln w="12700">
            <a:solidFill>
              <a:srgbClr val="E65100"/>
            </a:solidFill>
            <a:prstDash val="solid"/>
          </a:ln>
        </p:spPr>
        <p:txBody>
          <a:bodyPr/>
          <a:lstStyle/>
          <a:p>
            <a:endParaRPr lang="en-US"/>
          </a:p>
        </p:txBody>
      </p:sp>
      <p:sp>
        <p:nvSpPr>
          <p:cNvPr id="27" name="Text 24"/>
          <p:cNvSpPr/>
          <p:nvPr/>
        </p:nvSpPr>
        <p:spPr>
          <a:xfrm>
            <a:off x="5449824" y="2633472"/>
            <a:ext cx="3145536" cy="219456"/>
          </a:xfrm>
          <a:prstGeom prst="rect">
            <a:avLst/>
          </a:prstGeom>
          <a:noFill/>
          <a:ln/>
        </p:spPr>
        <p:txBody>
          <a:bodyPr wrap="square" lIns="0" tIns="0" rIns="0" bIns="0" rtlCol="0" anchor="ctr"/>
          <a:lstStyle/>
          <a:p>
            <a:pPr marL="0" indent="0">
              <a:buNone/>
            </a:pPr>
            <a:r>
              <a:rPr lang="en-US" sz="850" b="1" dirty="0">
                <a:solidFill>
                  <a:srgbClr val="263238"/>
                </a:solidFill>
                <a:latin typeface="Calibri" pitchFamily="34" charset="0"/>
                <a:ea typeface="Calibri" pitchFamily="34" charset="-122"/>
                <a:cs typeface="Calibri" pitchFamily="34" charset="-120"/>
              </a:rPr>
              <a:t>Medium Risk  ·  30–60%</a:t>
            </a:r>
            <a:endParaRPr lang="en-US" sz="850" dirty="0"/>
          </a:p>
        </p:txBody>
      </p:sp>
      <p:sp>
        <p:nvSpPr>
          <p:cNvPr id="28" name="Text 25"/>
          <p:cNvSpPr/>
          <p:nvPr/>
        </p:nvSpPr>
        <p:spPr>
          <a:xfrm>
            <a:off x="5449824" y="2871216"/>
            <a:ext cx="3145536" cy="164592"/>
          </a:xfrm>
          <a:prstGeom prst="rect">
            <a:avLst/>
          </a:prstGeom>
          <a:noFill/>
          <a:ln/>
        </p:spPr>
        <p:txBody>
          <a:bodyPr wrap="square" lIns="0" tIns="0" rIns="0" bIns="0" rtlCol="0" anchor="ctr"/>
          <a:lstStyle/>
          <a:p>
            <a:pPr marL="0" indent="0">
              <a:buNone/>
            </a:pPr>
            <a:r>
              <a:rPr lang="en-US" sz="750" dirty="0">
                <a:solidFill>
                  <a:srgbClr val="757575"/>
                </a:solidFill>
                <a:latin typeface="Calibri" pitchFamily="34" charset="0"/>
                <a:ea typeface="Calibri" pitchFamily="34" charset="-122"/>
                <a:cs typeface="Calibri" pitchFamily="34" charset="-120"/>
              </a:rPr>
              <a:t>381 accounts  |  $864,230 MRR</a:t>
            </a:r>
            <a:endParaRPr lang="en-US" sz="750" dirty="0"/>
          </a:p>
        </p:txBody>
      </p:sp>
      <p:sp>
        <p:nvSpPr>
          <p:cNvPr id="29" name="Text 26"/>
          <p:cNvSpPr/>
          <p:nvPr/>
        </p:nvSpPr>
        <p:spPr>
          <a:xfrm>
            <a:off x="5376672" y="3008376"/>
            <a:ext cx="3145536" cy="420624"/>
          </a:xfrm>
          <a:prstGeom prst="rect">
            <a:avLst/>
          </a:prstGeom>
          <a:noFill/>
          <a:ln/>
        </p:spPr>
        <p:txBody>
          <a:bodyPr wrap="square" rtlCol="0" anchor="t"/>
          <a:lstStyle/>
          <a:p>
            <a:pPr>
              <a:buSzPct val="100000"/>
            </a:pPr>
            <a:r>
              <a:rPr lang="en-US" sz="800" dirty="0">
                <a:solidFill>
                  <a:srgbClr val="263238"/>
                </a:solidFill>
                <a:latin typeface="Calibri" pitchFamily="34" charset="0"/>
                <a:ea typeface="Calibri" pitchFamily="34" charset="-122"/>
                <a:cs typeface="Calibri" pitchFamily="34" charset="-120"/>
              </a:rPr>
              <a:t>Monthly Customer Success outreach</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Health score monitoring and review</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Proactive re-onboarding where applicable</a:t>
            </a:r>
            <a:endParaRPr lang="en-US" sz="800" dirty="0"/>
          </a:p>
        </p:txBody>
      </p:sp>
      <p:sp>
        <p:nvSpPr>
          <p:cNvPr id="30" name="Shape 27"/>
          <p:cNvSpPr/>
          <p:nvPr/>
        </p:nvSpPr>
        <p:spPr>
          <a:xfrm>
            <a:off x="5321808" y="3584448"/>
            <a:ext cx="3364992" cy="969264"/>
          </a:xfrm>
          <a:prstGeom prst="rect">
            <a:avLst/>
          </a:prstGeom>
          <a:solidFill>
            <a:srgbClr val="FDECEA"/>
          </a:solidFill>
          <a:ln w="12700">
            <a:solidFill>
              <a:srgbClr val="FFCDD2"/>
            </a:solidFill>
            <a:prstDash val="solid"/>
          </a:ln>
          <a:effectLst>
            <a:outerShdw blurRad="63500" dist="25400" dir="8100000" algn="bl" rotWithShape="0">
              <a:srgbClr val="000000">
                <a:alpha val="8000"/>
              </a:srgbClr>
            </a:outerShdw>
          </a:effectLst>
        </p:spPr>
        <p:txBody>
          <a:bodyPr/>
          <a:lstStyle/>
          <a:p>
            <a:endParaRPr lang="en-US"/>
          </a:p>
        </p:txBody>
      </p:sp>
      <p:sp>
        <p:nvSpPr>
          <p:cNvPr id="31" name="Shape 28"/>
          <p:cNvSpPr/>
          <p:nvPr/>
        </p:nvSpPr>
        <p:spPr>
          <a:xfrm>
            <a:off x="5321808" y="3584448"/>
            <a:ext cx="36576" cy="969264"/>
          </a:xfrm>
          <a:prstGeom prst="rect">
            <a:avLst/>
          </a:prstGeom>
          <a:solidFill>
            <a:srgbClr val="C62828"/>
          </a:solidFill>
          <a:ln w="12700">
            <a:solidFill>
              <a:srgbClr val="C62828"/>
            </a:solidFill>
            <a:prstDash val="solid"/>
          </a:ln>
        </p:spPr>
        <p:txBody>
          <a:bodyPr/>
          <a:lstStyle/>
          <a:p>
            <a:endParaRPr lang="en-US"/>
          </a:p>
        </p:txBody>
      </p:sp>
      <p:sp>
        <p:nvSpPr>
          <p:cNvPr id="32" name="Text 29"/>
          <p:cNvSpPr/>
          <p:nvPr/>
        </p:nvSpPr>
        <p:spPr>
          <a:xfrm>
            <a:off x="5449824" y="3657600"/>
            <a:ext cx="3145536" cy="219456"/>
          </a:xfrm>
          <a:prstGeom prst="rect">
            <a:avLst/>
          </a:prstGeom>
          <a:noFill/>
          <a:ln/>
        </p:spPr>
        <p:txBody>
          <a:bodyPr wrap="square" lIns="0" tIns="0" rIns="0" bIns="0" rtlCol="0" anchor="ctr"/>
          <a:lstStyle/>
          <a:p>
            <a:pPr marL="0" indent="0">
              <a:buNone/>
            </a:pPr>
            <a:r>
              <a:rPr lang="en-US" sz="850" b="1" dirty="0">
                <a:solidFill>
                  <a:srgbClr val="263238"/>
                </a:solidFill>
                <a:latin typeface="Calibri" pitchFamily="34" charset="0"/>
                <a:ea typeface="Calibri" pitchFamily="34" charset="-122"/>
                <a:cs typeface="Calibri" pitchFamily="34" charset="-120"/>
              </a:rPr>
              <a:t>High Risk  ·  60–100%</a:t>
            </a:r>
            <a:endParaRPr lang="en-US" sz="850" dirty="0"/>
          </a:p>
        </p:txBody>
      </p:sp>
      <p:sp>
        <p:nvSpPr>
          <p:cNvPr id="33" name="Text 30"/>
          <p:cNvSpPr/>
          <p:nvPr/>
        </p:nvSpPr>
        <p:spPr>
          <a:xfrm>
            <a:off x="5449824" y="3895344"/>
            <a:ext cx="3145536" cy="164592"/>
          </a:xfrm>
          <a:prstGeom prst="rect">
            <a:avLst/>
          </a:prstGeom>
          <a:noFill/>
          <a:ln/>
        </p:spPr>
        <p:txBody>
          <a:bodyPr wrap="square" lIns="0" tIns="0" rIns="0" bIns="0" rtlCol="0" anchor="ctr"/>
          <a:lstStyle/>
          <a:p>
            <a:pPr marL="0" indent="0">
              <a:buNone/>
            </a:pPr>
            <a:r>
              <a:rPr lang="en-US" sz="750" dirty="0">
                <a:solidFill>
                  <a:srgbClr val="757575"/>
                </a:solidFill>
                <a:latin typeface="Calibri" pitchFamily="34" charset="0"/>
                <a:ea typeface="Calibri" pitchFamily="34" charset="-122"/>
                <a:cs typeface="Calibri" pitchFamily="34" charset="-120"/>
              </a:rPr>
              <a:t>91 accounts  |  $156,118 MRR</a:t>
            </a:r>
            <a:endParaRPr lang="en-US" sz="750" dirty="0"/>
          </a:p>
        </p:txBody>
      </p:sp>
      <p:sp>
        <p:nvSpPr>
          <p:cNvPr id="34" name="Text 31"/>
          <p:cNvSpPr/>
          <p:nvPr/>
        </p:nvSpPr>
        <p:spPr>
          <a:xfrm>
            <a:off x="5376672" y="4032504"/>
            <a:ext cx="3145536" cy="420624"/>
          </a:xfrm>
          <a:prstGeom prst="rect">
            <a:avLst/>
          </a:prstGeom>
          <a:noFill/>
          <a:ln/>
        </p:spPr>
        <p:txBody>
          <a:bodyPr wrap="square" rtlCol="0" anchor="t"/>
          <a:lstStyle/>
          <a:p>
            <a:pPr>
              <a:buSzPct val="100000"/>
            </a:pPr>
            <a:r>
              <a:rPr lang="en-US" sz="800" dirty="0">
                <a:solidFill>
                  <a:srgbClr val="263238"/>
                </a:solidFill>
                <a:latin typeface="Calibri" pitchFamily="34" charset="0"/>
                <a:ea typeface="Calibri" pitchFamily="34" charset="-122"/>
                <a:cs typeface="Calibri" pitchFamily="34" charset="-120"/>
              </a:rPr>
              <a:t>Immediate CSM contact this week</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Executive sponsor engagement</a:t>
            </a:r>
            <a:endParaRPr lang="en-US" sz="800" dirty="0"/>
          </a:p>
          <a:p>
            <a:pPr>
              <a:buSzPct val="100000"/>
            </a:pPr>
            <a:r>
              <a:rPr lang="en-US" sz="800" dirty="0">
                <a:solidFill>
                  <a:srgbClr val="263238"/>
                </a:solidFill>
                <a:latin typeface="Calibri" pitchFamily="34" charset="0"/>
                <a:ea typeface="Calibri" pitchFamily="34" charset="-122"/>
                <a:cs typeface="Calibri" pitchFamily="34" charset="-120"/>
              </a:rPr>
              <a:t>Tailored retention offer within 48 hours</a:t>
            </a:r>
            <a:endParaRPr lang="en-US" sz="800" dirty="0"/>
          </a:p>
        </p:txBody>
      </p:sp>
      <p:sp>
        <p:nvSpPr>
          <p:cNvPr id="35" name="Shape 32"/>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36" name="Text 33"/>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37" name="Text 34"/>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Prescriptive Analytics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RECOMMENDATIONS</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Strategic Recommendations</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Four data-driven interventions derived directly from the predictive model and risk segmentation findings</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36192"/>
            <a:ext cx="4206240" cy="1481328"/>
          </a:xfrm>
          <a:prstGeom prst="rect">
            <a:avLst/>
          </a:prstGeom>
          <a:solidFill>
            <a:srgbClr val="E8F5E9"/>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36192"/>
            <a:ext cx="4206240" cy="36576"/>
          </a:xfrm>
          <a:prstGeom prst="rect">
            <a:avLst/>
          </a:prstGeom>
          <a:solidFill>
            <a:srgbClr val="66BB6A"/>
          </a:solidFill>
          <a:ln w="12700">
            <a:solidFill>
              <a:srgbClr val="66BB6A"/>
            </a:solidFill>
            <a:prstDash val="solid"/>
          </a:ln>
        </p:spPr>
        <p:txBody>
          <a:bodyPr/>
          <a:lstStyle/>
          <a:p>
            <a:endParaRPr lang="en-US"/>
          </a:p>
        </p:txBody>
      </p:sp>
      <p:sp>
        <p:nvSpPr>
          <p:cNvPr id="9" name="Shape 7"/>
          <p:cNvSpPr/>
          <p:nvPr/>
        </p:nvSpPr>
        <p:spPr>
          <a:xfrm>
            <a:off x="566928" y="1645920"/>
            <a:ext cx="347472" cy="347472"/>
          </a:xfrm>
          <a:prstGeom prst="rect">
            <a:avLst/>
          </a:prstGeom>
          <a:solidFill>
            <a:srgbClr val="66BB6A"/>
          </a:solidFill>
          <a:ln w="12700">
            <a:solidFill>
              <a:srgbClr val="66BB6A"/>
            </a:solidFill>
            <a:prstDash val="solid"/>
          </a:ln>
        </p:spPr>
        <p:txBody>
          <a:bodyPr/>
          <a:lstStyle/>
          <a:p>
            <a:endParaRPr lang="en-US"/>
          </a:p>
        </p:txBody>
      </p:sp>
      <p:sp>
        <p:nvSpPr>
          <p:cNvPr id="10" name="Text 8"/>
          <p:cNvSpPr/>
          <p:nvPr/>
        </p:nvSpPr>
        <p:spPr>
          <a:xfrm>
            <a:off x="566928" y="16459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1" name="Text 9"/>
          <p:cNvSpPr/>
          <p:nvPr/>
        </p:nvSpPr>
        <p:spPr>
          <a:xfrm>
            <a:off x="1024128" y="1664208"/>
            <a:ext cx="3529584"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Prioritize Annual Contract Conversion</a:t>
            </a:r>
            <a:endParaRPr lang="en-US" sz="950" dirty="0"/>
          </a:p>
        </p:txBody>
      </p:sp>
      <p:sp>
        <p:nvSpPr>
          <p:cNvPr id="12" name="Text 10"/>
          <p:cNvSpPr/>
          <p:nvPr/>
        </p:nvSpPr>
        <p:spPr>
          <a:xfrm>
            <a:off x="585216" y="2066544"/>
            <a:ext cx="3950208" cy="969264"/>
          </a:xfrm>
          <a:prstGeom prst="rect">
            <a:avLst/>
          </a:prstGeom>
          <a:noFill/>
          <a:ln/>
        </p:spPr>
        <p:txBody>
          <a:bodyPr wrap="square" rtlCol="0" anchor="t"/>
          <a:lstStyle/>
          <a:p>
            <a:pPr marL="0" indent="0">
              <a:buNone/>
            </a:pPr>
            <a:r>
              <a:rPr lang="en-US" sz="850" dirty="0">
                <a:solidFill>
                  <a:srgbClr val="263238"/>
                </a:solidFill>
                <a:latin typeface="Calibri" pitchFamily="34" charset="0"/>
                <a:ea typeface="Calibri" pitchFamily="34" charset="-122"/>
                <a:cs typeface="Calibri" pitchFamily="34" charset="-120"/>
              </a:rPr>
              <a:t>The annual ARR coefficient of -0.32 identifies billing cadence as a significant structural retention lever. Targeted incentives, discounts or expanded feature access, should be used to migrate month-to-month accounts to annual agreements.</a:t>
            </a:r>
            <a:endParaRPr lang="en-US" sz="850" dirty="0"/>
          </a:p>
        </p:txBody>
      </p:sp>
      <p:sp>
        <p:nvSpPr>
          <p:cNvPr id="13" name="Shape 11"/>
          <p:cNvSpPr/>
          <p:nvPr/>
        </p:nvSpPr>
        <p:spPr>
          <a:xfrm>
            <a:off x="4864608" y="1536192"/>
            <a:ext cx="4206240" cy="1481328"/>
          </a:xfrm>
          <a:prstGeom prst="rect">
            <a:avLst/>
          </a:prstGeom>
          <a:solidFill>
            <a:srgbClr val="E0F2F1"/>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4864608" y="1536192"/>
            <a:ext cx="4206240" cy="36576"/>
          </a:xfrm>
          <a:prstGeom prst="rect">
            <a:avLst/>
          </a:prstGeom>
          <a:solidFill>
            <a:srgbClr val="26A69A"/>
          </a:solidFill>
          <a:ln w="12700">
            <a:solidFill>
              <a:srgbClr val="26A69A"/>
            </a:solidFill>
            <a:prstDash val="solid"/>
          </a:ln>
        </p:spPr>
        <p:txBody>
          <a:bodyPr/>
          <a:lstStyle/>
          <a:p>
            <a:endParaRPr lang="en-US"/>
          </a:p>
        </p:txBody>
      </p:sp>
      <p:sp>
        <p:nvSpPr>
          <p:cNvPr id="15" name="Shape 13"/>
          <p:cNvSpPr/>
          <p:nvPr/>
        </p:nvSpPr>
        <p:spPr>
          <a:xfrm>
            <a:off x="4974336" y="1645920"/>
            <a:ext cx="347472" cy="347472"/>
          </a:xfrm>
          <a:prstGeom prst="rect">
            <a:avLst/>
          </a:prstGeom>
          <a:solidFill>
            <a:srgbClr val="26A69A"/>
          </a:solidFill>
          <a:ln w="12700">
            <a:solidFill>
              <a:srgbClr val="26A69A"/>
            </a:solidFill>
            <a:prstDash val="solid"/>
          </a:ln>
        </p:spPr>
        <p:txBody>
          <a:bodyPr/>
          <a:lstStyle/>
          <a:p>
            <a:endParaRPr lang="en-US"/>
          </a:p>
        </p:txBody>
      </p:sp>
      <p:sp>
        <p:nvSpPr>
          <p:cNvPr id="16" name="Text 14"/>
          <p:cNvSpPr/>
          <p:nvPr/>
        </p:nvSpPr>
        <p:spPr>
          <a:xfrm>
            <a:off x="4974336" y="16459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7" name="Text 15"/>
          <p:cNvSpPr/>
          <p:nvPr/>
        </p:nvSpPr>
        <p:spPr>
          <a:xfrm>
            <a:off x="5431536" y="1664208"/>
            <a:ext cx="3529584"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Address DevTools Through Targeted Engagement</a:t>
            </a:r>
            <a:endParaRPr lang="en-US" sz="950" dirty="0"/>
          </a:p>
        </p:txBody>
      </p:sp>
      <p:sp>
        <p:nvSpPr>
          <p:cNvPr id="18" name="Text 16"/>
          <p:cNvSpPr/>
          <p:nvPr/>
        </p:nvSpPr>
        <p:spPr>
          <a:xfrm>
            <a:off x="4992624" y="2066544"/>
            <a:ext cx="3950208" cy="969264"/>
          </a:xfrm>
          <a:prstGeom prst="rect">
            <a:avLst/>
          </a:prstGeom>
          <a:noFill/>
          <a:ln/>
        </p:spPr>
        <p:txBody>
          <a:bodyPr wrap="square" rtlCol="0" anchor="t"/>
          <a:lstStyle/>
          <a:p>
            <a:pPr marL="0" indent="0">
              <a:buNone/>
            </a:pPr>
            <a:r>
              <a:rPr lang="en-US" sz="850" dirty="0">
                <a:solidFill>
                  <a:srgbClr val="263238"/>
                </a:solidFill>
                <a:latin typeface="Calibri" pitchFamily="34" charset="0"/>
                <a:ea typeface="Calibri" pitchFamily="34" charset="-122"/>
                <a:cs typeface="Calibri" pitchFamily="34" charset="-120"/>
              </a:rPr>
              <a:t>A 31% churn rate combined with a logistic regression coefficient of +0.44 confirms that DevTools attrition reflects structural product or support gaps. Dedicated onboarding workflows and expedited SLA tiers for this segment are warranted by the data.</a:t>
            </a:r>
            <a:endParaRPr lang="en-US" sz="850" dirty="0"/>
          </a:p>
        </p:txBody>
      </p:sp>
      <p:sp>
        <p:nvSpPr>
          <p:cNvPr id="19" name="Shape 17"/>
          <p:cNvSpPr/>
          <p:nvPr/>
        </p:nvSpPr>
        <p:spPr>
          <a:xfrm>
            <a:off x="457200" y="3236976"/>
            <a:ext cx="4206240" cy="1481328"/>
          </a:xfrm>
          <a:prstGeom prst="rect">
            <a:avLst/>
          </a:prstGeom>
          <a:solidFill>
            <a:srgbClr val="FDECEA"/>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457200" y="3236976"/>
            <a:ext cx="4206240" cy="36576"/>
          </a:xfrm>
          <a:prstGeom prst="rect">
            <a:avLst/>
          </a:prstGeom>
          <a:solidFill>
            <a:srgbClr val="C62828"/>
          </a:solidFill>
          <a:ln w="12700">
            <a:solidFill>
              <a:srgbClr val="C62828"/>
            </a:solidFill>
            <a:prstDash val="solid"/>
          </a:ln>
        </p:spPr>
        <p:txBody>
          <a:bodyPr/>
          <a:lstStyle/>
          <a:p>
            <a:endParaRPr lang="en-US"/>
          </a:p>
        </p:txBody>
      </p:sp>
      <p:sp>
        <p:nvSpPr>
          <p:cNvPr id="21" name="Shape 19"/>
          <p:cNvSpPr/>
          <p:nvPr/>
        </p:nvSpPr>
        <p:spPr>
          <a:xfrm>
            <a:off x="566928" y="3346704"/>
            <a:ext cx="347472" cy="347472"/>
          </a:xfrm>
          <a:prstGeom prst="rect">
            <a:avLst/>
          </a:prstGeom>
          <a:solidFill>
            <a:srgbClr val="C62828"/>
          </a:solidFill>
          <a:ln w="12700">
            <a:solidFill>
              <a:srgbClr val="C62828"/>
            </a:solidFill>
            <a:prstDash val="solid"/>
          </a:ln>
        </p:spPr>
        <p:txBody>
          <a:bodyPr/>
          <a:lstStyle/>
          <a:p>
            <a:endParaRPr lang="en-US"/>
          </a:p>
        </p:txBody>
      </p:sp>
      <p:sp>
        <p:nvSpPr>
          <p:cNvPr id="22" name="Text 20"/>
          <p:cNvSpPr/>
          <p:nvPr/>
        </p:nvSpPr>
        <p:spPr>
          <a:xfrm>
            <a:off x="566928" y="334670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3" name="Text 21"/>
          <p:cNvSpPr/>
          <p:nvPr/>
        </p:nvSpPr>
        <p:spPr>
          <a:xfrm>
            <a:off x="1024128" y="3364992"/>
            <a:ext cx="3529584"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Implement Downgrade-Triggered Retention Protocols</a:t>
            </a:r>
            <a:endParaRPr lang="en-US" sz="950" dirty="0"/>
          </a:p>
        </p:txBody>
      </p:sp>
      <p:sp>
        <p:nvSpPr>
          <p:cNvPr id="24" name="Text 22"/>
          <p:cNvSpPr/>
          <p:nvPr/>
        </p:nvSpPr>
        <p:spPr>
          <a:xfrm>
            <a:off x="585216" y="3767328"/>
            <a:ext cx="3950208" cy="969264"/>
          </a:xfrm>
          <a:prstGeom prst="rect">
            <a:avLst/>
          </a:prstGeom>
          <a:noFill/>
          <a:ln/>
        </p:spPr>
        <p:txBody>
          <a:bodyPr wrap="square" rtlCol="0" anchor="t"/>
          <a:lstStyle/>
          <a:p>
            <a:pPr marL="0" indent="0">
              <a:buNone/>
            </a:pPr>
            <a:r>
              <a:rPr lang="en-US" sz="850" dirty="0">
                <a:solidFill>
                  <a:srgbClr val="263238"/>
                </a:solidFill>
                <a:latin typeface="Calibri" pitchFamily="34" charset="0"/>
                <a:ea typeface="Calibri" pitchFamily="34" charset="-122"/>
                <a:cs typeface="Calibri" pitchFamily="34" charset="-120"/>
              </a:rPr>
              <a:t>The preceding downgrade coefficient of +0.14 establishes plan downgrades as a statistically significant leading indicator of churn. CSM outreach initiated within 48 hours of downgrade detection would intercept accounts at the highest-risk juncture.</a:t>
            </a:r>
            <a:endParaRPr lang="en-US" sz="850" dirty="0"/>
          </a:p>
        </p:txBody>
      </p:sp>
      <p:sp>
        <p:nvSpPr>
          <p:cNvPr id="25" name="Shape 23"/>
          <p:cNvSpPr/>
          <p:nvPr/>
        </p:nvSpPr>
        <p:spPr>
          <a:xfrm>
            <a:off x="4864608" y="3236976"/>
            <a:ext cx="4206240" cy="1481328"/>
          </a:xfrm>
          <a:prstGeom prst="rect">
            <a:avLst/>
          </a:prstGeom>
          <a:solidFill>
            <a:srgbClr val="F9FBF0"/>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4864608" y="3236976"/>
            <a:ext cx="4206240" cy="36576"/>
          </a:xfrm>
          <a:prstGeom prst="rect">
            <a:avLst/>
          </a:prstGeom>
          <a:solidFill>
            <a:srgbClr val="8BC34A"/>
          </a:solidFill>
          <a:ln w="12700">
            <a:solidFill>
              <a:srgbClr val="8BC34A"/>
            </a:solidFill>
            <a:prstDash val="solid"/>
          </a:ln>
        </p:spPr>
        <p:txBody>
          <a:bodyPr/>
          <a:lstStyle/>
          <a:p>
            <a:endParaRPr lang="en-US"/>
          </a:p>
        </p:txBody>
      </p:sp>
      <p:sp>
        <p:nvSpPr>
          <p:cNvPr id="27" name="Shape 25"/>
          <p:cNvSpPr/>
          <p:nvPr/>
        </p:nvSpPr>
        <p:spPr>
          <a:xfrm>
            <a:off x="4974336" y="3346704"/>
            <a:ext cx="347472" cy="347472"/>
          </a:xfrm>
          <a:prstGeom prst="rect">
            <a:avLst/>
          </a:prstGeom>
          <a:solidFill>
            <a:srgbClr val="8BC34A"/>
          </a:solidFill>
          <a:ln w="12700">
            <a:solidFill>
              <a:srgbClr val="8BC34A"/>
            </a:solidFill>
            <a:prstDash val="solid"/>
          </a:ln>
        </p:spPr>
        <p:txBody>
          <a:bodyPr/>
          <a:lstStyle/>
          <a:p>
            <a:endParaRPr lang="en-US"/>
          </a:p>
        </p:txBody>
      </p:sp>
      <p:sp>
        <p:nvSpPr>
          <p:cNvPr id="28" name="Text 26"/>
          <p:cNvSpPr/>
          <p:nvPr/>
        </p:nvSpPr>
        <p:spPr>
          <a:xfrm>
            <a:off x="4974336" y="334670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9" name="Text 27"/>
          <p:cNvSpPr/>
          <p:nvPr/>
        </p:nvSpPr>
        <p:spPr>
          <a:xfrm>
            <a:off x="5431536" y="3364992"/>
            <a:ext cx="3529584" cy="237744"/>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Invest in Product Depth Over Usage Volume</a:t>
            </a:r>
            <a:endParaRPr lang="en-US" sz="950" dirty="0"/>
          </a:p>
        </p:txBody>
      </p:sp>
      <p:sp>
        <p:nvSpPr>
          <p:cNvPr id="30" name="Text 28"/>
          <p:cNvSpPr/>
          <p:nvPr/>
        </p:nvSpPr>
        <p:spPr>
          <a:xfrm>
            <a:off x="4992624" y="3767328"/>
            <a:ext cx="3950208" cy="969264"/>
          </a:xfrm>
          <a:prstGeom prst="rect">
            <a:avLst/>
          </a:prstGeom>
          <a:noFill/>
          <a:ln/>
        </p:spPr>
        <p:txBody>
          <a:bodyPr wrap="square" rtlCol="0" anchor="t"/>
          <a:lstStyle/>
          <a:p>
            <a:pPr marL="0" indent="0">
              <a:buNone/>
            </a:pPr>
            <a:r>
              <a:rPr lang="en-US" sz="850" dirty="0">
                <a:solidFill>
                  <a:srgbClr val="263238"/>
                </a:solidFill>
                <a:latin typeface="Calibri" pitchFamily="34" charset="0"/>
                <a:ea typeface="Calibri" pitchFamily="34" charset="-122"/>
                <a:cs typeface="Calibri" pitchFamily="34" charset="-120"/>
              </a:rPr>
              <a:t>Total session duration carries the second-highest retention coefficient at -0.55. Deep, sustained engagement is more predictive of retention than raw usage frequency. Investment in guided onboarding and feature activation workflows is supported by the data.</a:t>
            </a:r>
            <a:endParaRPr lang="en-US" sz="850" dirty="0"/>
          </a:p>
        </p:txBody>
      </p:sp>
      <p:sp>
        <p:nvSpPr>
          <p:cNvPr id="31" name="Shape 29"/>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32" name="Text 30"/>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33" name="Text 31"/>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Recommendations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DISCUSSION</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Discussion</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Analytical contributions, recognized limitations, and directions for future research</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36192"/>
            <a:ext cx="4206240" cy="1572768"/>
          </a:xfrm>
          <a:prstGeom prst="rect">
            <a:avLst/>
          </a:prstGeom>
          <a:solidFill>
            <a:srgbClr val="FFFFFF"/>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36192"/>
            <a:ext cx="4206240" cy="36576"/>
          </a:xfrm>
          <a:prstGeom prst="rect">
            <a:avLst/>
          </a:prstGeom>
          <a:solidFill>
            <a:srgbClr val="66BB6A"/>
          </a:solidFill>
          <a:ln w="12700">
            <a:solidFill>
              <a:srgbClr val="66BB6A"/>
            </a:solidFill>
            <a:prstDash val="solid"/>
          </a:ln>
        </p:spPr>
        <p:txBody>
          <a:bodyPr/>
          <a:lstStyle/>
          <a:p>
            <a:endParaRPr lang="en-US"/>
          </a:p>
        </p:txBody>
      </p:sp>
      <p:sp>
        <p:nvSpPr>
          <p:cNvPr id="9" name="Text 7"/>
          <p:cNvSpPr/>
          <p:nvPr/>
        </p:nvSpPr>
        <p:spPr>
          <a:xfrm>
            <a:off x="566928" y="1645920"/>
            <a:ext cx="3986784" cy="219456"/>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Project Contributions</a:t>
            </a:r>
            <a:endParaRPr lang="en-US" sz="950" dirty="0"/>
          </a:p>
        </p:txBody>
      </p:sp>
      <p:sp>
        <p:nvSpPr>
          <p:cNvPr id="10" name="Text 8"/>
          <p:cNvSpPr/>
          <p:nvPr/>
        </p:nvSpPr>
        <p:spPr>
          <a:xfrm>
            <a:off x="590441" y="1857540"/>
            <a:ext cx="3931920" cy="1207008"/>
          </a:xfrm>
          <a:prstGeom prst="rect">
            <a:avLst/>
          </a:prstGeom>
          <a:noFill/>
          <a:ln/>
        </p:spPr>
        <p:txBody>
          <a:bodyPr wrap="square" rtlCol="0" anchor="t"/>
          <a:lstStyle/>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Demonstrates a complete three-phase analytics lifecycle applicable to any subscription business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Produces a deployable, account-level churn probability score for all 500 customer records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Coefficient findings are directly interpretable and actionable for non-technical stakeholders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The methodology transfers: same pipeline applies to real customer data with minimal modification</a:t>
            </a:r>
            <a:endParaRPr lang="en-US" sz="900" dirty="0"/>
          </a:p>
        </p:txBody>
      </p:sp>
      <p:sp>
        <p:nvSpPr>
          <p:cNvPr id="11" name="Shape 9"/>
          <p:cNvSpPr/>
          <p:nvPr/>
        </p:nvSpPr>
        <p:spPr>
          <a:xfrm>
            <a:off x="4864608" y="1536192"/>
            <a:ext cx="4206240" cy="1572768"/>
          </a:xfrm>
          <a:prstGeom prst="rect">
            <a:avLst/>
          </a:prstGeom>
          <a:solidFill>
            <a:srgbClr val="FDECEA"/>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864608" y="1536192"/>
            <a:ext cx="4206240" cy="36576"/>
          </a:xfrm>
          <a:prstGeom prst="rect">
            <a:avLst/>
          </a:prstGeom>
          <a:solidFill>
            <a:srgbClr val="C62828"/>
          </a:solidFill>
          <a:ln w="12700">
            <a:solidFill>
              <a:srgbClr val="C62828"/>
            </a:solidFill>
            <a:prstDash val="solid"/>
          </a:ln>
        </p:spPr>
        <p:txBody>
          <a:bodyPr/>
          <a:lstStyle/>
          <a:p>
            <a:endParaRPr lang="en-US"/>
          </a:p>
        </p:txBody>
      </p:sp>
      <p:sp>
        <p:nvSpPr>
          <p:cNvPr id="13" name="Text 11"/>
          <p:cNvSpPr/>
          <p:nvPr/>
        </p:nvSpPr>
        <p:spPr>
          <a:xfrm>
            <a:off x="4974336" y="1645920"/>
            <a:ext cx="3986784" cy="219456"/>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Recognized Limitations</a:t>
            </a:r>
            <a:endParaRPr lang="en-US" sz="950" dirty="0"/>
          </a:p>
        </p:txBody>
      </p:sp>
      <p:sp>
        <p:nvSpPr>
          <p:cNvPr id="14" name="Text 12"/>
          <p:cNvSpPr/>
          <p:nvPr/>
        </p:nvSpPr>
        <p:spPr>
          <a:xfrm>
            <a:off x="4997849" y="1857540"/>
            <a:ext cx="3931920" cy="1207008"/>
          </a:xfrm>
          <a:prstGeom prst="rect">
            <a:avLst/>
          </a:prstGeom>
          <a:noFill/>
          <a:ln/>
        </p:spPr>
        <p:txBody>
          <a:bodyPr wrap="square" rtlCol="0" anchor="t"/>
          <a:lstStyle/>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Synthetic dataset attenuates behavioral signal, constraining predictive accuracy (ROC-AUC: 0.56)</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Key behavioral features absent: login frequency, feature adoption trajectory, NPS scores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Risk segmentation is a point-in-time snapshot; production use requires periodic re-scoring</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Model interpretability prioritized over raw accuracy; gradient boosting may yield higher AUC</a:t>
            </a:r>
            <a:endParaRPr lang="en-US" sz="900" dirty="0"/>
          </a:p>
        </p:txBody>
      </p:sp>
      <p:sp>
        <p:nvSpPr>
          <p:cNvPr id="15" name="Shape 13"/>
          <p:cNvSpPr/>
          <p:nvPr/>
        </p:nvSpPr>
        <p:spPr>
          <a:xfrm>
            <a:off x="457200" y="3236976"/>
            <a:ext cx="4206240" cy="1572768"/>
          </a:xfrm>
          <a:prstGeom prst="rect">
            <a:avLst/>
          </a:prstGeom>
          <a:solidFill>
            <a:srgbClr val="E0F2F1"/>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457200" y="3236976"/>
            <a:ext cx="4206240" cy="36576"/>
          </a:xfrm>
          <a:prstGeom prst="rect">
            <a:avLst/>
          </a:prstGeom>
          <a:solidFill>
            <a:srgbClr val="26A69A"/>
          </a:solidFill>
          <a:ln w="12700">
            <a:solidFill>
              <a:srgbClr val="26A69A"/>
            </a:solidFill>
            <a:prstDash val="solid"/>
          </a:ln>
        </p:spPr>
        <p:txBody>
          <a:bodyPr/>
          <a:lstStyle/>
          <a:p>
            <a:endParaRPr lang="en-US"/>
          </a:p>
        </p:txBody>
      </p:sp>
      <p:sp>
        <p:nvSpPr>
          <p:cNvPr id="17" name="Text 15"/>
          <p:cNvSpPr/>
          <p:nvPr/>
        </p:nvSpPr>
        <p:spPr>
          <a:xfrm>
            <a:off x="566928" y="3346704"/>
            <a:ext cx="3986784" cy="219456"/>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Directions for Future Research</a:t>
            </a:r>
            <a:endParaRPr lang="en-US" sz="950" dirty="0"/>
          </a:p>
        </p:txBody>
      </p:sp>
      <p:sp>
        <p:nvSpPr>
          <p:cNvPr id="18" name="Text 16"/>
          <p:cNvSpPr/>
          <p:nvPr/>
        </p:nvSpPr>
        <p:spPr>
          <a:xfrm>
            <a:off x="590441" y="3558324"/>
            <a:ext cx="3931920" cy="1207008"/>
          </a:xfrm>
          <a:prstGeom prst="rect">
            <a:avLst/>
          </a:prstGeom>
          <a:noFill/>
          <a:ln/>
        </p:spPr>
        <p:txBody>
          <a:bodyPr wrap="square" rtlCol="0" anchor="t"/>
          <a:lstStyle/>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Incorporate XGBoost or Random Forest for comparative performance benchmarking</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Engineer time-series features capturing behavioral change over 30, 60, and 90-day windows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Quantify projected MRR retained per risk tier to monetize the recommendations</a:t>
            </a:r>
            <a:endParaRPr lang="en-US" sz="900" dirty="0"/>
          </a:p>
        </p:txBody>
      </p:sp>
      <p:sp>
        <p:nvSpPr>
          <p:cNvPr id="19" name="Shape 17"/>
          <p:cNvSpPr/>
          <p:nvPr/>
        </p:nvSpPr>
        <p:spPr>
          <a:xfrm>
            <a:off x="4864608" y="3236976"/>
            <a:ext cx="4206240" cy="1572768"/>
          </a:xfrm>
          <a:prstGeom prst="rect">
            <a:avLst/>
          </a:prstGeom>
          <a:solidFill>
            <a:srgbClr val="F9FBF0"/>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4864608" y="3236976"/>
            <a:ext cx="4206240" cy="36576"/>
          </a:xfrm>
          <a:prstGeom prst="rect">
            <a:avLst/>
          </a:prstGeom>
          <a:solidFill>
            <a:srgbClr val="8BC34A"/>
          </a:solidFill>
          <a:ln w="12700">
            <a:solidFill>
              <a:srgbClr val="8BC34A"/>
            </a:solidFill>
            <a:prstDash val="solid"/>
          </a:ln>
        </p:spPr>
        <p:txBody>
          <a:bodyPr/>
          <a:lstStyle/>
          <a:p>
            <a:endParaRPr lang="en-US"/>
          </a:p>
        </p:txBody>
      </p:sp>
      <p:sp>
        <p:nvSpPr>
          <p:cNvPr id="21" name="Text 19"/>
          <p:cNvSpPr/>
          <p:nvPr/>
        </p:nvSpPr>
        <p:spPr>
          <a:xfrm>
            <a:off x="4974336" y="3346704"/>
            <a:ext cx="3986784" cy="219456"/>
          </a:xfrm>
          <a:prstGeom prst="rect">
            <a:avLst/>
          </a:prstGeom>
          <a:noFill/>
          <a:ln/>
        </p:spPr>
        <p:txBody>
          <a:bodyPr wrap="square" lIns="0" tIns="0" rIns="0" bIns="0" rtlCol="0" anchor="ctr"/>
          <a:lstStyle/>
          <a:p>
            <a:pPr marL="0" indent="0">
              <a:buNone/>
            </a:pPr>
            <a:r>
              <a:rPr lang="en-US" sz="950" b="1" dirty="0">
                <a:solidFill>
                  <a:srgbClr val="1B5E20"/>
                </a:solidFill>
                <a:latin typeface="Calibri" pitchFamily="34" charset="0"/>
                <a:ea typeface="Calibri" pitchFamily="34" charset="-122"/>
                <a:cs typeface="Calibri" pitchFamily="34" charset="-120"/>
              </a:rPr>
              <a:t>Emerging AI Considerations</a:t>
            </a:r>
            <a:endParaRPr lang="en-US" sz="950" dirty="0"/>
          </a:p>
        </p:txBody>
      </p:sp>
      <p:sp>
        <p:nvSpPr>
          <p:cNvPr id="22" name="Text 20"/>
          <p:cNvSpPr/>
          <p:nvPr/>
        </p:nvSpPr>
        <p:spPr>
          <a:xfrm>
            <a:off x="4997849" y="3558324"/>
            <a:ext cx="3931920" cy="1207008"/>
          </a:xfrm>
          <a:prstGeom prst="rect">
            <a:avLst/>
          </a:prstGeom>
          <a:noFill/>
          <a:ln/>
        </p:spPr>
        <p:txBody>
          <a:bodyPr wrap="square" rtlCol="0" anchor="t"/>
          <a:lstStyle/>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LLM-based analysis of feedback_text field could surface unstructured exit signals</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Real-time churn scoring via a serialized model API is feasible with the current pipeline</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AI-assisted CS routing could automate tier-based account assignment at scale</a:t>
            </a:r>
            <a:endParaRPr lang="en-US" sz="900" dirty="0"/>
          </a:p>
          <a:p>
            <a:pPr marL="171450" indent="-171450">
              <a:buSzPct val="100000"/>
              <a:buFont typeface="Arial" panose="020B0604020202020204" pitchFamily="34" charset="0"/>
              <a:buChar char="•"/>
            </a:pPr>
            <a:r>
              <a:rPr lang="en-US" sz="900" dirty="0">
                <a:solidFill>
                  <a:srgbClr val="263238"/>
                </a:solidFill>
                <a:latin typeface="Calibri" pitchFamily="34" charset="0"/>
                <a:ea typeface="Calibri" pitchFamily="34" charset="-122"/>
                <a:cs typeface="Calibri" pitchFamily="34" charset="-120"/>
              </a:rPr>
              <a:t>Generative AI may support personalized retention communication at scale</a:t>
            </a:r>
            <a:endParaRPr lang="en-US" sz="900" dirty="0"/>
          </a:p>
        </p:txBody>
      </p:sp>
      <p:sp>
        <p:nvSpPr>
          <p:cNvPr id="23" name="Shape 21"/>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24" name="Text 22"/>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25" name="Text 23"/>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Discussion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457200" y="274320"/>
            <a:ext cx="32004" cy="164592"/>
          </a:xfrm>
          <a:prstGeom prst="rect">
            <a:avLst/>
          </a:prstGeom>
          <a:solidFill>
            <a:srgbClr val="66BB6A"/>
          </a:solidFill>
          <a:ln w="12700">
            <a:solidFill>
              <a:srgbClr val="66BB6A"/>
            </a:solidFill>
            <a:prstDash val="solid"/>
          </a:ln>
        </p:spPr>
        <p:txBody>
          <a:bodyPr/>
          <a:lstStyle/>
          <a:p>
            <a:endParaRPr lang="en-US"/>
          </a:p>
        </p:txBody>
      </p:sp>
      <p:sp>
        <p:nvSpPr>
          <p:cNvPr id="3" name="Text 1"/>
          <p:cNvSpPr/>
          <p:nvPr/>
        </p:nvSpPr>
        <p:spPr>
          <a:xfrm>
            <a:off x="530352" y="246888"/>
            <a:ext cx="3657600" cy="219456"/>
          </a:xfrm>
          <a:prstGeom prst="rect">
            <a:avLst/>
          </a:prstGeom>
          <a:noFill/>
          <a:ln/>
        </p:spPr>
        <p:txBody>
          <a:bodyPr wrap="square" lIns="0" tIns="0" rIns="0" bIns="0" rtlCol="0" anchor="ctr"/>
          <a:lstStyle/>
          <a:p>
            <a:pPr marL="0" indent="0">
              <a:buNone/>
            </a:pPr>
            <a:r>
              <a:rPr lang="en-US" sz="800" b="1" kern="0" spc="200" dirty="0">
                <a:solidFill>
                  <a:srgbClr val="2E7D32"/>
                </a:solidFill>
                <a:latin typeface="Calibri" pitchFamily="34" charset="0"/>
                <a:ea typeface="Calibri" pitchFamily="34" charset="-122"/>
                <a:cs typeface="Calibri" pitchFamily="34" charset="-120"/>
              </a:rPr>
              <a:t>CONCLUSION</a:t>
            </a:r>
            <a:endParaRPr lang="en-US" sz="8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marL="0" indent="0">
              <a:buNone/>
            </a:pPr>
            <a:r>
              <a:rPr lang="en-US" sz="2600" b="1" dirty="0">
                <a:solidFill>
                  <a:srgbClr val="1B5E20"/>
                </a:solidFill>
                <a:latin typeface="Calibri" pitchFamily="34" charset="0"/>
                <a:ea typeface="Calibri" pitchFamily="34" charset="-122"/>
                <a:cs typeface="Calibri" pitchFamily="34" charset="-120"/>
              </a:rPr>
              <a:t>Conclusion</a:t>
            </a:r>
            <a:endParaRPr lang="en-US" sz="26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000" i="1" dirty="0">
                <a:solidFill>
                  <a:srgbClr val="757575"/>
                </a:solidFill>
                <a:latin typeface="Calibri" pitchFamily="34" charset="0"/>
                <a:ea typeface="Calibri" pitchFamily="34" charset="-122"/>
                <a:cs typeface="Calibri" pitchFamily="34" charset="-120"/>
              </a:rPr>
              <a:t>Summary of project outcomes and key competencies developed through this capstone</a:t>
            </a:r>
            <a:endParaRPr lang="en-US" sz="1000" dirty="0"/>
          </a:p>
        </p:txBody>
      </p:sp>
      <p:sp>
        <p:nvSpPr>
          <p:cNvPr id="6" name="Shape 4"/>
          <p:cNvSpPr/>
          <p:nvPr/>
        </p:nvSpPr>
        <p:spPr>
          <a:xfrm>
            <a:off x="457200" y="1389888"/>
            <a:ext cx="8229600" cy="18288"/>
          </a:xfrm>
          <a:prstGeom prst="rect">
            <a:avLst/>
          </a:prstGeom>
          <a:solidFill>
            <a:srgbClr val="C8E6C9"/>
          </a:solidFill>
          <a:ln w="12700">
            <a:solidFill>
              <a:srgbClr val="C8E6C9"/>
            </a:solidFill>
            <a:prstDash val="solid"/>
          </a:ln>
        </p:spPr>
        <p:txBody>
          <a:bodyPr/>
          <a:lstStyle/>
          <a:p>
            <a:endParaRPr lang="en-US"/>
          </a:p>
        </p:txBody>
      </p:sp>
      <p:sp>
        <p:nvSpPr>
          <p:cNvPr id="7" name="Shape 5"/>
          <p:cNvSpPr/>
          <p:nvPr/>
        </p:nvSpPr>
        <p:spPr>
          <a:xfrm>
            <a:off x="457200" y="1536192"/>
            <a:ext cx="2633472" cy="2066544"/>
          </a:xfrm>
          <a:prstGeom prst="rect">
            <a:avLst/>
          </a:prstGeom>
          <a:solidFill>
            <a:srgbClr val="E8F5E9"/>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457200" y="1536192"/>
            <a:ext cx="2633472" cy="36576"/>
          </a:xfrm>
          <a:prstGeom prst="rect">
            <a:avLst/>
          </a:prstGeom>
          <a:solidFill>
            <a:srgbClr val="66BB6A"/>
          </a:solidFill>
          <a:ln w="12700">
            <a:solidFill>
              <a:srgbClr val="66BB6A"/>
            </a:solidFill>
            <a:prstDash val="solid"/>
          </a:ln>
        </p:spPr>
        <p:txBody>
          <a:bodyPr/>
          <a:lstStyle/>
          <a:p>
            <a:endParaRPr lang="en-US"/>
          </a:p>
        </p:txBody>
      </p:sp>
      <p:sp>
        <p:nvSpPr>
          <p:cNvPr id="9" name="Text 7"/>
          <p:cNvSpPr/>
          <p:nvPr/>
        </p:nvSpPr>
        <p:spPr>
          <a:xfrm>
            <a:off x="566928" y="1609344"/>
            <a:ext cx="1463040" cy="274320"/>
          </a:xfrm>
          <a:prstGeom prst="rect">
            <a:avLst/>
          </a:prstGeom>
          <a:noFill/>
          <a:ln/>
        </p:spPr>
        <p:txBody>
          <a:bodyPr wrap="square" lIns="0" tIns="0" rIns="0" bIns="0"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Phase A</a:t>
            </a:r>
            <a:endParaRPr lang="en-US" sz="1200" dirty="0"/>
          </a:p>
        </p:txBody>
      </p:sp>
      <p:sp>
        <p:nvSpPr>
          <p:cNvPr id="10" name="Text 8"/>
          <p:cNvSpPr/>
          <p:nvPr/>
        </p:nvSpPr>
        <p:spPr>
          <a:xfrm>
            <a:off x="2057400" y="1627632"/>
            <a:ext cx="932688" cy="201168"/>
          </a:xfrm>
          <a:prstGeom prst="rect">
            <a:avLst/>
          </a:prstGeom>
          <a:noFill/>
          <a:ln/>
        </p:spPr>
        <p:txBody>
          <a:bodyPr wrap="square" lIns="0" tIns="0" rIns="0" bIns="0" rtlCol="0" anchor="ctr"/>
          <a:lstStyle/>
          <a:p>
            <a:pPr marL="0" indent="0" algn="r">
              <a:buNone/>
            </a:pPr>
            <a:r>
              <a:rPr lang="en-US" sz="700" b="1" dirty="0">
                <a:solidFill>
                  <a:srgbClr val="757575"/>
                </a:solidFill>
                <a:latin typeface="Calibri" pitchFamily="34" charset="0"/>
                <a:ea typeface="Calibri" pitchFamily="34" charset="-122"/>
                <a:cs typeface="Calibri" pitchFamily="34" charset="-120"/>
              </a:rPr>
              <a:t>DESCRIPTIVE</a:t>
            </a:r>
            <a:endParaRPr lang="en-US" sz="700" dirty="0"/>
          </a:p>
        </p:txBody>
      </p:sp>
      <p:sp>
        <p:nvSpPr>
          <p:cNvPr id="11" name="Shape 9"/>
          <p:cNvSpPr/>
          <p:nvPr/>
        </p:nvSpPr>
        <p:spPr>
          <a:xfrm>
            <a:off x="566928" y="1920240"/>
            <a:ext cx="2286000" cy="18288"/>
          </a:xfrm>
          <a:prstGeom prst="rect">
            <a:avLst/>
          </a:prstGeom>
          <a:solidFill>
            <a:srgbClr val="C8E6C9"/>
          </a:solidFill>
          <a:ln w="12700">
            <a:solidFill>
              <a:srgbClr val="C8E6C9"/>
            </a:solidFill>
            <a:prstDash val="solid"/>
          </a:ln>
        </p:spPr>
        <p:txBody>
          <a:bodyPr/>
          <a:lstStyle/>
          <a:p>
            <a:endParaRPr lang="en-US"/>
          </a:p>
        </p:txBody>
      </p:sp>
      <p:sp>
        <p:nvSpPr>
          <p:cNvPr id="12" name="Text 10"/>
          <p:cNvSpPr/>
          <p:nvPr/>
        </p:nvSpPr>
        <p:spPr>
          <a:xfrm>
            <a:off x="566928" y="1993392"/>
            <a:ext cx="2414016" cy="1517904"/>
          </a:xfrm>
          <a:prstGeom prst="rect">
            <a:avLst/>
          </a:prstGeom>
          <a:noFill/>
          <a:ln/>
        </p:spPr>
        <p:txBody>
          <a:bodyPr wrap="square" rtlCol="0" anchor="t"/>
          <a:lstStyle/>
          <a:p>
            <a:pPr marL="0" indent="0">
              <a:buNone/>
            </a:pPr>
            <a:r>
              <a:rPr lang="en-US" sz="900" dirty="0">
                <a:solidFill>
                  <a:srgbClr val="263238"/>
                </a:solidFill>
                <a:latin typeface="Calibri" pitchFamily="34" charset="0"/>
                <a:ea typeface="Calibri" pitchFamily="34" charset="-122"/>
                <a:cs typeface="Calibri" pitchFamily="34" charset="-120"/>
              </a:rPr>
              <a:t>The Power BI dashboard revealed that DevTools is the highest-risk industry vertical, feature gaps are the primary exit driver, and neither plan tier nor tenure provide meaningful protection against churn. Geographic segmentation surfaced Australia as the strongest retention market.</a:t>
            </a:r>
            <a:endParaRPr lang="en-US" sz="900" dirty="0"/>
          </a:p>
        </p:txBody>
      </p:sp>
      <p:sp>
        <p:nvSpPr>
          <p:cNvPr id="13" name="Shape 11"/>
          <p:cNvSpPr/>
          <p:nvPr/>
        </p:nvSpPr>
        <p:spPr>
          <a:xfrm>
            <a:off x="3255264" y="1536192"/>
            <a:ext cx="2633472" cy="2066544"/>
          </a:xfrm>
          <a:prstGeom prst="rect">
            <a:avLst/>
          </a:prstGeom>
          <a:solidFill>
            <a:srgbClr val="E0F2F1"/>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3255264" y="1536192"/>
            <a:ext cx="2633472" cy="36576"/>
          </a:xfrm>
          <a:prstGeom prst="rect">
            <a:avLst/>
          </a:prstGeom>
          <a:solidFill>
            <a:srgbClr val="26A69A"/>
          </a:solidFill>
          <a:ln w="12700">
            <a:solidFill>
              <a:srgbClr val="26A69A"/>
            </a:solidFill>
            <a:prstDash val="solid"/>
          </a:ln>
        </p:spPr>
        <p:txBody>
          <a:bodyPr/>
          <a:lstStyle/>
          <a:p>
            <a:endParaRPr lang="en-US"/>
          </a:p>
        </p:txBody>
      </p:sp>
      <p:sp>
        <p:nvSpPr>
          <p:cNvPr id="15" name="Text 13"/>
          <p:cNvSpPr/>
          <p:nvPr/>
        </p:nvSpPr>
        <p:spPr>
          <a:xfrm>
            <a:off x="3364992" y="1609344"/>
            <a:ext cx="1463040" cy="274320"/>
          </a:xfrm>
          <a:prstGeom prst="rect">
            <a:avLst/>
          </a:prstGeom>
          <a:noFill/>
          <a:ln/>
        </p:spPr>
        <p:txBody>
          <a:bodyPr wrap="square" lIns="0" tIns="0" rIns="0" bIns="0"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Phase B</a:t>
            </a:r>
            <a:endParaRPr lang="en-US" sz="1200" dirty="0"/>
          </a:p>
        </p:txBody>
      </p:sp>
      <p:sp>
        <p:nvSpPr>
          <p:cNvPr id="16" name="Text 14"/>
          <p:cNvSpPr/>
          <p:nvPr/>
        </p:nvSpPr>
        <p:spPr>
          <a:xfrm>
            <a:off x="4855464" y="1627632"/>
            <a:ext cx="932688" cy="201168"/>
          </a:xfrm>
          <a:prstGeom prst="rect">
            <a:avLst/>
          </a:prstGeom>
          <a:noFill/>
          <a:ln/>
        </p:spPr>
        <p:txBody>
          <a:bodyPr wrap="square" lIns="0" tIns="0" rIns="0" bIns="0" rtlCol="0" anchor="ctr"/>
          <a:lstStyle/>
          <a:p>
            <a:pPr marL="0" indent="0" algn="r">
              <a:buNone/>
            </a:pPr>
            <a:r>
              <a:rPr lang="en-US" sz="700" b="1" dirty="0">
                <a:solidFill>
                  <a:srgbClr val="757575"/>
                </a:solidFill>
                <a:latin typeface="Calibri" pitchFamily="34" charset="0"/>
                <a:ea typeface="Calibri" pitchFamily="34" charset="-122"/>
                <a:cs typeface="Calibri" pitchFamily="34" charset="-120"/>
              </a:rPr>
              <a:t>PREDICTIVE</a:t>
            </a:r>
            <a:endParaRPr lang="en-US" sz="700" dirty="0"/>
          </a:p>
        </p:txBody>
      </p:sp>
      <p:sp>
        <p:nvSpPr>
          <p:cNvPr id="17" name="Shape 15"/>
          <p:cNvSpPr/>
          <p:nvPr/>
        </p:nvSpPr>
        <p:spPr>
          <a:xfrm>
            <a:off x="3364992" y="1920240"/>
            <a:ext cx="2286000" cy="18288"/>
          </a:xfrm>
          <a:prstGeom prst="rect">
            <a:avLst/>
          </a:prstGeom>
          <a:solidFill>
            <a:srgbClr val="C8E6C9"/>
          </a:solidFill>
          <a:ln w="12700">
            <a:solidFill>
              <a:srgbClr val="C8E6C9"/>
            </a:solidFill>
            <a:prstDash val="solid"/>
          </a:ln>
        </p:spPr>
        <p:txBody>
          <a:bodyPr/>
          <a:lstStyle/>
          <a:p>
            <a:endParaRPr lang="en-US"/>
          </a:p>
        </p:txBody>
      </p:sp>
      <p:sp>
        <p:nvSpPr>
          <p:cNvPr id="18" name="Text 16"/>
          <p:cNvSpPr/>
          <p:nvPr/>
        </p:nvSpPr>
        <p:spPr>
          <a:xfrm>
            <a:off x="3364992" y="1993392"/>
            <a:ext cx="2414016" cy="1517904"/>
          </a:xfrm>
          <a:prstGeom prst="rect">
            <a:avLst/>
          </a:prstGeom>
          <a:noFill/>
          <a:ln/>
        </p:spPr>
        <p:txBody>
          <a:bodyPr wrap="square" rtlCol="0" anchor="t"/>
          <a:lstStyle/>
          <a:p>
            <a:pPr marL="0" indent="0">
              <a:buNone/>
            </a:pPr>
            <a:r>
              <a:rPr lang="en-US" sz="900" dirty="0">
                <a:solidFill>
                  <a:srgbClr val="263238"/>
                </a:solidFill>
                <a:latin typeface="Calibri" pitchFamily="34" charset="0"/>
                <a:ea typeface="Calibri" pitchFamily="34" charset="-122"/>
                <a:cs typeface="Calibri" pitchFamily="34" charset="-120"/>
              </a:rPr>
              <a:t>The logistic regression model identified 12 statistically meaningful churn drivers and produced a probability score for each of the 500 accounts. Annual contracts, session depth, and organic acquisition were confirmed as leading structural retention factors.</a:t>
            </a:r>
            <a:endParaRPr lang="en-US" sz="900" dirty="0"/>
          </a:p>
        </p:txBody>
      </p:sp>
      <p:sp>
        <p:nvSpPr>
          <p:cNvPr id="19" name="Shape 17"/>
          <p:cNvSpPr/>
          <p:nvPr/>
        </p:nvSpPr>
        <p:spPr>
          <a:xfrm>
            <a:off x="6053328" y="1536192"/>
            <a:ext cx="2633472" cy="2066544"/>
          </a:xfrm>
          <a:prstGeom prst="rect">
            <a:avLst/>
          </a:prstGeom>
          <a:solidFill>
            <a:srgbClr val="FDECEA"/>
          </a:solidFill>
          <a:ln w="12700">
            <a:solidFill>
              <a:srgbClr val="C8E6C9"/>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6053328" y="1536192"/>
            <a:ext cx="2633472" cy="36576"/>
          </a:xfrm>
          <a:prstGeom prst="rect">
            <a:avLst/>
          </a:prstGeom>
          <a:solidFill>
            <a:srgbClr val="C62828"/>
          </a:solidFill>
          <a:ln w="12700">
            <a:solidFill>
              <a:srgbClr val="C62828"/>
            </a:solidFill>
            <a:prstDash val="solid"/>
          </a:ln>
        </p:spPr>
        <p:txBody>
          <a:bodyPr/>
          <a:lstStyle/>
          <a:p>
            <a:endParaRPr lang="en-US"/>
          </a:p>
        </p:txBody>
      </p:sp>
      <p:sp>
        <p:nvSpPr>
          <p:cNvPr id="21" name="Text 19"/>
          <p:cNvSpPr/>
          <p:nvPr/>
        </p:nvSpPr>
        <p:spPr>
          <a:xfrm>
            <a:off x="6163056" y="1609344"/>
            <a:ext cx="1463040" cy="274320"/>
          </a:xfrm>
          <a:prstGeom prst="rect">
            <a:avLst/>
          </a:prstGeom>
          <a:noFill/>
          <a:ln/>
        </p:spPr>
        <p:txBody>
          <a:bodyPr wrap="square" lIns="0" tIns="0" rIns="0" bIns="0"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Phase C</a:t>
            </a:r>
            <a:endParaRPr lang="en-US" sz="1200" dirty="0"/>
          </a:p>
        </p:txBody>
      </p:sp>
      <p:sp>
        <p:nvSpPr>
          <p:cNvPr id="22" name="Text 20"/>
          <p:cNvSpPr/>
          <p:nvPr/>
        </p:nvSpPr>
        <p:spPr>
          <a:xfrm>
            <a:off x="7653528" y="1627632"/>
            <a:ext cx="932688" cy="201168"/>
          </a:xfrm>
          <a:prstGeom prst="rect">
            <a:avLst/>
          </a:prstGeom>
          <a:noFill/>
          <a:ln/>
        </p:spPr>
        <p:txBody>
          <a:bodyPr wrap="square" lIns="0" tIns="0" rIns="0" bIns="0" rtlCol="0" anchor="ctr"/>
          <a:lstStyle/>
          <a:p>
            <a:pPr marL="0" indent="0" algn="r">
              <a:buNone/>
            </a:pPr>
            <a:r>
              <a:rPr lang="en-US" sz="700" b="1" dirty="0">
                <a:solidFill>
                  <a:srgbClr val="757575"/>
                </a:solidFill>
                <a:latin typeface="Calibri" pitchFamily="34" charset="0"/>
                <a:ea typeface="Calibri" pitchFamily="34" charset="-122"/>
                <a:cs typeface="Calibri" pitchFamily="34" charset="-120"/>
              </a:rPr>
              <a:t>PRESCRIPTIVE</a:t>
            </a:r>
            <a:endParaRPr lang="en-US" sz="700" dirty="0"/>
          </a:p>
        </p:txBody>
      </p:sp>
      <p:sp>
        <p:nvSpPr>
          <p:cNvPr id="23" name="Shape 21"/>
          <p:cNvSpPr/>
          <p:nvPr/>
        </p:nvSpPr>
        <p:spPr>
          <a:xfrm>
            <a:off x="6163056" y="1920240"/>
            <a:ext cx="2286000" cy="18288"/>
          </a:xfrm>
          <a:prstGeom prst="rect">
            <a:avLst/>
          </a:prstGeom>
          <a:solidFill>
            <a:srgbClr val="C8E6C9"/>
          </a:solidFill>
          <a:ln w="12700">
            <a:solidFill>
              <a:srgbClr val="C8E6C9"/>
            </a:solidFill>
            <a:prstDash val="solid"/>
          </a:ln>
        </p:spPr>
        <p:txBody>
          <a:bodyPr/>
          <a:lstStyle/>
          <a:p>
            <a:endParaRPr lang="en-US"/>
          </a:p>
        </p:txBody>
      </p:sp>
      <p:sp>
        <p:nvSpPr>
          <p:cNvPr id="24" name="Text 22"/>
          <p:cNvSpPr/>
          <p:nvPr/>
        </p:nvSpPr>
        <p:spPr>
          <a:xfrm>
            <a:off x="6163056" y="1993392"/>
            <a:ext cx="2414016" cy="1517904"/>
          </a:xfrm>
          <a:prstGeom prst="rect">
            <a:avLst/>
          </a:prstGeom>
          <a:noFill/>
          <a:ln/>
        </p:spPr>
        <p:txBody>
          <a:bodyPr wrap="square" rtlCol="0" anchor="t"/>
          <a:lstStyle/>
          <a:p>
            <a:pPr marL="0" indent="0">
              <a:buNone/>
            </a:pPr>
            <a:r>
              <a:rPr lang="en-US" sz="900" dirty="0">
                <a:solidFill>
                  <a:srgbClr val="263238"/>
                </a:solidFill>
                <a:latin typeface="Calibri" pitchFamily="34" charset="0"/>
                <a:ea typeface="Calibri" pitchFamily="34" charset="-122"/>
                <a:cs typeface="Calibri" pitchFamily="34" charset="-120"/>
              </a:rPr>
              <a:t>Risk segmentation classified all 500 accounts into three actionable tiers. The medium-risk segment, 381 accounts and $864,230 MRR, represents the highest-priority target for proactive CS investment. Four recommendations were derived from model evidence.</a:t>
            </a:r>
            <a:endParaRPr lang="en-US" sz="900" dirty="0"/>
          </a:p>
        </p:txBody>
      </p:sp>
      <p:sp>
        <p:nvSpPr>
          <p:cNvPr id="25" name="Shape 23"/>
          <p:cNvSpPr/>
          <p:nvPr/>
        </p:nvSpPr>
        <p:spPr>
          <a:xfrm>
            <a:off x="457200" y="3712464"/>
            <a:ext cx="8229600" cy="1024128"/>
          </a:xfrm>
          <a:prstGeom prst="rect">
            <a:avLst/>
          </a:prstGeom>
          <a:solidFill>
            <a:srgbClr val="E8F5E9"/>
          </a:solidFill>
          <a:ln w="12700">
            <a:solidFill>
              <a:srgbClr val="C8E6C9"/>
            </a:solidFill>
            <a:prstDash val="solid"/>
          </a:ln>
        </p:spPr>
        <p:txBody>
          <a:bodyPr/>
          <a:lstStyle/>
          <a:p>
            <a:endParaRPr lang="en-US"/>
          </a:p>
        </p:txBody>
      </p:sp>
      <p:sp>
        <p:nvSpPr>
          <p:cNvPr id="26" name="Shape 24"/>
          <p:cNvSpPr/>
          <p:nvPr/>
        </p:nvSpPr>
        <p:spPr>
          <a:xfrm>
            <a:off x="457200" y="3712464"/>
            <a:ext cx="36576" cy="1024128"/>
          </a:xfrm>
          <a:prstGeom prst="rect">
            <a:avLst/>
          </a:prstGeom>
          <a:solidFill>
            <a:srgbClr val="2E7D32"/>
          </a:solidFill>
          <a:ln w="12700">
            <a:solidFill>
              <a:srgbClr val="2E7D32"/>
            </a:solidFill>
            <a:prstDash val="solid"/>
          </a:ln>
        </p:spPr>
        <p:txBody>
          <a:bodyPr/>
          <a:lstStyle/>
          <a:p>
            <a:endParaRPr lang="en-US"/>
          </a:p>
        </p:txBody>
      </p:sp>
      <p:sp>
        <p:nvSpPr>
          <p:cNvPr id="27" name="Text 25"/>
          <p:cNvSpPr/>
          <p:nvPr/>
        </p:nvSpPr>
        <p:spPr>
          <a:xfrm>
            <a:off x="603504" y="3785616"/>
            <a:ext cx="2011680" cy="219456"/>
          </a:xfrm>
          <a:prstGeom prst="rect">
            <a:avLst/>
          </a:prstGeom>
          <a:noFill/>
          <a:ln/>
        </p:spPr>
        <p:txBody>
          <a:bodyPr wrap="square" lIns="0" tIns="0" rIns="0" bIns="0" rtlCol="0" anchor="ctr"/>
          <a:lstStyle/>
          <a:p>
            <a:pPr marL="0" indent="0">
              <a:buNone/>
            </a:pPr>
            <a:r>
              <a:rPr lang="en-US" sz="900" b="1" dirty="0">
                <a:solidFill>
                  <a:srgbClr val="1B5E20"/>
                </a:solidFill>
                <a:latin typeface="Calibri" pitchFamily="34" charset="0"/>
                <a:ea typeface="Calibri" pitchFamily="34" charset="-122"/>
                <a:cs typeface="Calibri" pitchFamily="34" charset="-120"/>
              </a:rPr>
              <a:t>Capstone Reflection</a:t>
            </a:r>
            <a:endParaRPr lang="en-US" sz="900" dirty="0"/>
          </a:p>
        </p:txBody>
      </p:sp>
      <p:sp>
        <p:nvSpPr>
          <p:cNvPr id="28" name="Text 26"/>
          <p:cNvSpPr/>
          <p:nvPr/>
        </p:nvSpPr>
        <p:spPr>
          <a:xfrm>
            <a:off x="603504" y="4041648"/>
            <a:ext cx="7955280" cy="621792"/>
          </a:xfrm>
          <a:prstGeom prst="rect">
            <a:avLst/>
          </a:prstGeom>
          <a:noFill/>
          <a:ln/>
        </p:spPr>
        <p:txBody>
          <a:bodyPr wrap="square" rtlCol="0" anchor="t"/>
          <a:lstStyle/>
          <a:p>
            <a:pPr marL="0" indent="0">
              <a:buNone/>
            </a:pPr>
            <a:r>
              <a:rPr lang="en-US" sz="850" i="1" dirty="0">
                <a:solidFill>
                  <a:srgbClr val="263238"/>
                </a:solidFill>
                <a:latin typeface="Calibri" pitchFamily="34" charset="0"/>
                <a:ea typeface="Calibri" pitchFamily="34" charset="-122"/>
                <a:cs typeface="Calibri" pitchFamily="34" charset="-120"/>
              </a:rPr>
              <a:t>This project reinforced that effective data analytics requires equal rigor across three domains: the technical domain of data preparation and modeling, the analytical domain of interpreting results with appropriate methodological awareness, and the communication domain of translating quantitative findings into decisions that non-technical stakeholders can act upon. Each phase of this capstone demanded a distinct set of competencies.</a:t>
            </a:r>
            <a:endParaRPr lang="en-US" sz="850" dirty="0"/>
          </a:p>
        </p:txBody>
      </p:sp>
      <p:sp>
        <p:nvSpPr>
          <p:cNvPr id="29" name="Shape 27"/>
          <p:cNvSpPr/>
          <p:nvPr/>
        </p:nvSpPr>
        <p:spPr>
          <a:xfrm>
            <a:off x="0" y="4882896"/>
            <a:ext cx="9144000" cy="260604"/>
          </a:xfrm>
          <a:prstGeom prst="rect">
            <a:avLst/>
          </a:prstGeom>
          <a:solidFill>
            <a:srgbClr val="1B5E20"/>
          </a:solidFill>
          <a:ln w="12700">
            <a:solidFill>
              <a:srgbClr val="1B5E20"/>
            </a:solidFill>
            <a:prstDash val="solid"/>
          </a:ln>
        </p:spPr>
        <p:txBody>
          <a:bodyPr/>
          <a:lstStyle/>
          <a:p>
            <a:endParaRPr lang="en-US"/>
          </a:p>
        </p:txBody>
      </p:sp>
      <p:sp>
        <p:nvSpPr>
          <p:cNvPr id="30" name="Text 28"/>
          <p:cNvSpPr/>
          <p:nvPr/>
        </p:nvSpPr>
        <p:spPr>
          <a:xfrm>
            <a:off x="274320" y="4882896"/>
            <a:ext cx="6858000" cy="260604"/>
          </a:xfrm>
          <a:prstGeom prst="rect">
            <a:avLst/>
          </a:prstGeom>
          <a:noFill/>
          <a:ln/>
        </p:spPr>
        <p:txBody>
          <a:bodyPr wrap="square" lIns="0" tIns="0" rIns="0" bIns="0" rtlCol="0" anchor="ctr"/>
          <a:lstStyle/>
          <a:p>
            <a:pPr marL="0" indent="0">
              <a:buNone/>
            </a:pPr>
            <a:r>
              <a:rPr lang="en-US" sz="750" dirty="0">
                <a:solidFill>
                  <a:srgbClr val="A5D6A7"/>
                </a:solidFill>
                <a:latin typeface="Calibri" pitchFamily="34" charset="0"/>
                <a:ea typeface="Calibri" pitchFamily="34" charset="-122"/>
                <a:cs typeface="Calibri" pitchFamily="34" charset="-120"/>
              </a:rPr>
              <a:t>Mancy Khadka  ·  MSBA 500  ·  CSU Sacramento  ·  Spring 2026</a:t>
            </a:r>
            <a:endParaRPr lang="en-US" sz="750" dirty="0"/>
          </a:p>
        </p:txBody>
      </p:sp>
      <p:sp>
        <p:nvSpPr>
          <p:cNvPr id="31" name="Text 29"/>
          <p:cNvSpPr/>
          <p:nvPr/>
        </p:nvSpPr>
        <p:spPr>
          <a:xfrm>
            <a:off x="7223760" y="4882896"/>
            <a:ext cx="1737360" cy="260604"/>
          </a:xfrm>
          <a:prstGeom prst="rect">
            <a:avLst/>
          </a:prstGeom>
          <a:noFill/>
          <a:ln/>
        </p:spPr>
        <p:txBody>
          <a:bodyPr wrap="square" lIns="0" tIns="0" rIns="0" bIns="0" rtlCol="0" anchor="ctr"/>
          <a:lstStyle/>
          <a:p>
            <a:pPr marL="0" indent="0" algn="r">
              <a:buNone/>
            </a:pPr>
            <a:r>
              <a:rPr lang="en-US" sz="750" b="1" dirty="0">
                <a:solidFill>
                  <a:srgbClr val="66BB6A"/>
                </a:solidFill>
                <a:latin typeface="Calibri" pitchFamily="34" charset="0"/>
                <a:ea typeface="Calibri" pitchFamily="34" charset="-122"/>
                <a:cs typeface="Calibri" pitchFamily="34" charset="-120"/>
              </a:rPr>
              <a:t>Conclusion</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5E20"/>
        </a:solidFill>
        <a:effectLst/>
      </p:bgPr>
    </p:bg>
    <p:spTree>
      <p:nvGrpSpPr>
        <p:cNvPr id="1" name=""/>
        <p:cNvGrpSpPr/>
        <p:nvPr/>
      </p:nvGrpSpPr>
      <p:grpSpPr>
        <a:xfrm>
          <a:off x="0" y="0"/>
          <a:ext cx="0" cy="0"/>
          <a:chOff x="0" y="0"/>
          <a:chExt cx="0" cy="0"/>
        </a:xfrm>
      </p:grpSpPr>
      <p:sp>
        <p:nvSpPr>
          <p:cNvPr id="3" name="Shape 1"/>
          <p:cNvSpPr/>
          <p:nvPr/>
        </p:nvSpPr>
        <p:spPr>
          <a:xfrm>
            <a:off x="0" y="4754880"/>
            <a:ext cx="9144000" cy="388620"/>
          </a:xfrm>
          <a:prstGeom prst="rect">
            <a:avLst/>
          </a:prstGeom>
          <a:solidFill>
            <a:srgbClr val="2E7D32"/>
          </a:solidFill>
          <a:ln w="12700">
            <a:solidFill>
              <a:srgbClr val="2E7D32"/>
            </a:solidFill>
            <a:prstDash val="solid"/>
          </a:ln>
        </p:spPr>
        <p:txBody>
          <a:bodyPr/>
          <a:lstStyle/>
          <a:p>
            <a:endParaRPr lang="en-US"/>
          </a:p>
        </p:txBody>
      </p:sp>
      <p:sp>
        <p:nvSpPr>
          <p:cNvPr id="4" name="Text 2"/>
          <p:cNvSpPr/>
          <p:nvPr/>
        </p:nvSpPr>
        <p:spPr>
          <a:xfrm>
            <a:off x="914400" y="2068830"/>
            <a:ext cx="7315200" cy="10058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15" name="Text 13"/>
          <p:cNvSpPr/>
          <p:nvPr/>
        </p:nvSpPr>
        <p:spPr>
          <a:xfrm>
            <a:off x="914400" y="4754880"/>
            <a:ext cx="7315200" cy="388620"/>
          </a:xfrm>
          <a:prstGeom prst="rect">
            <a:avLst/>
          </a:prstGeom>
          <a:noFill/>
          <a:ln/>
        </p:spPr>
        <p:txBody>
          <a:bodyPr wrap="square" lIns="0" tIns="0" rIns="0" bIns="0" rtlCol="0" anchor="ctr"/>
          <a:lstStyle/>
          <a:p>
            <a:pPr marL="0" indent="0" algn="ctr">
              <a:buNone/>
            </a:pPr>
            <a:r>
              <a:rPr lang="en-US" sz="850" dirty="0">
                <a:solidFill>
                  <a:srgbClr val="A5D6A7"/>
                </a:solidFill>
                <a:latin typeface="Calibri" pitchFamily="34" charset="0"/>
                <a:ea typeface="Calibri" pitchFamily="34" charset="-122"/>
                <a:cs typeface="Calibri" pitchFamily="34" charset="-120"/>
              </a:rPr>
              <a:t>Mancy Khadka  ·  MSBA 500  ·  California State University, Sacramento  ·  Spring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TotalTime>
  <Words>5566</Words>
  <Application>Microsoft Office PowerPoint</Application>
  <PresentationFormat>On-screen Show (16:9)</PresentationFormat>
  <Paragraphs>538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&amp; Retention Optimization</dc:title>
  <dc:subject>PptxGenJS Presentation</dc:subject>
  <dc:creator>Mancy Khadka</dc:creator>
  <cp:lastModifiedBy>Khadka, Mancy</cp:lastModifiedBy>
  <cp:revision>16</cp:revision>
  <dcterms:created xsi:type="dcterms:W3CDTF">2026-05-06T05:28:22Z</dcterms:created>
  <dcterms:modified xsi:type="dcterms:W3CDTF">2026-05-14T02:39:14Z</dcterms:modified>
</cp:coreProperties>
</file>